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2" r:id="rId1"/>
    <p:sldMasterId id="2147483664" r:id="rId2"/>
    <p:sldMasterId id="2147483671" r:id="rId3"/>
  </p:sldMasterIdLst>
  <p:notesMasterIdLst>
    <p:notesMasterId r:id="rId28"/>
  </p:notesMasterIdLst>
  <p:sldIdLst>
    <p:sldId id="284" r:id="rId4"/>
    <p:sldId id="263" r:id="rId5"/>
    <p:sldId id="282" r:id="rId6"/>
    <p:sldId id="259" r:id="rId7"/>
    <p:sldId id="290" r:id="rId8"/>
    <p:sldId id="260" r:id="rId9"/>
    <p:sldId id="278" r:id="rId10"/>
    <p:sldId id="281" r:id="rId11"/>
    <p:sldId id="262" r:id="rId12"/>
    <p:sldId id="279" r:id="rId13"/>
    <p:sldId id="289" r:id="rId14"/>
    <p:sldId id="291" r:id="rId15"/>
    <p:sldId id="295" r:id="rId16"/>
    <p:sldId id="293" r:id="rId17"/>
    <p:sldId id="296" r:id="rId18"/>
    <p:sldId id="292" r:id="rId19"/>
    <p:sldId id="297" r:id="rId20"/>
    <p:sldId id="294" r:id="rId21"/>
    <p:sldId id="264" r:id="rId22"/>
    <p:sldId id="285" r:id="rId23"/>
    <p:sldId id="277" r:id="rId24"/>
    <p:sldId id="280" r:id="rId25"/>
    <p:sldId id="288" r:id="rId26"/>
    <p:sldId id="276" r:id="rId2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3" orient="horz" pos="792" userDrawn="1">
          <p15:clr>
            <a:srgbClr val="A4A3A4"/>
          </p15:clr>
        </p15:guide>
        <p15:guide id="4" pos="288" userDrawn="1">
          <p15:clr>
            <a:srgbClr val="A4A3A4"/>
          </p15:clr>
        </p15:guide>
        <p15:guide id="5" orient="horz" pos="600" userDrawn="1">
          <p15:clr>
            <a:srgbClr val="A4A3A4"/>
          </p15:clr>
        </p15:guide>
      </p15:sldGuideLst>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29"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20000"/>
    <a:srgbClr val="E60000"/>
    <a:srgbClr val="FFEFEF"/>
    <a:srgbClr val="FFF7F7"/>
    <a:srgbClr val="FFC7C7"/>
    <a:srgbClr val="FF0000"/>
    <a:srgbClr val="F2B300"/>
    <a:srgbClr val="45CDD7"/>
    <a:srgbClr val="FF717F"/>
    <a:srgbClr val="FFBE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11" autoAdjust="0"/>
    <p:restoredTop sz="94660"/>
  </p:normalViewPr>
  <p:slideViewPr>
    <p:cSldViewPr snapToGrid="0">
      <p:cViewPr varScale="1">
        <p:scale>
          <a:sx n="82" d="100"/>
          <a:sy n="82" d="100"/>
        </p:scale>
        <p:origin x="533" y="72"/>
      </p:cViewPr>
      <p:guideLst>
        <p:guide orient="horz" pos="792"/>
        <p:guide pos="288"/>
        <p:guide orient="horz" pos="60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presProps" Target="presProps.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6055410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FD56D297-AAEA-3A7B-8DD8-63F90FEA6C0E}"/>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F2C60221-833B-03A6-9A85-155C1C1A8F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91CD7D18-30BF-66B9-16FE-3E743CE87C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6949671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6827365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40798578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4349666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151880CA-7D91-EB2D-F062-3417EA50209A}"/>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F844D651-0E22-11B7-3E49-93D0C466D1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B572D276-D162-44D3-1311-94BF994A7F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7370914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F43CDD6-4336-1DF1-F99F-2B07D4C095A8}"/>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BDEE244C-5170-C17A-F5CF-6B51761A2A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4FAD918F-EAB3-8C07-48A6-0667672175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2911756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3858C15A-21E5-D0B4-5C72-89C04CF61F4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0249CF2E-B3CE-50FC-0E58-1811FDF49B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6B717691-3C24-0380-C63D-D036EE324A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7471358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9651753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3929A6DC-B367-28E0-7428-54B20F03983C}"/>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D26A00-5187-365A-A052-1494FDEB8D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734AEEA7-AB52-2AAE-822D-5AA44837BD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8354657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225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6475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1099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46657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51618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9624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9725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3223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85185342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0284122"/>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62" r:id="rId3"/>
    <p:sldLayoutId id="2147483663"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668DB97-BE7C-D925-30FD-9C50B3816BC7}"/>
              </a:ext>
            </a:extLst>
          </p:cNvPr>
          <p:cNvPicPr>
            <a:picLocks noChangeAspect="1"/>
          </p:cNvPicPr>
          <p:nvPr userDrawn="1"/>
        </p:nvPicPr>
        <p:blipFill>
          <a:blip r:embed="rId4"/>
          <a:stretch>
            <a:fillRect/>
          </a:stretch>
        </p:blipFill>
        <p:spPr>
          <a:xfrm>
            <a:off x="-77440" y="428"/>
            <a:ext cx="12346881" cy="6945121"/>
          </a:xfrm>
          <a:prstGeom prst="rect">
            <a:avLst/>
          </a:prstGeom>
        </p:spPr>
      </p:pic>
    </p:spTree>
    <p:extLst>
      <p:ext uri="{BB962C8B-B14F-4D97-AF65-F5344CB8AC3E}">
        <p14:creationId xmlns:p14="http://schemas.microsoft.com/office/powerpoint/2010/main" val="2507379846"/>
      </p:ext>
    </p:extLst>
  </p:cSld>
  <p:clrMap bg1="lt1" tx1="dk1" bg2="lt2" tx2="dk2" accent1="accent1" accent2="accent2" accent3="accent3" accent4="accent4" accent5="accent5" accent6="accent6" hlink="hlink" folHlink="folHlink"/>
  <p:sldLayoutIdLst>
    <p:sldLayoutId id="2147483669" r:id="rId1"/>
    <p:sldLayoutId id="214748367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AC8B568-3D3C-3E86-5500-B520D98306F0}"/>
              </a:ext>
            </a:extLst>
          </p:cNvPr>
          <p:cNvGrpSpPr/>
          <p:nvPr userDrawn="1"/>
        </p:nvGrpSpPr>
        <p:grpSpPr>
          <a:xfrm>
            <a:off x="0" y="6651168"/>
            <a:ext cx="12670971" cy="435429"/>
            <a:chOff x="0" y="6651168"/>
            <a:chExt cx="12670971" cy="435429"/>
          </a:xfrm>
        </p:grpSpPr>
        <p:sp>
          <p:nvSpPr>
            <p:cNvPr id="9" name="Freeform 5">
              <a:extLst>
                <a:ext uri="{FF2B5EF4-FFF2-40B4-BE49-F238E27FC236}">
                  <a16:creationId xmlns:a16="http://schemas.microsoft.com/office/drawing/2014/main" id="{BD5555CE-25B3-CABF-D580-C0F88491BEFE}"/>
                </a:ext>
              </a:extLst>
            </p:cNvPr>
            <p:cNvSpPr/>
            <p:nvPr userDrawn="1"/>
          </p:nvSpPr>
          <p:spPr>
            <a:xfrm flipH="1" flipV="1">
              <a:off x="5519057" y="6651712"/>
              <a:ext cx="7151914" cy="434885"/>
            </a:xfrm>
            <a:custGeom>
              <a:avLst/>
              <a:gdLst/>
              <a:ahLst/>
              <a:cxnLst/>
              <a:rect l="l" t="t" r="r" b="b"/>
              <a:pathLst>
                <a:path w="7315200" h="1024128">
                  <a:moveTo>
                    <a:pt x="0" y="0"/>
                  </a:moveTo>
                  <a:lnTo>
                    <a:pt x="7315200" y="0"/>
                  </a:lnTo>
                  <a:lnTo>
                    <a:pt x="7315200" y="1024128"/>
                  </a:lnTo>
                  <a:lnTo>
                    <a:pt x="0" y="1024128"/>
                  </a:lnTo>
                  <a:lnTo>
                    <a:pt x="0" y="0"/>
                  </a:lnTo>
                  <a:close/>
                </a:path>
              </a:pathLst>
            </a:custGeom>
            <a:blipFill>
              <a:blip r:embed="rId5">
                <a:extLst>
                  <a:ext uri="{96DAC541-7B7A-43D3-8B79-37D633B846F1}">
                    <asvg:svgBlip xmlns:asvg="http://schemas.microsoft.com/office/drawing/2016/SVG/main" r:embed="rId6"/>
                  </a:ext>
                </a:extLst>
              </a:blip>
              <a:stretch>
                <a:fillRect l="-2284" t="-135494" r="1"/>
              </a:stretch>
            </a:blipFill>
          </p:spPr>
          <p:txBody>
            <a:bodyPr/>
            <a:lstStyle/>
            <a:p>
              <a:endParaRPr lang="en-US"/>
            </a:p>
          </p:txBody>
        </p:sp>
        <p:sp>
          <p:nvSpPr>
            <p:cNvPr id="10" name="Rectangle 9">
              <a:extLst>
                <a:ext uri="{FF2B5EF4-FFF2-40B4-BE49-F238E27FC236}">
                  <a16:creationId xmlns:a16="http://schemas.microsoft.com/office/drawing/2014/main" id="{B7572DB9-8AEB-605A-8F56-BC9A0CE87D27}"/>
                </a:ext>
              </a:extLst>
            </p:cNvPr>
            <p:cNvSpPr/>
            <p:nvPr userDrawn="1"/>
          </p:nvSpPr>
          <p:spPr>
            <a:xfrm>
              <a:off x="0" y="6651168"/>
              <a:ext cx="5627915" cy="402771"/>
            </a:xfrm>
            <a:prstGeom prst="rect">
              <a:avLst/>
            </a:prstGeom>
            <a:solidFill>
              <a:srgbClr val="5B000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a:extLst>
              <a:ext uri="{FF2B5EF4-FFF2-40B4-BE49-F238E27FC236}">
                <a16:creationId xmlns:a16="http://schemas.microsoft.com/office/drawing/2014/main" id="{4A17CC75-0266-7826-42A2-A3B90927FA5D}"/>
              </a:ext>
            </a:extLst>
          </p:cNvPr>
          <p:cNvGrpSpPr/>
          <p:nvPr userDrawn="1"/>
        </p:nvGrpSpPr>
        <p:grpSpPr>
          <a:xfrm>
            <a:off x="-622201" y="-10886"/>
            <a:ext cx="12901287" cy="404184"/>
            <a:chOff x="-622201" y="-10886"/>
            <a:chExt cx="12901287" cy="404184"/>
          </a:xfrm>
        </p:grpSpPr>
        <p:sp>
          <p:nvSpPr>
            <p:cNvPr id="12" name="Freeform 5">
              <a:extLst>
                <a:ext uri="{FF2B5EF4-FFF2-40B4-BE49-F238E27FC236}">
                  <a16:creationId xmlns:a16="http://schemas.microsoft.com/office/drawing/2014/main" id="{0F4394B1-42DA-2076-40EA-F5DB6481935B}"/>
                </a:ext>
              </a:extLst>
            </p:cNvPr>
            <p:cNvSpPr/>
            <p:nvPr userDrawn="1"/>
          </p:nvSpPr>
          <p:spPr>
            <a:xfrm>
              <a:off x="-622201" y="-1"/>
              <a:ext cx="7315200" cy="393299"/>
            </a:xfrm>
            <a:custGeom>
              <a:avLst/>
              <a:gdLst/>
              <a:ahLst/>
              <a:cxnLst/>
              <a:rect l="l" t="t" r="r" b="b"/>
              <a:pathLst>
                <a:path w="7315200" h="1024128">
                  <a:moveTo>
                    <a:pt x="0" y="0"/>
                  </a:moveTo>
                  <a:lnTo>
                    <a:pt x="7315200" y="0"/>
                  </a:lnTo>
                  <a:lnTo>
                    <a:pt x="7315200" y="1024128"/>
                  </a:lnTo>
                  <a:lnTo>
                    <a:pt x="0" y="1024128"/>
                  </a:lnTo>
                  <a:lnTo>
                    <a:pt x="0" y="0"/>
                  </a:lnTo>
                  <a:close/>
                </a:path>
              </a:pathLst>
            </a:custGeom>
            <a:blipFill>
              <a:blip r:embed="rId5">
                <a:extLst>
                  <a:ext uri="{96DAC541-7B7A-43D3-8B79-37D633B846F1}">
                    <asvg:svgBlip xmlns:asvg="http://schemas.microsoft.com/office/drawing/2016/SVG/main" r:embed="rId6"/>
                  </a:ext>
                </a:extLst>
              </a:blip>
              <a:stretch>
                <a:fillRect t="-160394"/>
              </a:stretch>
            </a:blipFill>
          </p:spPr>
          <p:txBody>
            <a:bodyPr/>
            <a:lstStyle/>
            <a:p>
              <a:endParaRPr lang="en-US"/>
            </a:p>
          </p:txBody>
        </p:sp>
        <p:sp>
          <p:nvSpPr>
            <p:cNvPr id="13" name="Rectangle 12">
              <a:extLst>
                <a:ext uri="{FF2B5EF4-FFF2-40B4-BE49-F238E27FC236}">
                  <a16:creationId xmlns:a16="http://schemas.microsoft.com/office/drawing/2014/main" id="{655157E1-0A45-B6AC-0EBB-7A01A63B633F}"/>
                </a:ext>
              </a:extLst>
            </p:cNvPr>
            <p:cNvSpPr/>
            <p:nvPr userDrawn="1"/>
          </p:nvSpPr>
          <p:spPr>
            <a:xfrm>
              <a:off x="6651171" y="-10886"/>
              <a:ext cx="5627915" cy="402771"/>
            </a:xfrm>
            <a:prstGeom prst="rect">
              <a:avLst/>
            </a:prstGeom>
            <a:solidFill>
              <a:srgbClr val="5B000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36984423"/>
      </p:ext>
    </p:extLst>
  </p:cSld>
  <p:clrMap bg1="lt1" tx1="dk1" bg2="lt2" tx2="dk2" accent1="accent1" accent2="accent2" accent3="accent3" accent4="accent4" accent5="accent5" accent6="accent6" hlink="hlink" folHlink="folHlink"/>
  <p:sldLayoutIdLst>
    <p:sldLayoutId id="2147483674" r:id="rId1"/>
    <p:sldLayoutId id="2147483681" r:id="rId2"/>
    <p:sldLayoutId id="214748368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jpg"/><Relationship Id="rId4" Type="http://schemas.openxmlformats.org/officeDocument/2006/relationships/image" Target="../media/image11.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s://github.com/KDas2004/FraudLens-AI-Powered-Detection-System-for-Government-Scheme-Integrity-.git"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29.jpeg"/><Relationship Id="rId4" Type="http://schemas.openxmlformats.org/officeDocument/2006/relationships/image" Target="../media/image28.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23A3F-BF7F-A63E-DFF9-0FA766AE63F7}"/>
            </a:ext>
          </a:extLst>
        </p:cNvPr>
        <p:cNvGrpSpPr/>
        <p:nvPr/>
      </p:nvGrpSpPr>
      <p:grpSpPr>
        <a:xfrm>
          <a:off x="0" y="0"/>
          <a:ext cx="0" cy="0"/>
          <a:chOff x="0" y="0"/>
          <a:chExt cx="0" cy="0"/>
        </a:xfrm>
      </p:grpSpPr>
      <p:sp>
        <p:nvSpPr>
          <p:cNvPr id="2" name="Freeform 3">
            <a:extLst>
              <a:ext uri="{FF2B5EF4-FFF2-40B4-BE49-F238E27FC236}">
                <a16:creationId xmlns:a16="http://schemas.microsoft.com/office/drawing/2014/main" id="{9C9EC1E8-50F0-594B-D72F-7FE53C0D5112}"/>
              </a:ext>
            </a:extLst>
          </p:cNvPr>
          <p:cNvSpPr/>
          <p:nvPr/>
        </p:nvSpPr>
        <p:spPr>
          <a:xfrm>
            <a:off x="0" y="0"/>
            <a:ext cx="12192000" cy="6858000"/>
          </a:xfrm>
          <a:custGeom>
            <a:avLst/>
            <a:gdLst/>
            <a:ahLst/>
            <a:cxnLst/>
            <a:rect l="l" t="t" r="r" b="b"/>
            <a:pathLst>
              <a:path w="14630400" h="8229600">
                <a:moveTo>
                  <a:pt x="0" y="0"/>
                </a:moveTo>
                <a:lnTo>
                  <a:pt x="14630400" y="0"/>
                </a:lnTo>
                <a:lnTo>
                  <a:pt x="14630400" y="8229600"/>
                </a:lnTo>
                <a:lnTo>
                  <a:pt x="0" y="8229600"/>
                </a:lnTo>
                <a:lnTo>
                  <a:pt x="0" y="0"/>
                </a:lnTo>
                <a:close/>
              </a:path>
            </a:pathLst>
          </a:custGeom>
          <a:blipFill>
            <a:blip r:embed="rId2"/>
            <a:stretch>
              <a:fillRect/>
            </a:stretch>
          </a:blipFill>
        </p:spPr>
        <p:txBody>
          <a:bodyPr/>
          <a:lstStyle/>
          <a:p>
            <a:endParaRPr lang="en-US"/>
          </a:p>
        </p:txBody>
      </p:sp>
      <p:sp>
        <p:nvSpPr>
          <p:cNvPr id="3" name="Freeform 6">
            <a:extLst>
              <a:ext uri="{FF2B5EF4-FFF2-40B4-BE49-F238E27FC236}">
                <a16:creationId xmlns:a16="http://schemas.microsoft.com/office/drawing/2014/main" id="{157C48A1-958B-BDC8-8917-A1E7E9F32B25}"/>
              </a:ext>
            </a:extLst>
          </p:cNvPr>
          <p:cNvSpPr/>
          <p:nvPr/>
        </p:nvSpPr>
        <p:spPr>
          <a:xfrm>
            <a:off x="2705101" y="38101"/>
            <a:ext cx="6781799" cy="6781799"/>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alphaModFix amt="31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Title 1">
            <a:extLst>
              <a:ext uri="{FF2B5EF4-FFF2-40B4-BE49-F238E27FC236}">
                <a16:creationId xmlns:a16="http://schemas.microsoft.com/office/drawing/2014/main" id="{C5729495-97AF-FD52-3AB0-5D2450DBA74B}"/>
              </a:ext>
            </a:extLst>
          </p:cNvPr>
          <p:cNvSpPr txBox="1">
            <a:spLocks/>
          </p:cNvSpPr>
          <p:nvPr/>
        </p:nvSpPr>
        <p:spPr>
          <a:xfrm>
            <a:off x="2362200" y="1905341"/>
            <a:ext cx="7467600" cy="243771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sz="6600" b="1">
                <a:solidFill>
                  <a:schemeClr val="bg1"/>
                </a:solidFill>
                <a:latin typeface="Vodafone Rg" panose="020B0606080202020204" pitchFamily="34" charset="0"/>
                <a:cs typeface="Calibri" panose="020F0502020204030204" pitchFamily="34" charset="0"/>
              </a:rPr>
              <a:t>VOIS Innovation </a:t>
            </a:r>
          </a:p>
          <a:p>
            <a:pPr algn="ctr"/>
            <a:r>
              <a:rPr lang="en-US" sz="6600" b="1">
                <a:solidFill>
                  <a:schemeClr val="bg1"/>
                </a:solidFill>
                <a:latin typeface="Vodafone Rg" panose="020B0606080202020204" pitchFamily="34" charset="0"/>
                <a:cs typeface="Calibri" panose="020F0502020204030204" pitchFamily="34" charset="0"/>
              </a:rPr>
              <a:t>Marathon 2.0 </a:t>
            </a:r>
            <a:endParaRPr lang="en-IN">
              <a:solidFill>
                <a:schemeClr val="bg1"/>
              </a:solidFill>
              <a:latin typeface="Vodafone Rg" panose="020B0606080202020204" pitchFamily="34" charset="0"/>
              <a:cs typeface="Calibri" panose="020F0502020204030204" pitchFamily="34" charset="0"/>
            </a:endParaRPr>
          </a:p>
        </p:txBody>
      </p:sp>
      <p:sp>
        <p:nvSpPr>
          <p:cNvPr id="5" name="Freeform 2">
            <a:extLst>
              <a:ext uri="{FF2B5EF4-FFF2-40B4-BE49-F238E27FC236}">
                <a16:creationId xmlns:a16="http://schemas.microsoft.com/office/drawing/2014/main" id="{3901539B-3E4F-88C2-6ABE-7F68AE084607}"/>
              </a:ext>
            </a:extLst>
          </p:cNvPr>
          <p:cNvSpPr/>
          <p:nvPr/>
        </p:nvSpPr>
        <p:spPr>
          <a:xfrm>
            <a:off x="292748" y="197497"/>
            <a:ext cx="1753766" cy="574358"/>
          </a:xfrm>
          <a:custGeom>
            <a:avLst/>
            <a:gdLst/>
            <a:ahLst/>
            <a:cxnLst/>
            <a:rect l="l" t="t" r="r" b="b"/>
            <a:pathLst>
              <a:path w="2720172" h="890856">
                <a:moveTo>
                  <a:pt x="0" y="0"/>
                </a:moveTo>
                <a:lnTo>
                  <a:pt x="2720172" y="0"/>
                </a:lnTo>
                <a:lnTo>
                  <a:pt x="2720172" y="890856"/>
                </a:lnTo>
                <a:lnTo>
                  <a:pt x="0" y="89085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6" name="Freeform 2">
            <a:extLst>
              <a:ext uri="{FF2B5EF4-FFF2-40B4-BE49-F238E27FC236}">
                <a16:creationId xmlns:a16="http://schemas.microsoft.com/office/drawing/2014/main" id="{29E9B9AF-6FE0-E406-C2CD-90613301085C}"/>
              </a:ext>
            </a:extLst>
          </p:cNvPr>
          <p:cNvSpPr/>
          <p:nvPr/>
        </p:nvSpPr>
        <p:spPr>
          <a:xfrm flipH="1">
            <a:off x="10122548" y="6032241"/>
            <a:ext cx="1753766" cy="574358"/>
          </a:xfrm>
          <a:custGeom>
            <a:avLst/>
            <a:gdLst/>
            <a:ahLst/>
            <a:cxnLst/>
            <a:rect l="l" t="t" r="r" b="b"/>
            <a:pathLst>
              <a:path w="2720172" h="890856">
                <a:moveTo>
                  <a:pt x="0" y="0"/>
                </a:moveTo>
                <a:lnTo>
                  <a:pt x="2720172" y="0"/>
                </a:lnTo>
                <a:lnTo>
                  <a:pt x="2720172" y="890856"/>
                </a:lnTo>
                <a:lnTo>
                  <a:pt x="0" y="89085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Tree>
    <p:extLst>
      <p:ext uri="{BB962C8B-B14F-4D97-AF65-F5344CB8AC3E}">
        <p14:creationId xmlns:p14="http://schemas.microsoft.com/office/powerpoint/2010/main" val="8721144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21C18-6BF5-B97D-EE64-7FCF0E4900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F0C642-43AC-4A20-252B-6E329095AC9B}"/>
              </a:ext>
            </a:extLst>
          </p:cNvPr>
          <p:cNvSpPr>
            <a:spLocks noGrp="1"/>
          </p:cNvSpPr>
          <p:nvPr>
            <p:ph type="title" idx="4294967295"/>
          </p:nvPr>
        </p:nvSpPr>
        <p:spPr>
          <a:xfrm>
            <a:off x="437744" y="630239"/>
            <a:ext cx="7357747" cy="1191095"/>
          </a:xfrm>
          <a:prstGeom prst="rect">
            <a:avLst/>
          </a:prstGeom>
        </p:spPr>
        <p:txBody>
          <a:bodyPr wrap="square" lIns="0" tIns="0" rIns="0" bIns="0">
            <a:spAutoFit/>
          </a:bodyPr>
          <a:lstStyle/>
          <a:p>
            <a:r>
              <a:rPr lang="en-US" sz="3000" b="1" dirty="0">
                <a:solidFill>
                  <a:srgbClr val="A20000"/>
                </a:solidFill>
                <a:latin typeface="Vodafone Rg"/>
              </a:rPr>
              <a:t>Project Title:</a:t>
            </a:r>
            <a:r>
              <a:rPr lang="en-US" sz="2800" dirty="0">
                <a:latin typeface="Vodafone Rg"/>
              </a:rPr>
              <a:t> </a:t>
            </a:r>
            <a:r>
              <a:rPr lang="en-US" sz="2800" b="1" dirty="0" err="1">
                <a:latin typeface="+mn-lt"/>
              </a:rPr>
              <a:t>FraudLens</a:t>
            </a:r>
            <a:r>
              <a:rPr lang="en-US" sz="2800" b="1" dirty="0">
                <a:latin typeface="+mn-lt"/>
              </a:rPr>
              <a:t>: AI-Powered Fraud Detection System for Government Scheme Integrity</a:t>
            </a:r>
            <a:endParaRPr lang="en-US" sz="3000" b="1" dirty="0">
              <a:solidFill>
                <a:srgbClr val="A20000"/>
              </a:solidFill>
              <a:latin typeface="+mn-lt"/>
            </a:endParaRPr>
          </a:p>
        </p:txBody>
      </p:sp>
      <p:sp>
        <p:nvSpPr>
          <p:cNvPr id="11" name="Rectangle: Rounded Corners 10">
            <a:extLst>
              <a:ext uri="{FF2B5EF4-FFF2-40B4-BE49-F238E27FC236}">
                <a16:creationId xmlns:a16="http://schemas.microsoft.com/office/drawing/2014/main" id="{0E2CB2C9-6779-3C32-CD66-F4830635225E}"/>
              </a:ext>
            </a:extLst>
          </p:cNvPr>
          <p:cNvSpPr/>
          <p:nvPr/>
        </p:nvSpPr>
        <p:spPr>
          <a:xfrm>
            <a:off x="2362200" y="3622163"/>
            <a:ext cx="1774372" cy="1774372"/>
          </a:xfrm>
          <a:prstGeom prst="roundRect">
            <a:avLst>
              <a:gd name="adj" fmla="val 8078"/>
            </a:avLst>
          </a:prstGeom>
          <a:solidFill>
            <a:schemeClr val="bg1"/>
          </a:solidFill>
          <a:ln>
            <a:solidFill>
              <a:srgbClr val="E6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26CCB1A2-324D-F7D1-2DFF-C45E68B6E542}"/>
              </a:ext>
            </a:extLst>
          </p:cNvPr>
          <p:cNvGrpSpPr/>
          <p:nvPr/>
        </p:nvGrpSpPr>
        <p:grpSpPr>
          <a:xfrm>
            <a:off x="1307097" y="2884713"/>
            <a:ext cx="3995057" cy="544287"/>
            <a:chOff x="1273629" y="1436913"/>
            <a:chExt cx="3995057" cy="544287"/>
          </a:xfrm>
        </p:grpSpPr>
        <p:sp>
          <p:nvSpPr>
            <p:cNvPr id="8" name="Rectangle: Rounded Corners 7">
              <a:extLst>
                <a:ext uri="{FF2B5EF4-FFF2-40B4-BE49-F238E27FC236}">
                  <a16:creationId xmlns:a16="http://schemas.microsoft.com/office/drawing/2014/main" id="{F3C5427B-5584-42AA-BCBF-190F3341B904}"/>
                </a:ext>
              </a:extLst>
            </p:cNvPr>
            <p:cNvSpPr/>
            <p:nvPr/>
          </p:nvSpPr>
          <p:spPr>
            <a:xfrm>
              <a:off x="1273629" y="1436913"/>
              <a:ext cx="3995057" cy="544287"/>
            </a:xfrm>
            <a:prstGeom prst="roundRect">
              <a:avLst/>
            </a:prstGeom>
            <a:solidFill>
              <a:srgbClr val="F5CB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826BBA8-58B8-3AFD-F121-AED51A095207}"/>
                </a:ext>
              </a:extLst>
            </p:cNvPr>
            <p:cNvSpPr txBox="1"/>
            <p:nvPr/>
          </p:nvSpPr>
          <p:spPr>
            <a:xfrm>
              <a:off x="1790700" y="1539779"/>
              <a:ext cx="2960914" cy="338554"/>
            </a:xfrm>
            <a:prstGeom prst="rect">
              <a:avLst/>
            </a:prstGeom>
            <a:noFill/>
          </p:spPr>
          <p:txBody>
            <a:bodyPr wrap="square" rtlCol="0">
              <a:spAutoFit/>
            </a:bodyPr>
            <a:lstStyle/>
            <a:p>
              <a:pPr algn="ctr"/>
              <a:r>
                <a:rPr lang="en-US" sz="1600" b="1" dirty="0">
                  <a:solidFill>
                    <a:schemeClr val="tx1"/>
                  </a:solidFill>
                </a:rPr>
                <a:t>Team No. 44 </a:t>
              </a:r>
            </a:p>
          </p:txBody>
        </p:sp>
      </p:grpSp>
      <p:grpSp>
        <p:nvGrpSpPr>
          <p:cNvPr id="14" name="Group 13">
            <a:extLst>
              <a:ext uri="{FF2B5EF4-FFF2-40B4-BE49-F238E27FC236}">
                <a16:creationId xmlns:a16="http://schemas.microsoft.com/office/drawing/2014/main" id="{EB53CC7B-51F3-AF5B-5DAC-EE3E535ABF34}"/>
              </a:ext>
            </a:extLst>
          </p:cNvPr>
          <p:cNvGrpSpPr/>
          <p:nvPr/>
        </p:nvGrpSpPr>
        <p:grpSpPr>
          <a:xfrm>
            <a:off x="1270727" y="5535385"/>
            <a:ext cx="3995058" cy="830997"/>
            <a:chOff x="1276169" y="1436913"/>
            <a:chExt cx="3995057" cy="544287"/>
          </a:xfrm>
        </p:grpSpPr>
        <p:sp>
          <p:nvSpPr>
            <p:cNvPr id="16" name="Rectangle: Rounded Corners 15">
              <a:extLst>
                <a:ext uri="{FF2B5EF4-FFF2-40B4-BE49-F238E27FC236}">
                  <a16:creationId xmlns:a16="http://schemas.microsoft.com/office/drawing/2014/main" id="{12B059A2-5AB7-4E51-27BD-E7AB5C0CA496}"/>
                </a:ext>
              </a:extLst>
            </p:cNvPr>
            <p:cNvSpPr/>
            <p:nvPr/>
          </p:nvSpPr>
          <p:spPr>
            <a:xfrm>
              <a:off x="1276169" y="1436913"/>
              <a:ext cx="3995057" cy="544287"/>
            </a:xfrm>
            <a:prstGeom prst="roundRect">
              <a:avLst/>
            </a:prstGeom>
            <a:solidFill>
              <a:srgbClr val="F5CB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71524BB-4EBD-652C-8DAB-09CCCEED5D51}"/>
                </a:ext>
              </a:extLst>
            </p:cNvPr>
            <p:cNvSpPr txBox="1"/>
            <p:nvPr/>
          </p:nvSpPr>
          <p:spPr>
            <a:xfrm>
              <a:off x="1462669" y="1452916"/>
              <a:ext cx="3477986" cy="528284"/>
            </a:xfrm>
            <a:prstGeom prst="rect">
              <a:avLst/>
            </a:prstGeom>
            <a:noFill/>
          </p:spPr>
          <p:txBody>
            <a:bodyPr wrap="square" rtlCol="0">
              <a:spAutoFit/>
            </a:bodyPr>
            <a:lstStyle/>
            <a:p>
              <a:pPr algn="ctr"/>
              <a:r>
                <a:rPr lang="en-US" sz="1600" b="1" dirty="0">
                  <a:solidFill>
                    <a:schemeClr val="tx1"/>
                  </a:solidFill>
                </a:rPr>
                <a:t>Keystone School of </a:t>
              </a:r>
              <a:r>
                <a:rPr lang="en-US" sz="1600" b="1" dirty="0" err="1">
                  <a:solidFill>
                    <a:schemeClr val="tx1"/>
                  </a:solidFill>
                </a:rPr>
                <a:t>Engineering,Pune</a:t>
              </a:r>
              <a:r>
                <a:rPr lang="en-US" sz="1600" b="1" dirty="0">
                  <a:solidFill>
                    <a:schemeClr val="tx1"/>
                  </a:solidFill>
                </a:rPr>
                <a:t>,</a:t>
              </a:r>
              <a:r>
                <a:rPr lang="en-IN" sz="2000" dirty="0"/>
                <a:t> </a:t>
              </a:r>
              <a:r>
                <a:rPr lang="en-IN" sz="1600" b="1" dirty="0" err="1"/>
                <a:t>maharashtra</a:t>
              </a:r>
              <a:endParaRPr lang="en-US" sz="1600" b="1" dirty="0">
                <a:solidFill>
                  <a:schemeClr val="tx1"/>
                </a:solidFill>
              </a:endParaRPr>
            </a:p>
            <a:p>
              <a:pPr algn="ctr"/>
              <a:endParaRPr lang="en-US" sz="1600" b="1" dirty="0">
                <a:solidFill>
                  <a:schemeClr val="tx1"/>
                </a:solidFill>
              </a:endParaRPr>
            </a:p>
          </p:txBody>
        </p:sp>
      </p:grpSp>
      <p:sp>
        <p:nvSpPr>
          <p:cNvPr id="27" name="Rectangle: Rounded Corners 26">
            <a:extLst>
              <a:ext uri="{FF2B5EF4-FFF2-40B4-BE49-F238E27FC236}">
                <a16:creationId xmlns:a16="http://schemas.microsoft.com/office/drawing/2014/main" id="{661E9DB2-5CD7-D546-D014-634E42A4AE1E}"/>
              </a:ext>
            </a:extLst>
          </p:cNvPr>
          <p:cNvSpPr/>
          <p:nvPr/>
        </p:nvSpPr>
        <p:spPr>
          <a:xfrm>
            <a:off x="7078145" y="3732411"/>
            <a:ext cx="1774372" cy="1774372"/>
          </a:xfrm>
          <a:prstGeom prst="roundRect">
            <a:avLst>
              <a:gd name="adj" fmla="val 8078"/>
            </a:avLst>
          </a:prstGeom>
          <a:solidFill>
            <a:schemeClr val="bg1"/>
          </a:solidFill>
          <a:ln>
            <a:solidFill>
              <a:srgbClr val="E6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t>Insert your professional photo</a:t>
            </a:r>
            <a:endParaRPr lang="en-IN"/>
          </a:p>
        </p:txBody>
      </p:sp>
      <p:grpSp>
        <p:nvGrpSpPr>
          <p:cNvPr id="48" name="Group 47">
            <a:extLst>
              <a:ext uri="{FF2B5EF4-FFF2-40B4-BE49-F238E27FC236}">
                <a16:creationId xmlns:a16="http://schemas.microsoft.com/office/drawing/2014/main" id="{8EE73ADA-1A54-DFB3-02B3-2903F3C229A1}"/>
              </a:ext>
            </a:extLst>
          </p:cNvPr>
          <p:cNvGrpSpPr/>
          <p:nvPr/>
        </p:nvGrpSpPr>
        <p:grpSpPr>
          <a:xfrm>
            <a:off x="6313126" y="5574273"/>
            <a:ext cx="3232470" cy="919590"/>
            <a:chOff x="6854231" y="4878471"/>
            <a:chExt cx="2488087" cy="784288"/>
          </a:xfrm>
        </p:grpSpPr>
        <p:sp>
          <p:nvSpPr>
            <p:cNvPr id="20" name="Rectangle: Rounded Corners 19">
              <a:extLst>
                <a:ext uri="{FF2B5EF4-FFF2-40B4-BE49-F238E27FC236}">
                  <a16:creationId xmlns:a16="http://schemas.microsoft.com/office/drawing/2014/main" id="{39AC5669-EFCD-F6C2-F878-2812D968D7C1}"/>
                </a:ext>
              </a:extLst>
            </p:cNvPr>
            <p:cNvSpPr/>
            <p:nvPr/>
          </p:nvSpPr>
          <p:spPr>
            <a:xfrm>
              <a:off x="7295744" y="4938409"/>
              <a:ext cx="1605063" cy="486383"/>
            </a:xfrm>
            <a:prstGeom prst="roundRect">
              <a:avLst>
                <a:gd name="adj" fmla="val 11836"/>
              </a:avLst>
            </a:prstGeom>
            <a:solidFill>
              <a:srgbClr val="F5CB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73CBB397-5042-E6EC-C8B7-72C2D67E6F17}"/>
                </a:ext>
              </a:extLst>
            </p:cNvPr>
            <p:cNvSpPr txBox="1"/>
            <p:nvPr/>
          </p:nvSpPr>
          <p:spPr>
            <a:xfrm>
              <a:off x="6854231" y="4878471"/>
              <a:ext cx="2488087" cy="784288"/>
            </a:xfrm>
            <a:prstGeom prst="rect">
              <a:avLst/>
            </a:prstGeom>
            <a:noFill/>
          </p:spPr>
          <p:txBody>
            <a:bodyPr wrap="square" rtlCol="0">
              <a:spAutoFit/>
            </a:bodyPr>
            <a:lstStyle/>
            <a:p>
              <a:pPr algn="ctr"/>
              <a:r>
                <a:rPr lang="en-IN" sz="1600" b="1" dirty="0"/>
                <a:t>Ganesh </a:t>
              </a:r>
              <a:r>
                <a:rPr lang="en-IN" sz="1600" b="1" dirty="0" err="1"/>
                <a:t>Ketiboyana</a:t>
              </a:r>
              <a:endParaRPr lang="en-IN" sz="1600" b="1" dirty="0"/>
            </a:p>
            <a:p>
              <a:pPr algn="ctr"/>
              <a:r>
                <a:rPr lang="en-IN" sz="1600" b="1" dirty="0"/>
                <a:t>(E&amp;TC)</a:t>
              </a:r>
            </a:p>
            <a:p>
              <a:pPr algn="ctr"/>
              <a:endParaRPr lang="en-US" sz="1600" b="1" dirty="0">
                <a:solidFill>
                  <a:schemeClr val="tx1"/>
                </a:solidFill>
              </a:endParaRPr>
            </a:p>
          </p:txBody>
        </p:sp>
      </p:grpSp>
      <p:sp>
        <p:nvSpPr>
          <p:cNvPr id="28" name="Rectangle: Rounded Corners 27">
            <a:extLst>
              <a:ext uri="{FF2B5EF4-FFF2-40B4-BE49-F238E27FC236}">
                <a16:creationId xmlns:a16="http://schemas.microsoft.com/office/drawing/2014/main" id="{4372592E-20CD-EA88-F73F-293563117D02}"/>
              </a:ext>
            </a:extLst>
          </p:cNvPr>
          <p:cNvSpPr/>
          <p:nvPr/>
        </p:nvSpPr>
        <p:spPr>
          <a:xfrm>
            <a:off x="9448944" y="3732411"/>
            <a:ext cx="1774372" cy="1774372"/>
          </a:xfrm>
          <a:prstGeom prst="roundRect">
            <a:avLst>
              <a:gd name="adj" fmla="val 8078"/>
            </a:avLst>
          </a:prstGeom>
          <a:solidFill>
            <a:schemeClr val="bg1"/>
          </a:solidFill>
          <a:ln>
            <a:solidFill>
              <a:srgbClr val="E6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9EEB570D-D8AD-50CF-8C3D-5D2236587FF1}"/>
              </a:ext>
            </a:extLst>
          </p:cNvPr>
          <p:cNvSpPr/>
          <p:nvPr/>
        </p:nvSpPr>
        <p:spPr>
          <a:xfrm>
            <a:off x="8108455" y="823932"/>
            <a:ext cx="1774372" cy="1774372"/>
          </a:xfrm>
          <a:prstGeom prst="roundRect">
            <a:avLst>
              <a:gd name="adj" fmla="val 8078"/>
            </a:avLst>
          </a:prstGeom>
          <a:solidFill>
            <a:schemeClr val="bg1"/>
          </a:solidFill>
          <a:ln>
            <a:solidFill>
              <a:srgbClr val="E6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831E980-C3C8-EDB0-7CC9-C8B02947B293}"/>
              </a:ext>
            </a:extLst>
          </p:cNvPr>
          <p:cNvSpPr txBox="1"/>
          <p:nvPr/>
        </p:nvSpPr>
        <p:spPr>
          <a:xfrm>
            <a:off x="8436634" y="1457864"/>
            <a:ext cx="1293962" cy="738664"/>
          </a:xfrm>
          <a:prstGeom prst="rect">
            <a:avLst/>
          </a:prstGeom>
          <a:noFill/>
        </p:spPr>
        <p:txBody>
          <a:bodyPr wrap="square" rtlCol="0">
            <a:spAutoFit/>
          </a:bodyPr>
          <a:lstStyle/>
          <a:p>
            <a:r>
              <a:rPr lang="en-US"/>
              <a:t>Insert your professional photo</a:t>
            </a:r>
            <a:endParaRPr lang="en-IN"/>
          </a:p>
        </p:txBody>
      </p:sp>
      <p:sp>
        <p:nvSpPr>
          <p:cNvPr id="6" name="TextBox 5">
            <a:extLst>
              <a:ext uri="{FF2B5EF4-FFF2-40B4-BE49-F238E27FC236}">
                <a16:creationId xmlns:a16="http://schemas.microsoft.com/office/drawing/2014/main" id="{EA01BF34-4457-6D8B-FDFD-1A475E7F5D0D}"/>
              </a:ext>
            </a:extLst>
          </p:cNvPr>
          <p:cNvSpPr txBox="1"/>
          <p:nvPr/>
        </p:nvSpPr>
        <p:spPr>
          <a:xfrm>
            <a:off x="9487456" y="4140017"/>
            <a:ext cx="1293962" cy="738664"/>
          </a:xfrm>
          <a:prstGeom prst="rect">
            <a:avLst/>
          </a:prstGeom>
          <a:noFill/>
        </p:spPr>
        <p:txBody>
          <a:bodyPr wrap="square" rtlCol="0">
            <a:spAutoFit/>
          </a:bodyPr>
          <a:lstStyle/>
          <a:p>
            <a:r>
              <a:rPr lang="en-US"/>
              <a:t>Insert your professional photo</a:t>
            </a:r>
            <a:endParaRPr lang="en-IN"/>
          </a:p>
        </p:txBody>
      </p:sp>
      <p:grpSp>
        <p:nvGrpSpPr>
          <p:cNvPr id="29" name="Group 28">
            <a:extLst>
              <a:ext uri="{FF2B5EF4-FFF2-40B4-BE49-F238E27FC236}">
                <a16:creationId xmlns:a16="http://schemas.microsoft.com/office/drawing/2014/main" id="{02CCEE48-3633-40A2-BFD1-FEF3954EA447}"/>
              </a:ext>
            </a:extLst>
          </p:cNvPr>
          <p:cNvGrpSpPr/>
          <p:nvPr/>
        </p:nvGrpSpPr>
        <p:grpSpPr>
          <a:xfrm>
            <a:off x="8719895" y="5574272"/>
            <a:ext cx="3232470" cy="830997"/>
            <a:chOff x="6854231" y="4878471"/>
            <a:chExt cx="2488087" cy="708730"/>
          </a:xfrm>
        </p:grpSpPr>
        <p:sp>
          <p:nvSpPr>
            <p:cNvPr id="30" name="Rectangle: Rounded Corners 29">
              <a:extLst>
                <a:ext uri="{FF2B5EF4-FFF2-40B4-BE49-F238E27FC236}">
                  <a16:creationId xmlns:a16="http://schemas.microsoft.com/office/drawing/2014/main" id="{B307D40D-2BBD-407C-974D-F42E12D67FC8}"/>
                </a:ext>
              </a:extLst>
            </p:cNvPr>
            <p:cNvSpPr/>
            <p:nvPr/>
          </p:nvSpPr>
          <p:spPr>
            <a:xfrm>
              <a:off x="7295744" y="4938409"/>
              <a:ext cx="1605063" cy="486383"/>
            </a:xfrm>
            <a:prstGeom prst="roundRect">
              <a:avLst>
                <a:gd name="adj" fmla="val 11836"/>
              </a:avLst>
            </a:prstGeom>
            <a:solidFill>
              <a:srgbClr val="F5CB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B57C9145-C8B2-4D2A-A8B3-01FB81088CE4}"/>
                </a:ext>
              </a:extLst>
            </p:cNvPr>
            <p:cNvSpPr txBox="1"/>
            <p:nvPr/>
          </p:nvSpPr>
          <p:spPr>
            <a:xfrm>
              <a:off x="6854231" y="4878471"/>
              <a:ext cx="2488087" cy="708730"/>
            </a:xfrm>
            <a:prstGeom prst="rect">
              <a:avLst/>
            </a:prstGeom>
            <a:noFill/>
          </p:spPr>
          <p:txBody>
            <a:bodyPr wrap="square" rtlCol="0">
              <a:spAutoFit/>
            </a:bodyPr>
            <a:lstStyle/>
            <a:p>
              <a:pPr algn="ctr"/>
              <a:r>
                <a:rPr lang="en-IN" sz="1600" b="1" dirty="0"/>
                <a:t>Shreyash Jagtap</a:t>
              </a:r>
            </a:p>
            <a:p>
              <a:pPr algn="ctr"/>
              <a:r>
                <a:rPr lang="en-IN" sz="1600" b="1" dirty="0"/>
                <a:t>  (E&amp;TC)</a:t>
              </a:r>
            </a:p>
            <a:p>
              <a:pPr algn="ctr"/>
              <a:endParaRPr lang="en-US" sz="1600" b="1" dirty="0">
                <a:solidFill>
                  <a:schemeClr val="tx1"/>
                </a:solidFill>
              </a:endParaRPr>
            </a:p>
          </p:txBody>
        </p:sp>
      </p:grpSp>
      <p:grpSp>
        <p:nvGrpSpPr>
          <p:cNvPr id="32" name="Group 31">
            <a:extLst>
              <a:ext uri="{FF2B5EF4-FFF2-40B4-BE49-F238E27FC236}">
                <a16:creationId xmlns:a16="http://schemas.microsoft.com/office/drawing/2014/main" id="{CCC1C707-98A2-4439-A530-476BCCC97829}"/>
              </a:ext>
            </a:extLst>
          </p:cNvPr>
          <p:cNvGrpSpPr/>
          <p:nvPr/>
        </p:nvGrpSpPr>
        <p:grpSpPr>
          <a:xfrm>
            <a:off x="7953011" y="2710456"/>
            <a:ext cx="3425752" cy="831531"/>
            <a:chOff x="7295744" y="4938409"/>
            <a:chExt cx="2488087" cy="709185"/>
          </a:xfrm>
        </p:grpSpPr>
        <p:sp>
          <p:nvSpPr>
            <p:cNvPr id="33" name="Rectangle: Rounded Corners 32">
              <a:extLst>
                <a:ext uri="{FF2B5EF4-FFF2-40B4-BE49-F238E27FC236}">
                  <a16:creationId xmlns:a16="http://schemas.microsoft.com/office/drawing/2014/main" id="{3641DC40-18D8-4C30-9DA6-AE9FD24BA70A}"/>
                </a:ext>
              </a:extLst>
            </p:cNvPr>
            <p:cNvSpPr/>
            <p:nvPr/>
          </p:nvSpPr>
          <p:spPr>
            <a:xfrm>
              <a:off x="7295744" y="4938409"/>
              <a:ext cx="1605063" cy="486383"/>
            </a:xfrm>
            <a:prstGeom prst="roundRect">
              <a:avLst>
                <a:gd name="adj" fmla="val 11836"/>
              </a:avLst>
            </a:prstGeom>
            <a:solidFill>
              <a:srgbClr val="F5CB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26635AEC-569A-45C1-89B2-6EE089F4322A}"/>
                </a:ext>
              </a:extLst>
            </p:cNvPr>
            <p:cNvSpPr txBox="1"/>
            <p:nvPr/>
          </p:nvSpPr>
          <p:spPr>
            <a:xfrm>
              <a:off x="7295744" y="4938865"/>
              <a:ext cx="2488087" cy="708729"/>
            </a:xfrm>
            <a:prstGeom prst="rect">
              <a:avLst/>
            </a:prstGeom>
            <a:noFill/>
          </p:spPr>
          <p:txBody>
            <a:bodyPr wrap="square" rtlCol="0">
              <a:spAutoFit/>
            </a:bodyPr>
            <a:lstStyle/>
            <a:p>
              <a:r>
                <a:rPr lang="en-IN" sz="1600" b="1" dirty="0">
                  <a:latin typeface="Arial" panose="020B0604020202020204" pitchFamily="34" charset="0"/>
                  <a:cs typeface="Arial" panose="020B0604020202020204" pitchFamily="34" charset="0"/>
                </a:rPr>
                <a:t>Krishnadas Lamdade</a:t>
              </a:r>
            </a:p>
            <a:p>
              <a:r>
                <a:rPr lang="en-IN" sz="1600" b="1" dirty="0">
                  <a:latin typeface="Arial" panose="020B0604020202020204" pitchFamily="34" charset="0"/>
                  <a:cs typeface="Arial" panose="020B0604020202020204" pitchFamily="34" charset="0"/>
                </a:rPr>
                <a:t>             </a:t>
              </a:r>
              <a:r>
                <a:rPr lang="en-IN" sz="1600" b="1" dirty="0"/>
                <a:t>(E&amp;TC)</a:t>
              </a:r>
            </a:p>
            <a:p>
              <a:pPr algn="ctr"/>
              <a:endParaRPr lang="en-US" sz="1600" b="1" dirty="0">
                <a:solidFill>
                  <a:schemeClr val="tx1"/>
                </a:solidFill>
              </a:endParaRPr>
            </a:p>
          </p:txBody>
        </p:sp>
      </p:grpSp>
      <p:pic>
        <p:nvPicPr>
          <p:cNvPr id="25" name="Picture 24">
            <a:extLst>
              <a:ext uri="{FF2B5EF4-FFF2-40B4-BE49-F238E27FC236}">
                <a16:creationId xmlns:a16="http://schemas.microsoft.com/office/drawing/2014/main" id="{1E5A5A25-72DA-42E3-BCB3-9E9BA53F051A}"/>
              </a:ext>
            </a:extLst>
          </p:cNvPr>
          <p:cNvPicPr>
            <a:picLocks noChangeAspect="1"/>
          </p:cNvPicPr>
          <p:nvPr/>
        </p:nvPicPr>
        <p:blipFill>
          <a:blip r:embed="rId2"/>
          <a:stretch>
            <a:fillRect/>
          </a:stretch>
        </p:blipFill>
        <p:spPr>
          <a:xfrm>
            <a:off x="2515388" y="3732634"/>
            <a:ext cx="1505736" cy="1553430"/>
          </a:xfrm>
          <a:prstGeom prst="rect">
            <a:avLst/>
          </a:prstGeom>
        </p:spPr>
      </p:pic>
      <p:pic>
        <p:nvPicPr>
          <p:cNvPr id="10" name="Picture 9">
            <a:extLst>
              <a:ext uri="{FF2B5EF4-FFF2-40B4-BE49-F238E27FC236}">
                <a16:creationId xmlns:a16="http://schemas.microsoft.com/office/drawing/2014/main" id="{6F5C412C-A255-4A63-B734-BC4B83665227}"/>
              </a:ext>
            </a:extLst>
          </p:cNvPr>
          <p:cNvPicPr>
            <a:picLocks noChangeAspect="1"/>
          </p:cNvPicPr>
          <p:nvPr/>
        </p:nvPicPr>
        <p:blipFill>
          <a:blip r:embed="rId3"/>
          <a:srcRect l="8306" t="4932" r="7885" b="6005"/>
          <a:stretch>
            <a:fillRect/>
          </a:stretch>
        </p:blipFill>
        <p:spPr>
          <a:xfrm>
            <a:off x="9524482" y="3781485"/>
            <a:ext cx="1623296" cy="1676223"/>
          </a:xfrm>
          <a:prstGeom prst="rect">
            <a:avLst/>
          </a:prstGeom>
        </p:spPr>
      </p:pic>
      <p:pic>
        <p:nvPicPr>
          <p:cNvPr id="13" name="Picture 12">
            <a:extLst>
              <a:ext uri="{FF2B5EF4-FFF2-40B4-BE49-F238E27FC236}">
                <a16:creationId xmlns:a16="http://schemas.microsoft.com/office/drawing/2014/main" id="{3CD0CCED-B67C-A63C-F038-3321862C85CF}"/>
              </a:ext>
            </a:extLst>
          </p:cNvPr>
          <p:cNvPicPr>
            <a:picLocks noChangeAspect="1"/>
          </p:cNvPicPr>
          <p:nvPr/>
        </p:nvPicPr>
        <p:blipFill>
          <a:blip r:embed="rId4"/>
          <a:srcRect l="27079" t="15948" r="25147" b="28664"/>
          <a:stretch>
            <a:fillRect/>
          </a:stretch>
        </p:blipFill>
        <p:spPr>
          <a:xfrm>
            <a:off x="8190271" y="855620"/>
            <a:ext cx="1622323" cy="1694783"/>
          </a:xfrm>
          <a:prstGeom prst="rect">
            <a:avLst/>
          </a:prstGeom>
        </p:spPr>
      </p:pic>
      <p:pic>
        <p:nvPicPr>
          <p:cNvPr id="17" name="Picture 16">
            <a:extLst>
              <a:ext uri="{FF2B5EF4-FFF2-40B4-BE49-F238E27FC236}">
                <a16:creationId xmlns:a16="http://schemas.microsoft.com/office/drawing/2014/main" id="{AC42B0A4-8ABE-1799-A508-99E33A4EB4D8}"/>
              </a:ext>
            </a:extLst>
          </p:cNvPr>
          <p:cNvPicPr>
            <a:picLocks noChangeAspect="1"/>
          </p:cNvPicPr>
          <p:nvPr/>
        </p:nvPicPr>
        <p:blipFill>
          <a:blip r:embed="rId5"/>
          <a:srcRect l="15744" t="9378" r="11477" b="31756"/>
          <a:stretch>
            <a:fillRect/>
          </a:stretch>
        </p:blipFill>
        <p:spPr>
          <a:xfrm>
            <a:off x="7131936" y="3756072"/>
            <a:ext cx="1666789" cy="1715448"/>
          </a:xfrm>
          <a:prstGeom prst="rect">
            <a:avLst/>
          </a:prstGeom>
        </p:spPr>
      </p:pic>
    </p:spTree>
    <p:extLst>
      <p:ext uri="{BB962C8B-B14F-4D97-AF65-F5344CB8AC3E}">
        <p14:creationId xmlns:p14="http://schemas.microsoft.com/office/powerpoint/2010/main" val="30091333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F609697-D49F-A4FB-049E-97EE321D4CA6}"/>
              </a:ext>
            </a:extLst>
          </p:cNvPr>
          <p:cNvSpPr txBox="1">
            <a:spLocks/>
          </p:cNvSpPr>
          <p:nvPr/>
        </p:nvSpPr>
        <p:spPr>
          <a:xfrm>
            <a:off x="446315" y="582388"/>
            <a:ext cx="5660571" cy="461665"/>
          </a:xfrm>
          <a:prstGeom prst="rect">
            <a:avLst/>
          </a:prstGeom>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000" b="1" dirty="0">
                <a:solidFill>
                  <a:srgbClr val="A20000"/>
                </a:solidFill>
                <a:latin typeface="Vodafone Rg" panose="020B0606080202020204" pitchFamily="34" charset="0"/>
              </a:rPr>
              <a:t>Problem Statement</a:t>
            </a:r>
          </a:p>
        </p:txBody>
      </p:sp>
      <p:sp>
        <p:nvSpPr>
          <p:cNvPr id="25" name="Text Placeholder 1">
            <a:extLst>
              <a:ext uri="{FF2B5EF4-FFF2-40B4-BE49-F238E27FC236}">
                <a16:creationId xmlns:a16="http://schemas.microsoft.com/office/drawing/2014/main" id="{A71CF0F5-C389-4BF2-B097-DBEA1C6F9361}"/>
              </a:ext>
            </a:extLst>
          </p:cNvPr>
          <p:cNvSpPr txBox="1">
            <a:spLocks/>
          </p:cNvSpPr>
          <p:nvPr/>
        </p:nvSpPr>
        <p:spPr>
          <a:xfrm>
            <a:off x="967039" y="1331291"/>
            <a:ext cx="9994186" cy="3584837"/>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ClrTx/>
              <a:buNone/>
            </a:pPr>
            <a:r>
              <a:rPr lang="en-US" sz="2600" dirty="0"/>
              <a:t>Government welfare schemes face issues such as identity fraud, duplicate applications, and document tampering, resulting in misuse of funds and loss of benefits for genuine citizens. Existing manual and isolated verification systems are slow and error-prone creating the need for a secure, transparent, and unified solution to detect fraud and ensure fair benefit distribution.</a:t>
            </a:r>
            <a:endParaRPr lang="en-IN" sz="2600" dirty="0"/>
          </a:p>
          <a:p>
            <a:pPr marL="0" indent="0">
              <a:lnSpc>
                <a:spcPct val="150000"/>
              </a:lnSpc>
              <a:buClrTx/>
              <a:buNone/>
            </a:pPr>
            <a:endParaRPr lang="en-IN" dirty="0"/>
          </a:p>
        </p:txBody>
      </p:sp>
    </p:spTree>
    <p:extLst>
      <p:ext uri="{BB962C8B-B14F-4D97-AF65-F5344CB8AC3E}">
        <p14:creationId xmlns:p14="http://schemas.microsoft.com/office/powerpoint/2010/main" val="2952584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fade">
                                      <p:cBhvr>
                                        <p:cTn id="7" dur="1000"/>
                                        <p:tgtEl>
                                          <p:spTgt spid="25">
                                            <p:txEl>
                                              <p:pRg st="0" end="0"/>
                                            </p:txEl>
                                          </p:spTgt>
                                        </p:tgtEl>
                                      </p:cBhvr>
                                    </p:animEffect>
                                    <p:anim calcmode="lin" valueType="num">
                                      <p:cBhvr>
                                        <p:cTn id="8" dur="1000" fill="hold"/>
                                        <p:tgtEl>
                                          <p:spTgt spid="2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8" name="Google Shape;118;p4"/>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3" name="Title 1">
            <a:extLst>
              <a:ext uri="{FF2B5EF4-FFF2-40B4-BE49-F238E27FC236}">
                <a16:creationId xmlns:a16="http://schemas.microsoft.com/office/drawing/2014/main" id="{87853894-3A56-5D0E-024A-F2247ECFFC74}"/>
              </a:ext>
            </a:extLst>
          </p:cNvPr>
          <p:cNvSpPr txBox="1">
            <a:spLocks/>
          </p:cNvSpPr>
          <p:nvPr/>
        </p:nvSpPr>
        <p:spPr>
          <a:xfrm>
            <a:off x="446315" y="582388"/>
            <a:ext cx="5660571" cy="461665"/>
          </a:xfrm>
          <a:prstGeom prst="rect">
            <a:avLst/>
          </a:prstGeom>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000" b="1" dirty="0">
                <a:solidFill>
                  <a:srgbClr val="A20000"/>
                </a:solidFill>
                <a:latin typeface="Vodafone Rg" panose="020B0606080202020204" pitchFamily="34" charset="0"/>
              </a:rPr>
              <a:t>Need of Project </a:t>
            </a:r>
          </a:p>
        </p:txBody>
      </p:sp>
      <p:sp>
        <p:nvSpPr>
          <p:cNvPr id="2" name="TextBox 1">
            <a:extLst>
              <a:ext uri="{FF2B5EF4-FFF2-40B4-BE49-F238E27FC236}">
                <a16:creationId xmlns:a16="http://schemas.microsoft.com/office/drawing/2014/main" id="{6200D539-64A3-421B-8992-D39AB525AE3F}"/>
              </a:ext>
            </a:extLst>
          </p:cNvPr>
          <p:cNvSpPr txBox="1"/>
          <p:nvPr/>
        </p:nvSpPr>
        <p:spPr>
          <a:xfrm>
            <a:off x="1117600" y="1764145"/>
            <a:ext cx="5660571" cy="461665"/>
          </a:xfrm>
          <a:prstGeom prst="rect">
            <a:avLst/>
          </a:prstGeom>
          <a:noFill/>
        </p:spPr>
        <p:txBody>
          <a:bodyPr wrap="square" rtlCol="0">
            <a:spAutoFit/>
          </a:bodyPr>
          <a:lstStyle/>
          <a:p>
            <a:endParaRPr lang="en-IN" dirty="0"/>
          </a:p>
        </p:txBody>
      </p:sp>
      <p:sp>
        <p:nvSpPr>
          <p:cNvPr id="17" name="Rectangle 16">
            <a:extLst>
              <a:ext uri="{FF2B5EF4-FFF2-40B4-BE49-F238E27FC236}">
                <a16:creationId xmlns:a16="http://schemas.microsoft.com/office/drawing/2014/main" id="{89221437-0F1E-4578-BF25-2CE8497ABC62}"/>
              </a:ext>
            </a:extLst>
          </p:cNvPr>
          <p:cNvSpPr/>
          <p:nvPr/>
        </p:nvSpPr>
        <p:spPr>
          <a:xfrm>
            <a:off x="324889" y="1188302"/>
            <a:ext cx="11189087" cy="59805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dirty="0"/>
          </a:p>
        </p:txBody>
      </p:sp>
      <p:sp>
        <p:nvSpPr>
          <p:cNvPr id="20" name="Rectangle 19">
            <a:extLst>
              <a:ext uri="{FF2B5EF4-FFF2-40B4-BE49-F238E27FC236}">
                <a16:creationId xmlns:a16="http://schemas.microsoft.com/office/drawing/2014/main" id="{97795C0F-CB21-4EB7-A025-07961B0A34C4}"/>
              </a:ext>
            </a:extLst>
          </p:cNvPr>
          <p:cNvSpPr/>
          <p:nvPr/>
        </p:nvSpPr>
        <p:spPr>
          <a:xfrm>
            <a:off x="335298" y="1975602"/>
            <a:ext cx="11178678" cy="59805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dirty="0"/>
          </a:p>
        </p:txBody>
      </p:sp>
      <p:sp>
        <p:nvSpPr>
          <p:cNvPr id="23" name="Rectangle 22">
            <a:extLst>
              <a:ext uri="{FF2B5EF4-FFF2-40B4-BE49-F238E27FC236}">
                <a16:creationId xmlns:a16="http://schemas.microsoft.com/office/drawing/2014/main" id="{76CBFF36-4A81-4062-AA63-5859EF9E8017}"/>
              </a:ext>
            </a:extLst>
          </p:cNvPr>
          <p:cNvSpPr/>
          <p:nvPr/>
        </p:nvSpPr>
        <p:spPr>
          <a:xfrm>
            <a:off x="345708" y="2728912"/>
            <a:ext cx="11178678" cy="59805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dirty="0"/>
          </a:p>
        </p:txBody>
      </p:sp>
      <p:sp>
        <p:nvSpPr>
          <p:cNvPr id="24" name="Rectangle 23">
            <a:extLst>
              <a:ext uri="{FF2B5EF4-FFF2-40B4-BE49-F238E27FC236}">
                <a16:creationId xmlns:a16="http://schemas.microsoft.com/office/drawing/2014/main" id="{FCD9DF8E-8C8F-42C6-9252-D9BE013690C3}"/>
              </a:ext>
            </a:extLst>
          </p:cNvPr>
          <p:cNvSpPr/>
          <p:nvPr/>
        </p:nvSpPr>
        <p:spPr>
          <a:xfrm>
            <a:off x="345706" y="3485027"/>
            <a:ext cx="11178677" cy="59805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dirty="0"/>
          </a:p>
        </p:txBody>
      </p:sp>
      <p:sp>
        <p:nvSpPr>
          <p:cNvPr id="25" name="Rectangle 24">
            <a:extLst>
              <a:ext uri="{FF2B5EF4-FFF2-40B4-BE49-F238E27FC236}">
                <a16:creationId xmlns:a16="http://schemas.microsoft.com/office/drawing/2014/main" id="{5AF0F85E-BAE4-4C89-8F87-5A081933D9AC}"/>
              </a:ext>
            </a:extLst>
          </p:cNvPr>
          <p:cNvSpPr/>
          <p:nvPr/>
        </p:nvSpPr>
        <p:spPr>
          <a:xfrm>
            <a:off x="345707" y="4249600"/>
            <a:ext cx="11178676" cy="59805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dirty="0"/>
          </a:p>
        </p:txBody>
      </p:sp>
      <p:sp>
        <p:nvSpPr>
          <p:cNvPr id="26" name="Rectangle 25">
            <a:extLst>
              <a:ext uri="{FF2B5EF4-FFF2-40B4-BE49-F238E27FC236}">
                <a16:creationId xmlns:a16="http://schemas.microsoft.com/office/drawing/2014/main" id="{44014D7C-3597-4EAE-86FD-989CE9CE2426}"/>
              </a:ext>
            </a:extLst>
          </p:cNvPr>
          <p:cNvSpPr/>
          <p:nvPr/>
        </p:nvSpPr>
        <p:spPr>
          <a:xfrm>
            <a:off x="324889" y="5014173"/>
            <a:ext cx="11199494" cy="59805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dirty="0"/>
          </a:p>
        </p:txBody>
      </p:sp>
      <p:sp>
        <p:nvSpPr>
          <p:cNvPr id="27" name="Rectangle 26">
            <a:extLst>
              <a:ext uri="{FF2B5EF4-FFF2-40B4-BE49-F238E27FC236}">
                <a16:creationId xmlns:a16="http://schemas.microsoft.com/office/drawing/2014/main" id="{1EA6B2C6-9CA5-4A2A-952F-3593A8D993C5}"/>
              </a:ext>
            </a:extLst>
          </p:cNvPr>
          <p:cNvSpPr/>
          <p:nvPr/>
        </p:nvSpPr>
        <p:spPr>
          <a:xfrm>
            <a:off x="304074" y="5763912"/>
            <a:ext cx="11220309" cy="59805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dirty="0"/>
          </a:p>
        </p:txBody>
      </p:sp>
      <p:sp>
        <p:nvSpPr>
          <p:cNvPr id="30" name="TextBox 29">
            <a:extLst>
              <a:ext uri="{FF2B5EF4-FFF2-40B4-BE49-F238E27FC236}">
                <a16:creationId xmlns:a16="http://schemas.microsoft.com/office/drawing/2014/main" id="{5F2F9092-FF0C-4702-8C55-AD3302A95626}"/>
              </a:ext>
            </a:extLst>
          </p:cNvPr>
          <p:cNvSpPr txBox="1"/>
          <p:nvPr/>
        </p:nvSpPr>
        <p:spPr>
          <a:xfrm>
            <a:off x="304074" y="1308366"/>
            <a:ext cx="12039964" cy="33855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mn-lt"/>
              </a:rPr>
              <a:t>🔹 </a:t>
            </a:r>
            <a:r>
              <a:rPr kumimoji="0" lang="en-US" altLang="en-US" sz="1600" b="1" i="0" u="none" strike="noStrike" cap="none" normalizeH="0" baseline="0" dirty="0">
                <a:ln>
                  <a:noFill/>
                </a:ln>
                <a:solidFill>
                  <a:schemeClr val="tx1"/>
                </a:solidFill>
                <a:effectLst/>
                <a:latin typeface="+mn-lt"/>
              </a:rPr>
              <a:t>Increase in Digital Fraud:</a:t>
            </a:r>
            <a:r>
              <a:rPr kumimoji="0" lang="en-US" altLang="en-US" sz="1600" b="0" i="0" u="none" strike="noStrike" cap="none" normalizeH="0" baseline="0" dirty="0">
                <a:ln>
                  <a:noFill/>
                </a:ln>
                <a:solidFill>
                  <a:schemeClr val="tx1"/>
                </a:solidFill>
                <a:effectLst/>
                <a:latin typeface="+mn-lt"/>
              </a:rPr>
              <a:t> Growing number of fake documents and duplicate applications in online government schemes</a:t>
            </a:r>
            <a:r>
              <a:rPr kumimoji="0" lang="en-US" altLang="en-US" sz="1500" b="0" i="0" u="none" strike="noStrike" cap="none" normalizeH="0" baseline="0" dirty="0">
                <a:ln>
                  <a:noFill/>
                </a:ln>
                <a:solidFill>
                  <a:schemeClr val="tx1"/>
                </a:solidFill>
                <a:effectLst/>
                <a:latin typeface="+mn-lt"/>
              </a:rPr>
              <a:t>.</a:t>
            </a:r>
          </a:p>
        </p:txBody>
      </p:sp>
      <p:sp>
        <p:nvSpPr>
          <p:cNvPr id="32" name="TextBox 31">
            <a:extLst>
              <a:ext uri="{FF2B5EF4-FFF2-40B4-BE49-F238E27FC236}">
                <a16:creationId xmlns:a16="http://schemas.microsoft.com/office/drawing/2014/main" id="{5C4DC2F4-7F7F-4668-B486-AAAFAF7773BC}"/>
              </a:ext>
            </a:extLst>
          </p:cNvPr>
          <p:cNvSpPr txBox="1"/>
          <p:nvPr/>
        </p:nvSpPr>
        <p:spPr>
          <a:xfrm>
            <a:off x="324889" y="2065091"/>
            <a:ext cx="11399158" cy="33855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mn-lt"/>
              </a:rPr>
              <a:t>🔹 </a:t>
            </a:r>
            <a:r>
              <a:rPr kumimoji="0" lang="en-US" altLang="en-US" sz="1600" b="1" i="0" u="none" strike="noStrike" cap="none" normalizeH="0" baseline="0" dirty="0">
                <a:ln>
                  <a:noFill/>
                </a:ln>
                <a:solidFill>
                  <a:schemeClr val="tx1"/>
                </a:solidFill>
                <a:effectLst/>
                <a:latin typeface="+mn-lt"/>
              </a:rPr>
              <a:t>Document Tampering Issues:</a:t>
            </a:r>
            <a:r>
              <a:rPr kumimoji="0" lang="en-US" altLang="en-US" sz="1600" b="0" i="0" u="none" strike="noStrike" cap="none" normalizeH="0" baseline="0" dirty="0">
                <a:ln>
                  <a:noFill/>
                </a:ln>
                <a:solidFill>
                  <a:schemeClr val="tx1"/>
                </a:solidFill>
                <a:effectLst/>
                <a:latin typeface="+mn-lt"/>
              </a:rPr>
              <a:t> Edited Aadhaar/PAN cards are used to misuse benefits and commit</a:t>
            </a:r>
            <a:r>
              <a:rPr lang="en-US" altLang="en-US" sz="1600" dirty="0">
                <a:solidFill>
                  <a:schemeClr val="tx1"/>
                </a:solidFill>
                <a:latin typeface="+mn-lt"/>
              </a:rPr>
              <a:t> </a:t>
            </a:r>
            <a:r>
              <a:rPr kumimoji="0" lang="en-US" altLang="en-US" sz="1600" b="0" i="0" u="none" strike="noStrike" cap="none" normalizeH="0" baseline="0" dirty="0">
                <a:ln>
                  <a:noFill/>
                </a:ln>
                <a:solidFill>
                  <a:schemeClr val="tx1"/>
                </a:solidFill>
                <a:effectLst/>
                <a:latin typeface="+mn-lt"/>
              </a:rPr>
              <a:t>identity fraud.</a:t>
            </a:r>
          </a:p>
        </p:txBody>
      </p:sp>
      <p:sp>
        <p:nvSpPr>
          <p:cNvPr id="34" name="TextBox 33">
            <a:extLst>
              <a:ext uri="{FF2B5EF4-FFF2-40B4-BE49-F238E27FC236}">
                <a16:creationId xmlns:a16="http://schemas.microsoft.com/office/drawing/2014/main" id="{01A83682-63DF-4A4A-9AE7-91D326AD7A84}"/>
              </a:ext>
            </a:extLst>
          </p:cNvPr>
          <p:cNvSpPr txBox="1"/>
          <p:nvPr/>
        </p:nvSpPr>
        <p:spPr>
          <a:xfrm>
            <a:off x="345708" y="2895178"/>
            <a:ext cx="9377680" cy="55399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mn-lt"/>
              </a:rPr>
              <a:t>🔹 </a:t>
            </a:r>
            <a:r>
              <a:rPr kumimoji="0" lang="en-US" altLang="en-US" sz="1600" b="1" i="0" u="none" strike="noStrike" cap="none" normalizeH="0" baseline="0" dirty="0">
                <a:ln>
                  <a:noFill/>
                </a:ln>
                <a:solidFill>
                  <a:schemeClr val="tx1"/>
                </a:solidFill>
                <a:effectLst/>
                <a:latin typeface="+mn-lt"/>
              </a:rPr>
              <a:t>Duplicate Benefit Claims:</a:t>
            </a:r>
            <a:r>
              <a:rPr kumimoji="0" lang="en-US" altLang="en-US" sz="1600" b="0" i="0" u="none" strike="noStrike" cap="none" normalizeH="0" baseline="0" dirty="0">
                <a:ln>
                  <a:noFill/>
                </a:ln>
                <a:solidFill>
                  <a:schemeClr val="tx1"/>
                </a:solidFill>
                <a:effectLst/>
                <a:latin typeface="+mn-lt"/>
              </a:rPr>
              <a:t> Same person applying multiple times using same or manipulated details.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36" name="TextBox 35">
            <a:extLst>
              <a:ext uri="{FF2B5EF4-FFF2-40B4-BE49-F238E27FC236}">
                <a16:creationId xmlns:a16="http://schemas.microsoft.com/office/drawing/2014/main" id="{C0EC832D-D43D-4EE8-A3B8-8FAF2F95C684}"/>
              </a:ext>
            </a:extLst>
          </p:cNvPr>
          <p:cNvSpPr txBox="1"/>
          <p:nvPr/>
        </p:nvSpPr>
        <p:spPr>
          <a:xfrm>
            <a:off x="345707" y="3630165"/>
            <a:ext cx="9185366" cy="33855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mn-lt"/>
              </a:rPr>
              <a:t>🔹 </a:t>
            </a:r>
            <a:r>
              <a:rPr kumimoji="0" lang="en-US" altLang="en-US" sz="1600" b="1" i="0" u="none" strike="noStrike" cap="none" normalizeH="0" baseline="0" dirty="0">
                <a:ln>
                  <a:noFill/>
                </a:ln>
                <a:solidFill>
                  <a:schemeClr val="tx1"/>
                </a:solidFill>
                <a:effectLst/>
                <a:latin typeface="+mn-lt"/>
              </a:rPr>
              <a:t>Lack of Transparency:</a:t>
            </a:r>
            <a:r>
              <a:rPr kumimoji="0" lang="en-US" altLang="en-US" sz="1600" b="0" i="0" u="none" strike="noStrike" cap="none" normalizeH="0" baseline="0" dirty="0">
                <a:ln>
                  <a:noFill/>
                </a:ln>
                <a:solidFill>
                  <a:schemeClr val="tx1"/>
                </a:solidFill>
                <a:effectLst/>
                <a:latin typeface="+mn-lt"/>
              </a:rPr>
              <a:t> No proper tracking system to maintain immutable records of applications.</a:t>
            </a:r>
          </a:p>
        </p:txBody>
      </p:sp>
      <p:sp>
        <p:nvSpPr>
          <p:cNvPr id="38" name="TextBox 37">
            <a:extLst>
              <a:ext uri="{FF2B5EF4-FFF2-40B4-BE49-F238E27FC236}">
                <a16:creationId xmlns:a16="http://schemas.microsoft.com/office/drawing/2014/main" id="{7D0C7146-9EE1-47FD-A48C-4E22A77CD328}"/>
              </a:ext>
            </a:extLst>
          </p:cNvPr>
          <p:cNvSpPr txBox="1"/>
          <p:nvPr/>
        </p:nvSpPr>
        <p:spPr>
          <a:xfrm>
            <a:off x="304074" y="4406874"/>
            <a:ext cx="9641478" cy="58477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mn-lt"/>
              </a:rPr>
              <a:t>🔹 </a:t>
            </a:r>
            <a:r>
              <a:rPr kumimoji="0" lang="en-US" altLang="en-US" sz="1600" b="1" i="0" u="none" strike="noStrike" cap="none" normalizeH="0" baseline="0" dirty="0">
                <a:ln>
                  <a:noFill/>
                </a:ln>
                <a:solidFill>
                  <a:schemeClr val="tx1"/>
                </a:solidFill>
                <a:effectLst/>
                <a:latin typeface="+mn-lt"/>
              </a:rPr>
              <a:t>Need for Smart Automation:</a:t>
            </a:r>
            <a:r>
              <a:rPr kumimoji="0" lang="en-US" altLang="en-US" sz="1600" b="0" i="0" u="none" strike="noStrike" cap="none" normalizeH="0" baseline="0" dirty="0">
                <a:ln>
                  <a:noFill/>
                </a:ln>
                <a:solidFill>
                  <a:schemeClr val="tx1"/>
                </a:solidFill>
                <a:effectLst/>
                <a:latin typeface="+mn-lt"/>
              </a:rPr>
              <a:t> Requirement of AI-based document verification and fraud detection.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mn-lt"/>
            </a:endParaRPr>
          </a:p>
        </p:txBody>
      </p:sp>
      <p:sp>
        <p:nvSpPr>
          <p:cNvPr id="40" name="TextBox 39">
            <a:extLst>
              <a:ext uri="{FF2B5EF4-FFF2-40B4-BE49-F238E27FC236}">
                <a16:creationId xmlns:a16="http://schemas.microsoft.com/office/drawing/2014/main" id="{F5DA1492-B0F0-4B93-BCB3-F831D6A6D5CB}"/>
              </a:ext>
            </a:extLst>
          </p:cNvPr>
          <p:cNvSpPr txBox="1"/>
          <p:nvPr/>
        </p:nvSpPr>
        <p:spPr>
          <a:xfrm>
            <a:off x="294409" y="5116893"/>
            <a:ext cx="9845040" cy="33855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mn-lt"/>
              </a:rPr>
              <a:t>🔹 </a:t>
            </a:r>
            <a:r>
              <a:rPr kumimoji="0" lang="en-US" altLang="en-US" sz="1600" b="1" i="0" u="none" strike="noStrike" cap="none" normalizeH="0" baseline="0" dirty="0">
                <a:ln>
                  <a:noFill/>
                </a:ln>
                <a:solidFill>
                  <a:schemeClr val="tx1"/>
                </a:solidFill>
                <a:effectLst/>
                <a:latin typeface="+mn-lt"/>
              </a:rPr>
              <a:t>Secure Record Keeping:</a:t>
            </a:r>
            <a:r>
              <a:rPr kumimoji="0" lang="en-US" altLang="en-US" sz="1600" b="0" i="0" u="none" strike="noStrike" cap="none" normalizeH="0" baseline="0" dirty="0">
                <a:ln>
                  <a:noFill/>
                </a:ln>
                <a:solidFill>
                  <a:schemeClr val="tx1"/>
                </a:solidFill>
                <a:effectLst/>
                <a:latin typeface="+mn-lt"/>
              </a:rPr>
              <a:t> Need for blockchain-based tamper-proof storage of verification logs.</a:t>
            </a:r>
          </a:p>
        </p:txBody>
      </p:sp>
      <p:sp>
        <p:nvSpPr>
          <p:cNvPr id="42" name="TextBox 41">
            <a:extLst>
              <a:ext uri="{FF2B5EF4-FFF2-40B4-BE49-F238E27FC236}">
                <a16:creationId xmlns:a16="http://schemas.microsoft.com/office/drawing/2014/main" id="{6CDCB2B6-CE18-44EB-83EB-23CEA986A167}"/>
              </a:ext>
            </a:extLst>
          </p:cNvPr>
          <p:cNvSpPr txBox="1"/>
          <p:nvPr/>
        </p:nvSpPr>
        <p:spPr>
          <a:xfrm>
            <a:off x="335298" y="5916299"/>
            <a:ext cx="9784080" cy="33855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mn-lt"/>
              </a:rPr>
              <a:t>🔹 </a:t>
            </a:r>
            <a:r>
              <a:rPr kumimoji="0" lang="en-US" altLang="en-US" sz="1600" b="1" i="0" u="none" strike="noStrike" cap="none" normalizeH="0" baseline="0" dirty="0">
                <a:ln>
                  <a:noFill/>
                </a:ln>
                <a:solidFill>
                  <a:schemeClr val="tx1"/>
                </a:solidFill>
                <a:effectLst/>
                <a:latin typeface="+mn-lt"/>
              </a:rPr>
              <a:t>Real-Time Fraud Detection:</a:t>
            </a:r>
            <a:r>
              <a:rPr kumimoji="0" lang="en-US" altLang="en-US" sz="1600" b="0" i="0" u="none" strike="noStrike" cap="none" normalizeH="0" baseline="0" dirty="0">
                <a:ln>
                  <a:noFill/>
                </a:ln>
                <a:solidFill>
                  <a:schemeClr val="tx1"/>
                </a:solidFill>
                <a:effectLst/>
                <a:latin typeface="+mn-lt"/>
              </a:rPr>
              <a:t> System required to instantly reject suspicious or manipulated applications.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54DAA0B5-D49D-D971-A0D4-0A4C28AE5E99}"/>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B1ECF53D-A9AC-A2BC-5585-98F3B9A7D89C}"/>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3" name="Title 1">
            <a:extLst>
              <a:ext uri="{FF2B5EF4-FFF2-40B4-BE49-F238E27FC236}">
                <a16:creationId xmlns:a16="http://schemas.microsoft.com/office/drawing/2014/main" id="{8883974E-C694-F06D-D690-8C30026F7356}"/>
              </a:ext>
            </a:extLst>
          </p:cNvPr>
          <p:cNvSpPr txBox="1">
            <a:spLocks/>
          </p:cNvSpPr>
          <p:nvPr/>
        </p:nvSpPr>
        <p:spPr>
          <a:xfrm>
            <a:off x="446315" y="582388"/>
            <a:ext cx="5660571" cy="461665"/>
          </a:xfrm>
          <a:prstGeom prst="rect">
            <a:avLst/>
          </a:prstGeom>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000" b="1">
                <a:solidFill>
                  <a:srgbClr val="A20000"/>
                </a:solidFill>
                <a:latin typeface="Vodafone Rg" panose="020B0606080202020204" pitchFamily="34" charset="0"/>
              </a:rPr>
              <a:t>Proposed Solution</a:t>
            </a:r>
          </a:p>
        </p:txBody>
      </p:sp>
      <p:graphicFrame>
        <p:nvGraphicFramePr>
          <p:cNvPr id="8" name="Table 7">
            <a:extLst>
              <a:ext uri="{FF2B5EF4-FFF2-40B4-BE49-F238E27FC236}">
                <a16:creationId xmlns:a16="http://schemas.microsoft.com/office/drawing/2014/main" id="{339EF487-CD21-4AF9-A28C-442EC5D121A7}"/>
              </a:ext>
            </a:extLst>
          </p:cNvPr>
          <p:cNvGraphicFramePr>
            <a:graphicFrameLocks noGrp="1"/>
          </p:cNvGraphicFramePr>
          <p:nvPr>
            <p:extLst>
              <p:ext uri="{D42A27DB-BD31-4B8C-83A1-F6EECF244321}">
                <p14:modId xmlns:p14="http://schemas.microsoft.com/office/powerpoint/2010/main" val="1767827109"/>
              </p:ext>
            </p:extLst>
          </p:nvPr>
        </p:nvGraphicFramePr>
        <p:xfrm>
          <a:off x="791755" y="1146185"/>
          <a:ext cx="4389845" cy="5139651"/>
        </p:xfrm>
        <a:graphic>
          <a:graphicData uri="http://schemas.openxmlformats.org/drawingml/2006/table">
            <a:tbl>
              <a:tblPr firstRow="1" bandRow="1">
                <a:tableStyleId>{EB9631B5-78F2-41C9-869B-9F39066F8104}</a:tableStyleId>
              </a:tblPr>
              <a:tblGrid>
                <a:gridCol w="4389845">
                  <a:extLst>
                    <a:ext uri="{9D8B030D-6E8A-4147-A177-3AD203B41FA5}">
                      <a16:colId xmlns:a16="http://schemas.microsoft.com/office/drawing/2014/main" val="3152200650"/>
                    </a:ext>
                  </a:extLst>
                </a:gridCol>
              </a:tblGrid>
              <a:tr h="576345">
                <a:tc>
                  <a:txBody>
                    <a:bodyPr/>
                    <a:lstStyle/>
                    <a:p>
                      <a:r>
                        <a:rPr lang="en-IN" sz="3200" u="sng" dirty="0">
                          <a:effectLst>
                            <a:outerShdw blurRad="38100" dist="38100" dir="2700000" algn="tl">
                              <a:srgbClr val="000000">
                                <a:alpha val="43137"/>
                              </a:srgbClr>
                            </a:outerShdw>
                          </a:effectLst>
                        </a:rPr>
                        <a:t>Solutions</a:t>
                      </a:r>
                      <a:endParaRPr lang="en-IN" sz="3200" i="1" u="sng" dirty="0">
                        <a:effectLst>
                          <a:outerShdw blurRad="38100" dist="38100" dir="2700000" algn="tl">
                            <a:srgbClr val="000000">
                              <a:alpha val="43137"/>
                            </a:srgbClr>
                          </a:outerShdw>
                        </a:effectLst>
                      </a:endParaRPr>
                    </a:p>
                  </a:txBody>
                  <a:tcPr/>
                </a:tc>
                <a:extLst>
                  <a:ext uri="{0D108BD9-81ED-4DB2-BD59-A6C34878D82A}">
                    <a16:rowId xmlns:a16="http://schemas.microsoft.com/office/drawing/2014/main" val="1349337186"/>
                  </a:ext>
                </a:extLst>
              </a:tr>
              <a:tr h="1183024">
                <a:tc>
                  <a:txBody>
                    <a:bodyPr/>
                    <a:lstStyle/>
                    <a:p>
                      <a:r>
                        <a:rPr lang="en-IN" dirty="0"/>
                        <a:t>1.</a:t>
                      </a:r>
                      <a:r>
                        <a:rPr lang="en-US" b="1" dirty="0"/>
                        <a:t> AI-Powered Document Verification:</a:t>
                      </a:r>
                      <a:r>
                        <a:rPr lang="en-US" dirty="0"/>
                        <a:t> Automatically detects tampered or fake Aadhaar &amp; PAN documents with confidence scoring</a:t>
                      </a:r>
                      <a:endParaRPr lang="en-IN" dirty="0"/>
                    </a:p>
                  </a:txBody>
                  <a:tcPr/>
                </a:tc>
                <a:extLst>
                  <a:ext uri="{0D108BD9-81ED-4DB2-BD59-A6C34878D82A}">
                    <a16:rowId xmlns:a16="http://schemas.microsoft.com/office/drawing/2014/main" val="367845404"/>
                  </a:ext>
                </a:extLst>
              </a:tr>
              <a:tr h="1091871">
                <a:tc>
                  <a:txBody>
                    <a:bodyPr/>
                    <a:lstStyle/>
                    <a:p>
                      <a:r>
                        <a:rPr lang="en-IN" dirty="0"/>
                        <a:t>2. </a:t>
                      </a:r>
                      <a:r>
                        <a:rPr lang="en-US" b="1" dirty="0"/>
                        <a:t>Real-Time Fraud Prevention:</a:t>
                      </a:r>
                      <a:r>
                        <a:rPr lang="en-US" dirty="0"/>
                        <a:t> Instantly rejects suspicious, duplicate, or manipulated applications before approval.</a:t>
                      </a:r>
                      <a:endParaRPr lang="en-IN" dirty="0"/>
                    </a:p>
                  </a:txBody>
                  <a:tcPr/>
                </a:tc>
                <a:extLst>
                  <a:ext uri="{0D108BD9-81ED-4DB2-BD59-A6C34878D82A}">
                    <a16:rowId xmlns:a16="http://schemas.microsoft.com/office/drawing/2014/main" val="1498477528"/>
                  </a:ext>
                </a:extLst>
              </a:tr>
              <a:tr h="954114">
                <a:tc>
                  <a:txBody>
                    <a:bodyPr/>
                    <a:lstStyle/>
                    <a:p>
                      <a:r>
                        <a:rPr lang="en-IN" dirty="0"/>
                        <a:t>3. </a:t>
                      </a:r>
                      <a:r>
                        <a:rPr lang="en-US" b="1" dirty="0"/>
                        <a:t>Blockchain-Based Transparency:</a:t>
                      </a:r>
                      <a:r>
                        <a:rPr lang="en-US" dirty="0"/>
                        <a:t> Stores verification logs securely to ensure tamper-proof and trustworthy records.</a:t>
                      </a:r>
                      <a:endParaRPr lang="en-IN" dirty="0"/>
                    </a:p>
                  </a:txBody>
                  <a:tcPr/>
                </a:tc>
                <a:extLst>
                  <a:ext uri="{0D108BD9-81ED-4DB2-BD59-A6C34878D82A}">
                    <a16:rowId xmlns:a16="http://schemas.microsoft.com/office/drawing/2014/main" val="2960268997"/>
                  </a:ext>
                </a:extLst>
              </a:tr>
              <a:tr h="960066">
                <a:tc>
                  <a:txBody>
                    <a:bodyPr/>
                    <a:lstStyle/>
                    <a:p>
                      <a:r>
                        <a:rPr lang="en-IN" dirty="0"/>
                        <a:t>4. </a:t>
                      </a:r>
                      <a:r>
                        <a:rPr lang="en-US" b="1" dirty="0"/>
                        <a:t>Faster &amp; Accurate Processing:</a:t>
                      </a:r>
                      <a:r>
                        <a:rPr lang="en-US" dirty="0"/>
                        <a:t> Reduces manual effort, saves time, and improves overall verification efficiency.</a:t>
                      </a:r>
                      <a:endParaRPr lang="en-IN" dirty="0"/>
                    </a:p>
                  </a:txBody>
                  <a:tcPr/>
                </a:tc>
                <a:extLst>
                  <a:ext uri="{0D108BD9-81ED-4DB2-BD59-A6C34878D82A}">
                    <a16:rowId xmlns:a16="http://schemas.microsoft.com/office/drawing/2014/main" val="2762694052"/>
                  </a:ext>
                </a:extLst>
              </a:tr>
              <a:tr h="364007">
                <a:tc>
                  <a:txBody>
                    <a:bodyPr/>
                    <a:lstStyle/>
                    <a:p>
                      <a:endParaRPr lang="en-IN" dirty="0"/>
                    </a:p>
                  </a:txBody>
                  <a:tcPr/>
                </a:tc>
                <a:extLst>
                  <a:ext uri="{0D108BD9-81ED-4DB2-BD59-A6C34878D82A}">
                    <a16:rowId xmlns:a16="http://schemas.microsoft.com/office/drawing/2014/main" val="267925669"/>
                  </a:ext>
                </a:extLst>
              </a:tr>
            </a:tbl>
          </a:graphicData>
        </a:graphic>
      </p:graphicFrame>
      <p:graphicFrame>
        <p:nvGraphicFramePr>
          <p:cNvPr id="10" name="Table 9">
            <a:extLst>
              <a:ext uri="{FF2B5EF4-FFF2-40B4-BE49-F238E27FC236}">
                <a16:creationId xmlns:a16="http://schemas.microsoft.com/office/drawing/2014/main" id="{27D88DBF-927F-4E18-B519-BFCC9C0EDE31}"/>
              </a:ext>
            </a:extLst>
          </p:cNvPr>
          <p:cNvGraphicFramePr>
            <a:graphicFrameLocks noGrp="1"/>
          </p:cNvGraphicFramePr>
          <p:nvPr>
            <p:extLst>
              <p:ext uri="{D42A27DB-BD31-4B8C-83A1-F6EECF244321}">
                <p14:modId xmlns:p14="http://schemas.microsoft.com/office/powerpoint/2010/main" val="1467640237"/>
              </p:ext>
            </p:extLst>
          </p:nvPr>
        </p:nvGraphicFramePr>
        <p:xfrm>
          <a:off x="5871755" y="1146185"/>
          <a:ext cx="4389845" cy="5387358"/>
        </p:xfrm>
        <a:graphic>
          <a:graphicData uri="http://schemas.openxmlformats.org/drawingml/2006/table">
            <a:tbl>
              <a:tblPr firstRow="1" bandRow="1">
                <a:tableStyleId>{EB9631B5-78F2-41C9-869B-9F39066F8104}</a:tableStyleId>
              </a:tblPr>
              <a:tblGrid>
                <a:gridCol w="4389845">
                  <a:extLst>
                    <a:ext uri="{9D8B030D-6E8A-4147-A177-3AD203B41FA5}">
                      <a16:colId xmlns:a16="http://schemas.microsoft.com/office/drawing/2014/main" val="434242224"/>
                    </a:ext>
                  </a:extLst>
                </a:gridCol>
              </a:tblGrid>
              <a:tr h="529680">
                <a:tc>
                  <a:txBody>
                    <a:bodyPr/>
                    <a:lstStyle/>
                    <a:p>
                      <a:r>
                        <a:rPr lang="en-IN" sz="3200" u="sng" dirty="0">
                          <a:effectLst>
                            <a:outerShdw blurRad="38100" dist="38100" dir="2700000" algn="tl">
                              <a:srgbClr val="000000">
                                <a:alpha val="43137"/>
                              </a:srgbClr>
                            </a:outerShdw>
                          </a:effectLst>
                        </a:rPr>
                        <a:t>Value</a:t>
                      </a:r>
                      <a:r>
                        <a:rPr lang="en-IN" sz="3200" dirty="0"/>
                        <a:t> </a:t>
                      </a:r>
                      <a:r>
                        <a:rPr lang="en-IN" sz="3200" u="sng" dirty="0">
                          <a:effectLst>
                            <a:outerShdw blurRad="38100" dist="38100" dir="2700000" algn="tl">
                              <a:srgbClr val="000000">
                                <a:alpha val="43137"/>
                              </a:srgbClr>
                            </a:outerShdw>
                          </a:effectLst>
                        </a:rPr>
                        <a:t>Proposition</a:t>
                      </a:r>
                    </a:p>
                  </a:txBody>
                  <a:tcPr/>
                </a:tc>
                <a:extLst>
                  <a:ext uri="{0D108BD9-81ED-4DB2-BD59-A6C34878D82A}">
                    <a16:rowId xmlns:a16="http://schemas.microsoft.com/office/drawing/2014/main" val="52794678"/>
                  </a:ext>
                </a:extLst>
              </a:tr>
              <a:tr h="1153693">
                <a:tc>
                  <a:txBody>
                    <a:bodyPr/>
                    <a:lstStyle/>
                    <a:p>
                      <a:r>
                        <a:rPr lang="en-IN" dirty="0"/>
                        <a:t>1. </a:t>
                      </a:r>
                      <a:r>
                        <a:rPr lang="en-US" b="1" dirty="0"/>
                        <a:t>Smart AI Verification</a:t>
                      </a:r>
                      <a:r>
                        <a:rPr lang="en-US" dirty="0"/>
                        <a:t> – Automatically analyzes Aadhaar and PAN documents to detect tampering, fake uploads, and mismatched details.</a:t>
                      </a:r>
                      <a:endParaRPr lang="en-IN" b="1" dirty="0"/>
                    </a:p>
                  </a:txBody>
                  <a:tcPr/>
                </a:tc>
                <a:extLst>
                  <a:ext uri="{0D108BD9-81ED-4DB2-BD59-A6C34878D82A}">
                    <a16:rowId xmlns:a16="http://schemas.microsoft.com/office/drawing/2014/main" val="690950759"/>
                  </a:ext>
                </a:extLst>
              </a:tr>
              <a:tr h="1099175">
                <a:tc>
                  <a:txBody>
                    <a:bodyPr/>
                    <a:lstStyle/>
                    <a:p>
                      <a:r>
                        <a:rPr lang="en-IN" dirty="0"/>
                        <a:t>2.</a:t>
                      </a:r>
                      <a:r>
                        <a:rPr lang="en-US" b="1" dirty="0"/>
                        <a:t> Instant Fraud Detection</a:t>
                      </a:r>
                      <a:r>
                        <a:rPr lang="en-US" dirty="0"/>
                        <a:t> – Identifies duplicate applications, suspicious attempts, and invalid data in real time.</a:t>
                      </a:r>
                      <a:endParaRPr lang="en-IN" dirty="0"/>
                    </a:p>
                  </a:txBody>
                  <a:tcPr/>
                </a:tc>
                <a:extLst>
                  <a:ext uri="{0D108BD9-81ED-4DB2-BD59-A6C34878D82A}">
                    <a16:rowId xmlns:a16="http://schemas.microsoft.com/office/drawing/2014/main" val="2697971044"/>
                  </a:ext>
                </a:extLst>
              </a:tr>
              <a:tr h="955040">
                <a:tc>
                  <a:txBody>
                    <a:bodyPr/>
                    <a:lstStyle/>
                    <a:p>
                      <a:r>
                        <a:rPr lang="en-IN" dirty="0"/>
                        <a:t>3.</a:t>
                      </a:r>
                      <a:r>
                        <a:rPr lang="en-US" b="1" dirty="0"/>
                        <a:t> Secure &amp; Transparent Records</a:t>
                      </a:r>
                      <a:r>
                        <a:rPr lang="en-US" dirty="0"/>
                        <a:t> – Uses blockchain logging to maintain tamper-proof verification history.</a:t>
                      </a:r>
                      <a:endParaRPr lang="en-IN" dirty="0"/>
                    </a:p>
                  </a:txBody>
                  <a:tcPr/>
                </a:tc>
                <a:extLst>
                  <a:ext uri="{0D108BD9-81ED-4DB2-BD59-A6C34878D82A}">
                    <a16:rowId xmlns:a16="http://schemas.microsoft.com/office/drawing/2014/main" val="96036715"/>
                  </a:ext>
                </a:extLst>
              </a:tr>
              <a:tr h="920013">
                <a:tc>
                  <a:txBody>
                    <a:bodyPr/>
                    <a:lstStyle/>
                    <a:p>
                      <a:r>
                        <a:rPr lang="en-IN" dirty="0"/>
                        <a:t>4.</a:t>
                      </a:r>
                      <a:r>
                        <a:rPr lang="en-US" b="1" dirty="0"/>
                        <a:t> Time &amp; Cost Efficiency</a:t>
                      </a:r>
                      <a:r>
                        <a:rPr lang="en-US" dirty="0"/>
                        <a:t> – Reduces manual verification workload and speeds up application processing with high accuracy.</a:t>
                      </a:r>
                      <a:endParaRPr lang="en-IN" dirty="0"/>
                    </a:p>
                  </a:txBody>
                  <a:tcPr/>
                </a:tc>
                <a:extLst>
                  <a:ext uri="{0D108BD9-81ED-4DB2-BD59-A6C34878D82A}">
                    <a16:rowId xmlns:a16="http://schemas.microsoft.com/office/drawing/2014/main" val="1985806238"/>
                  </a:ext>
                </a:extLst>
              </a:tr>
              <a:tr h="376583">
                <a:tc>
                  <a:txBody>
                    <a:bodyPr/>
                    <a:lstStyle/>
                    <a:p>
                      <a:endParaRPr lang="en-IN" dirty="0"/>
                    </a:p>
                  </a:txBody>
                  <a:tcPr/>
                </a:tc>
                <a:extLst>
                  <a:ext uri="{0D108BD9-81ED-4DB2-BD59-A6C34878D82A}">
                    <a16:rowId xmlns:a16="http://schemas.microsoft.com/office/drawing/2014/main" val="626140117"/>
                  </a:ext>
                </a:extLst>
              </a:tr>
            </a:tbl>
          </a:graphicData>
        </a:graphic>
      </p:graphicFrame>
    </p:spTree>
    <p:extLst>
      <p:ext uri="{BB962C8B-B14F-4D97-AF65-F5344CB8AC3E}">
        <p14:creationId xmlns:p14="http://schemas.microsoft.com/office/powerpoint/2010/main" val="3820984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3" name="Title 1">
            <a:extLst>
              <a:ext uri="{FF2B5EF4-FFF2-40B4-BE49-F238E27FC236}">
                <a16:creationId xmlns:a16="http://schemas.microsoft.com/office/drawing/2014/main" id="{38CDC953-2B84-68FE-7DE5-8D086B35CDF6}"/>
              </a:ext>
            </a:extLst>
          </p:cNvPr>
          <p:cNvSpPr txBox="1">
            <a:spLocks/>
          </p:cNvSpPr>
          <p:nvPr/>
        </p:nvSpPr>
        <p:spPr>
          <a:xfrm>
            <a:off x="446315" y="582388"/>
            <a:ext cx="5660571" cy="461665"/>
          </a:xfrm>
          <a:prstGeom prst="rect">
            <a:avLst/>
          </a:prstGeom>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000" b="1">
                <a:solidFill>
                  <a:srgbClr val="A20000"/>
                </a:solidFill>
                <a:latin typeface="Vodafone Rg" panose="020B0606080202020204" pitchFamily="34" charset="0"/>
              </a:rPr>
              <a:t>Solution Overview</a:t>
            </a:r>
          </a:p>
        </p:txBody>
      </p:sp>
      <p:sp>
        <p:nvSpPr>
          <p:cNvPr id="5" name="Text Placeholder 1">
            <a:extLst>
              <a:ext uri="{FF2B5EF4-FFF2-40B4-BE49-F238E27FC236}">
                <a16:creationId xmlns:a16="http://schemas.microsoft.com/office/drawing/2014/main" id="{9D03AE5F-28F5-4DFB-A3FC-E8D03161FE76}"/>
              </a:ext>
            </a:extLst>
          </p:cNvPr>
          <p:cNvSpPr txBox="1">
            <a:spLocks/>
          </p:cNvSpPr>
          <p:nvPr/>
        </p:nvSpPr>
        <p:spPr>
          <a:xfrm>
            <a:off x="446315" y="1432990"/>
            <a:ext cx="11329126" cy="778365"/>
          </a:xfrm>
          <a:prstGeom prst="rect">
            <a:avLst/>
          </a:prstGeom>
        </p:spPr>
        <p:style>
          <a:lnRef idx="1">
            <a:schemeClr val="accent6"/>
          </a:lnRef>
          <a:fillRef idx="2">
            <a:schemeClr val="accent6"/>
          </a:fillRef>
          <a:effectRef idx="1">
            <a:schemeClr val="accent6"/>
          </a:effectRef>
          <a:fontRef idx="minor">
            <a:schemeClr val="dk1"/>
          </a:fontRef>
        </p:style>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just">
              <a:lnSpc>
                <a:spcPct val="150000"/>
              </a:lnSpc>
              <a:buClrTx/>
              <a:buNone/>
            </a:pPr>
            <a:r>
              <a:rPr lang="en-US" sz="1600" b="1" dirty="0"/>
              <a:t>1. User Application Submission</a:t>
            </a:r>
            <a:r>
              <a:rPr lang="en-US" sz="1600" dirty="0"/>
              <a:t> – Users submit personal details along with Aadhaar and PAN documents through a secure web </a:t>
            </a:r>
            <a:r>
              <a:rPr lang="en-US" sz="1700" dirty="0"/>
              <a:t>portal</a:t>
            </a:r>
            <a:r>
              <a:rPr lang="en-US" sz="1600" dirty="0"/>
              <a:t>.</a:t>
            </a:r>
            <a:endParaRPr lang="en-IN" sz="1600" dirty="0"/>
          </a:p>
        </p:txBody>
      </p:sp>
      <p:sp>
        <p:nvSpPr>
          <p:cNvPr id="6" name="Text Placeholder 1">
            <a:extLst>
              <a:ext uri="{FF2B5EF4-FFF2-40B4-BE49-F238E27FC236}">
                <a16:creationId xmlns:a16="http://schemas.microsoft.com/office/drawing/2014/main" id="{B216D154-7D1C-4E81-B697-042831C8E36F}"/>
              </a:ext>
            </a:extLst>
          </p:cNvPr>
          <p:cNvSpPr txBox="1">
            <a:spLocks/>
          </p:cNvSpPr>
          <p:nvPr/>
        </p:nvSpPr>
        <p:spPr>
          <a:xfrm>
            <a:off x="446315" y="2480730"/>
            <a:ext cx="11329125" cy="778365"/>
          </a:xfrm>
          <a:prstGeom prst="rect">
            <a:avLst/>
          </a:prstGeom>
        </p:spPr>
        <p:style>
          <a:lnRef idx="1">
            <a:schemeClr val="accent6"/>
          </a:lnRef>
          <a:fillRef idx="2">
            <a:schemeClr val="accent6"/>
          </a:fillRef>
          <a:effectRef idx="1">
            <a:schemeClr val="accent6"/>
          </a:effectRef>
          <a:fontRef idx="minor">
            <a:schemeClr val="dk1"/>
          </a:fontRef>
        </p:style>
        <p:txBody>
          <a:bodyPr vert="horz" lIns="91440" tIns="45720" rIns="91440" bIns="45720" rtlCol="0">
            <a:normAutofit fontScale="70000" lnSpcReduction="20000"/>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dk1"/>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dk1"/>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dk1"/>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dk1"/>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dk1"/>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9pPr>
          </a:lstStyle>
          <a:p>
            <a:pPr marL="0" indent="0" algn="just">
              <a:lnSpc>
                <a:spcPct val="150000"/>
              </a:lnSpc>
              <a:buNone/>
            </a:pPr>
            <a:r>
              <a:rPr lang="en-IN" sz="2400" b="1" dirty="0"/>
              <a:t>2</a:t>
            </a:r>
            <a:r>
              <a:rPr lang="en-IN" sz="2400" dirty="0"/>
              <a:t>.</a:t>
            </a:r>
            <a:r>
              <a:rPr lang="en-US" sz="2400" b="1" dirty="0"/>
              <a:t> AI-Based Document Analysis</a:t>
            </a:r>
            <a:r>
              <a:rPr lang="en-US" sz="2400" dirty="0"/>
              <a:t> – System verifies document type, detects tampering, and extracts key information using AI.</a:t>
            </a:r>
            <a:endParaRPr lang="en-IN" sz="2400" b="1" dirty="0"/>
          </a:p>
        </p:txBody>
      </p:sp>
      <p:sp>
        <p:nvSpPr>
          <p:cNvPr id="7" name="Text Placeholder 1">
            <a:extLst>
              <a:ext uri="{FF2B5EF4-FFF2-40B4-BE49-F238E27FC236}">
                <a16:creationId xmlns:a16="http://schemas.microsoft.com/office/drawing/2014/main" id="{8EB94584-A035-43BE-9C30-07C531477B88}"/>
              </a:ext>
            </a:extLst>
          </p:cNvPr>
          <p:cNvSpPr txBox="1">
            <a:spLocks/>
          </p:cNvSpPr>
          <p:nvPr/>
        </p:nvSpPr>
        <p:spPr>
          <a:xfrm>
            <a:off x="446315" y="3575658"/>
            <a:ext cx="11329125" cy="608433"/>
          </a:xfrm>
          <a:prstGeom prst="rect">
            <a:avLst/>
          </a:prstGeom>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dk1"/>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dk1"/>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dk1"/>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dk1"/>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dk1"/>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9pPr>
          </a:lstStyle>
          <a:p>
            <a:pPr marL="0" indent="0" algn="just">
              <a:lnSpc>
                <a:spcPct val="150000"/>
              </a:lnSpc>
              <a:buNone/>
            </a:pPr>
            <a:r>
              <a:rPr lang="en-US" sz="1900" b="1" dirty="0"/>
              <a:t>3</a:t>
            </a:r>
            <a:r>
              <a:rPr lang="en-US" sz="1700" b="1" dirty="0"/>
              <a:t>. Validation &amp; Fraud Checks</a:t>
            </a:r>
            <a:r>
              <a:rPr lang="en-US" sz="1700" dirty="0"/>
              <a:t> – Performs duplicate detection, format validation, and mismatch analysis in real time.</a:t>
            </a:r>
            <a:endParaRPr lang="en-IN" sz="1700" dirty="0"/>
          </a:p>
        </p:txBody>
      </p:sp>
      <p:sp>
        <p:nvSpPr>
          <p:cNvPr id="8" name="Text Placeholder 1">
            <a:extLst>
              <a:ext uri="{FF2B5EF4-FFF2-40B4-BE49-F238E27FC236}">
                <a16:creationId xmlns:a16="http://schemas.microsoft.com/office/drawing/2014/main" id="{BD14AE29-F4CD-4E4C-84E4-B5C9AF2CB12E}"/>
              </a:ext>
            </a:extLst>
          </p:cNvPr>
          <p:cNvSpPr txBox="1">
            <a:spLocks/>
          </p:cNvSpPr>
          <p:nvPr/>
        </p:nvSpPr>
        <p:spPr>
          <a:xfrm>
            <a:off x="446315" y="4500654"/>
            <a:ext cx="11329125" cy="608433"/>
          </a:xfrm>
          <a:prstGeom prst="rect">
            <a:avLst/>
          </a:prstGeom>
        </p:spPr>
        <p:style>
          <a:lnRef idx="1">
            <a:schemeClr val="accent6"/>
          </a:lnRef>
          <a:fillRef idx="2">
            <a:schemeClr val="accent6"/>
          </a:fillRef>
          <a:effectRef idx="1">
            <a:schemeClr val="accent6"/>
          </a:effectRef>
          <a:fontRef idx="minor">
            <a:schemeClr val="dk1"/>
          </a:fontRef>
        </p:style>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dk1"/>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dk1"/>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dk1"/>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dk1"/>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dk1"/>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9pPr>
          </a:lstStyle>
          <a:p>
            <a:pPr marL="0" indent="0" algn="just">
              <a:lnSpc>
                <a:spcPct val="150000"/>
              </a:lnSpc>
              <a:buNone/>
            </a:pPr>
            <a:r>
              <a:rPr lang="en-US" sz="1700" b="1" dirty="0"/>
              <a:t>4. Blockchain Logging</a:t>
            </a:r>
            <a:r>
              <a:rPr lang="en-US" sz="1700" dirty="0"/>
              <a:t> – Stores verification results securely to ensure transparency and tamper-proof records</a:t>
            </a:r>
            <a:r>
              <a:rPr lang="en-US" sz="2400" dirty="0"/>
              <a:t>.</a:t>
            </a:r>
            <a:endParaRPr lang="en-IN" sz="2400" dirty="0"/>
          </a:p>
        </p:txBody>
      </p:sp>
      <p:sp>
        <p:nvSpPr>
          <p:cNvPr id="9" name="Text Placeholder 1">
            <a:extLst>
              <a:ext uri="{FF2B5EF4-FFF2-40B4-BE49-F238E27FC236}">
                <a16:creationId xmlns:a16="http://schemas.microsoft.com/office/drawing/2014/main" id="{60AB95CE-8003-4F9A-B803-D0F4E9E2C480}"/>
              </a:ext>
            </a:extLst>
          </p:cNvPr>
          <p:cNvSpPr txBox="1">
            <a:spLocks/>
          </p:cNvSpPr>
          <p:nvPr/>
        </p:nvSpPr>
        <p:spPr>
          <a:xfrm>
            <a:off x="446315" y="5548395"/>
            <a:ext cx="11329125" cy="608433"/>
          </a:xfrm>
          <a:prstGeom prst="rect">
            <a:avLst/>
          </a:prstGeom>
        </p:spPr>
        <p:style>
          <a:lnRef idx="1">
            <a:schemeClr val="accent6"/>
          </a:lnRef>
          <a:fillRef idx="2">
            <a:schemeClr val="accent6"/>
          </a:fillRef>
          <a:effectRef idx="1">
            <a:schemeClr val="accent6"/>
          </a:effectRef>
          <a:fontRef idx="minor">
            <a:schemeClr val="dk1"/>
          </a:fontRef>
        </p:style>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dk1"/>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dk1"/>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dk1"/>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dk1"/>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dk1"/>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9pPr>
          </a:lstStyle>
          <a:p>
            <a:pPr marL="0" indent="0" algn="just">
              <a:lnSpc>
                <a:spcPct val="150000"/>
              </a:lnSpc>
              <a:buNone/>
            </a:pPr>
            <a:r>
              <a:rPr lang="en-US" sz="1600" b="1" dirty="0"/>
              <a:t>5. </a:t>
            </a:r>
            <a:r>
              <a:rPr lang="en-US" sz="1700" b="1" dirty="0"/>
              <a:t>Dashboard Monitoring</a:t>
            </a:r>
            <a:r>
              <a:rPr lang="en-US" sz="1700" dirty="0"/>
              <a:t> – Provides admin dashboard with fraud alerts, statistics, and application tracking</a:t>
            </a:r>
            <a:r>
              <a:rPr lang="en-US" sz="1600" dirty="0"/>
              <a:t>.</a:t>
            </a:r>
            <a:endParaRPr lang="en-IN"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1000"/>
                                        <p:tgtEl>
                                          <p:spTgt spid="6">
                                            <p:txEl>
                                              <p:pRg st="0" end="0"/>
                                            </p:txEl>
                                          </p:spTgt>
                                        </p:tgtEl>
                                      </p:cBhvr>
                                    </p:animEffect>
                                    <p:anim calcmode="lin" valueType="num">
                                      <p:cBhvr>
                                        <p:cTn id="15"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0" end="0"/>
                                            </p:txEl>
                                          </p:spTgt>
                                        </p:tgtEl>
                                        <p:attrNameLst>
                                          <p:attrName>style.visibility</p:attrName>
                                        </p:attrNameLst>
                                      </p:cBhvr>
                                      <p:to>
                                        <p:strVal val="visible"/>
                                      </p:to>
                                    </p:set>
                                    <p:animEffect transition="in" filter="fade">
                                      <p:cBhvr>
                                        <p:cTn id="21" dur="1000"/>
                                        <p:tgtEl>
                                          <p:spTgt spid="7">
                                            <p:txEl>
                                              <p:pRg st="0" end="0"/>
                                            </p:txEl>
                                          </p:spTgt>
                                        </p:tgtEl>
                                      </p:cBhvr>
                                    </p:animEffect>
                                    <p:anim calcmode="lin" valueType="num">
                                      <p:cBhvr>
                                        <p:cTn id="22"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xEl>
                                              <p:pRg st="0" end="0"/>
                                            </p:txEl>
                                          </p:spTgt>
                                        </p:tgtEl>
                                        <p:attrNameLst>
                                          <p:attrName>style.visibility</p:attrName>
                                        </p:attrNameLst>
                                      </p:cBhvr>
                                      <p:to>
                                        <p:strVal val="visible"/>
                                      </p:to>
                                    </p:set>
                                    <p:animEffect transition="in" filter="fade">
                                      <p:cBhvr>
                                        <p:cTn id="28" dur="1000"/>
                                        <p:tgtEl>
                                          <p:spTgt spid="8">
                                            <p:txEl>
                                              <p:pRg st="0" end="0"/>
                                            </p:txEl>
                                          </p:spTgt>
                                        </p:tgtEl>
                                      </p:cBhvr>
                                    </p:animEffect>
                                    <p:anim calcmode="lin" valueType="num">
                                      <p:cBhvr>
                                        <p:cTn id="29"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9">
                                            <p:txEl>
                                              <p:pRg st="0" end="0"/>
                                            </p:txEl>
                                          </p:spTgt>
                                        </p:tgtEl>
                                        <p:attrNameLst>
                                          <p:attrName>style.visibility</p:attrName>
                                        </p:attrNameLst>
                                      </p:cBhvr>
                                      <p:to>
                                        <p:strVal val="visible"/>
                                      </p:to>
                                    </p:set>
                                    <p:animEffect transition="in" filter="fade">
                                      <p:cBhvr>
                                        <p:cTn id="35" dur="1000"/>
                                        <p:tgtEl>
                                          <p:spTgt spid="9">
                                            <p:txEl>
                                              <p:pRg st="0" end="0"/>
                                            </p:txEl>
                                          </p:spTgt>
                                        </p:tgtEl>
                                      </p:cBhvr>
                                    </p:animEffect>
                                    <p:anim calcmode="lin" valueType="num">
                                      <p:cBhvr>
                                        <p:cTn id="36"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7" grpId="0" build="p"/>
      <p:bldP spid="8" grpId="0" build="p"/>
      <p:bldP spid="9"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47FCB28-836D-8BB8-8DF2-FE477873FAEB}"/>
              </a:ext>
            </a:extLst>
          </p:cNvPr>
          <p:cNvSpPr txBox="1">
            <a:spLocks/>
          </p:cNvSpPr>
          <p:nvPr/>
        </p:nvSpPr>
        <p:spPr>
          <a:xfrm>
            <a:off x="454941" y="531164"/>
            <a:ext cx="8011885" cy="461665"/>
          </a:xfrm>
          <a:prstGeom prst="rect">
            <a:avLst/>
          </a:prstGeom>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000" b="1">
                <a:solidFill>
                  <a:srgbClr val="A20000"/>
                </a:solidFill>
                <a:latin typeface="Vodafone Rg" panose="020B0606080202020204" pitchFamily="34" charset="0"/>
              </a:rPr>
              <a:t>Technology used</a:t>
            </a:r>
          </a:p>
        </p:txBody>
      </p:sp>
      <p:grpSp>
        <p:nvGrpSpPr>
          <p:cNvPr id="25" name="Group 24">
            <a:extLst>
              <a:ext uri="{FF2B5EF4-FFF2-40B4-BE49-F238E27FC236}">
                <a16:creationId xmlns:a16="http://schemas.microsoft.com/office/drawing/2014/main" id="{BFEB5405-9A31-1486-91F5-C7BBEA611907}"/>
              </a:ext>
            </a:extLst>
          </p:cNvPr>
          <p:cNvGrpSpPr/>
          <p:nvPr/>
        </p:nvGrpSpPr>
        <p:grpSpPr>
          <a:xfrm>
            <a:off x="375556" y="1257300"/>
            <a:ext cx="8826317" cy="3918460"/>
            <a:chOff x="734785" y="1349834"/>
            <a:chExt cx="6297385" cy="3918460"/>
          </a:xfrm>
        </p:grpSpPr>
        <p:sp>
          <p:nvSpPr>
            <p:cNvPr id="5" name="TextBox 4">
              <a:extLst>
                <a:ext uri="{FF2B5EF4-FFF2-40B4-BE49-F238E27FC236}">
                  <a16:creationId xmlns:a16="http://schemas.microsoft.com/office/drawing/2014/main" id="{6C84E941-566A-01D9-694F-1E6A94DCBE3A}"/>
                </a:ext>
              </a:extLst>
            </p:cNvPr>
            <p:cNvSpPr txBox="1"/>
            <p:nvPr/>
          </p:nvSpPr>
          <p:spPr>
            <a:xfrm>
              <a:off x="1632855" y="1665517"/>
              <a:ext cx="4452258" cy="353943"/>
            </a:xfrm>
            <a:prstGeom prst="rect">
              <a:avLst/>
            </a:prstGeom>
            <a:noFill/>
          </p:spPr>
          <p:txBody>
            <a:bodyPr wrap="square" rtlCol="0">
              <a:spAutoFit/>
            </a:bodyPr>
            <a:lstStyle/>
            <a:p>
              <a:r>
                <a:rPr lang="en-IN" sz="1700" b="1" dirty="0">
                  <a:latin typeface="+mn-lt"/>
                  <a:ea typeface="Calibri" panose="020F0502020204030204" pitchFamily="34" charset="0"/>
                  <a:cs typeface="Calibri" panose="020F0502020204030204" pitchFamily="34" charset="0"/>
                </a:rPr>
                <a:t>Frontend: </a:t>
              </a:r>
              <a:r>
                <a:rPr lang="en-IN" sz="1700" dirty="0">
                  <a:latin typeface="+mn-lt"/>
                  <a:ea typeface="Calibri" panose="020F0502020204030204" pitchFamily="34" charset="0"/>
                  <a:cs typeface="Calibri" panose="020F0502020204030204" pitchFamily="34" charset="0"/>
                </a:rPr>
                <a:t>HTML, CSS, Bootstrap, EJS</a:t>
              </a:r>
              <a:endParaRPr lang="en-US" sz="1700" dirty="0">
                <a:latin typeface="+mn-lt"/>
                <a:ea typeface="Calibri" panose="020F0502020204030204" pitchFamily="34" charset="0"/>
                <a:cs typeface="Calibri" panose="020F0502020204030204" pitchFamily="34" charset="0"/>
              </a:endParaRPr>
            </a:p>
          </p:txBody>
        </p:sp>
        <p:sp>
          <p:nvSpPr>
            <p:cNvPr id="7" name="Freeform 6">
              <a:extLst>
                <a:ext uri="{FF2B5EF4-FFF2-40B4-BE49-F238E27FC236}">
                  <a16:creationId xmlns:a16="http://schemas.microsoft.com/office/drawing/2014/main" id="{7BED06D0-D576-04D7-8A6A-59FFC1A77774}"/>
                </a:ext>
              </a:extLst>
            </p:cNvPr>
            <p:cNvSpPr/>
            <p:nvPr/>
          </p:nvSpPr>
          <p:spPr>
            <a:xfrm rot="5400000">
              <a:off x="688294" y="1396325"/>
              <a:ext cx="936171" cy="843190"/>
            </a:xfrm>
            <a:custGeom>
              <a:avLst/>
              <a:gdLst/>
              <a:ahLst/>
              <a:cxnLst/>
              <a:rect l="l" t="t" r="r" b="b"/>
              <a:pathLst>
                <a:path w="1527620" h="4114800">
                  <a:moveTo>
                    <a:pt x="0" y="0"/>
                  </a:moveTo>
                  <a:lnTo>
                    <a:pt x="1527619" y="0"/>
                  </a:lnTo>
                  <a:lnTo>
                    <a:pt x="1527619"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12328" r="-128568" b="-546691"/>
              </a:stretch>
            </a:blipFill>
          </p:spPr>
          <p:txBody>
            <a:bodyPr/>
            <a:lstStyle/>
            <a:p>
              <a:endParaRPr lang="en-US"/>
            </a:p>
          </p:txBody>
        </p:sp>
        <p:sp>
          <p:nvSpPr>
            <p:cNvPr id="12" name="TextBox 11">
              <a:extLst>
                <a:ext uri="{FF2B5EF4-FFF2-40B4-BE49-F238E27FC236}">
                  <a16:creationId xmlns:a16="http://schemas.microsoft.com/office/drawing/2014/main" id="{48306874-9D27-72C4-3E5C-C89E3D830C42}"/>
                </a:ext>
              </a:extLst>
            </p:cNvPr>
            <p:cNvSpPr txBox="1"/>
            <p:nvPr/>
          </p:nvSpPr>
          <p:spPr>
            <a:xfrm>
              <a:off x="1632855" y="2471060"/>
              <a:ext cx="5399315" cy="353943"/>
            </a:xfrm>
            <a:prstGeom prst="rect">
              <a:avLst/>
            </a:prstGeom>
            <a:noFill/>
          </p:spPr>
          <p:txBody>
            <a:bodyPr wrap="square" rtlCol="0">
              <a:spAutoFit/>
            </a:bodyPr>
            <a:lstStyle/>
            <a:p>
              <a:r>
                <a:rPr lang="en-IN" sz="1700" b="1" dirty="0">
                  <a:latin typeface="+mn-lt"/>
                  <a:ea typeface="Calibri" panose="020F0502020204030204" pitchFamily="34" charset="0"/>
                  <a:cs typeface="Calibri" panose="020F0502020204030204" pitchFamily="34" charset="0"/>
                </a:rPr>
                <a:t>Backend: </a:t>
              </a:r>
              <a:r>
                <a:rPr lang="en-IN" sz="1700" dirty="0">
                  <a:latin typeface="+mn-lt"/>
                  <a:ea typeface="Calibri" panose="020F0502020204030204" pitchFamily="34" charset="0"/>
                  <a:cs typeface="Calibri" panose="020F0502020204030204" pitchFamily="34" charset="0"/>
                </a:rPr>
                <a:t>Node.js, Express.js</a:t>
              </a:r>
              <a:endParaRPr lang="en-US" sz="1700" dirty="0" err="1">
                <a:latin typeface="+mn-lt"/>
                <a:ea typeface="Calibri" panose="020F0502020204030204" pitchFamily="34" charset="0"/>
                <a:cs typeface="Calibri" panose="020F0502020204030204" pitchFamily="34" charset="0"/>
              </a:endParaRPr>
            </a:p>
          </p:txBody>
        </p:sp>
        <p:sp>
          <p:nvSpPr>
            <p:cNvPr id="13" name="Freeform 6">
              <a:extLst>
                <a:ext uri="{FF2B5EF4-FFF2-40B4-BE49-F238E27FC236}">
                  <a16:creationId xmlns:a16="http://schemas.microsoft.com/office/drawing/2014/main" id="{C2FE0FB3-8D2C-2324-E161-4A103A0228AE}"/>
                </a:ext>
              </a:extLst>
            </p:cNvPr>
            <p:cNvSpPr/>
            <p:nvPr/>
          </p:nvSpPr>
          <p:spPr>
            <a:xfrm rot="5400000">
              <a:off x="688294" y="2207311"/>
              <a:ext cx="936171" cy="843190"/>
            </a:xfrm>
            <a:custGeom>
              <a:avLst/>
              <a:gdLst/>
              <a:ahLst/>
              <a:cxnLst/>
              <a:rect l="l" t="t" r="r" b="b"/>
              <a:pathLst>
                <a:path w="1527620" h="4114800">
                  <a:moveTo>
                    <a:pt x="0" y="0"/>
                  </a:moveTo>
                  <a:lnTo>
                    <a:pt x="1527619" y="0"/>
                  </a:lnTo>
                  <a:lnTo>
                    <a:pt x="1527619"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12328" r="-128568" b="-546691"/>
              </a:stretch>
            </a:blipFill>
          </p:spPr>
          <p:txBody>
            <a:bodyPr/>
            <a:lstStyle/>
            <a:p>
              <a:endParaRPr lang="en-US" sz="1600"/>
            </a:p>
          </p:txBody>
        </p:sp>
        <p:sp>
          <p:nvSpPr>
            <p:cNvPr id="14" name="Freeform 6">
              <a:extLst>
                <a:ext uri="{FF2B5EF4-FFF2-40B4-BE49-F238E27FC236}">
                  <a16:creationId xmlns:a16="http://schemas.microsoft.com/office/drawing/2014/main" id="{B024B58D-1C2C-B49A-D9A6-5DE565BCFE94}"/>
                </a:ext>
              </a:extLst>
            </p:cNvPr>
            <p:cNvSpPr/>
            <p:nvPr/>
          </p:nvSpPr>
          <p:spPr>
            <a:xfrm rot="5400000">
              <a:off x="688294" y="3018297"/>
              <a:ext cx="936171" cy="843190"/>
            </a:xfrm>
            <a:custGeom>
              <a:avLst/>
              <a:gdLst/>
              <a:ahLst/>
              <a:cxnLst/>
              <a:rect l="l" t="t" r="r" b="b"/>
              <a:pathLst>
                <a:path w="1527620" h="4114800">
                  <a:moveTo>
                    <a:pt x="0" y="0"/>
                  </a:moveTo>
                  <a:lnTo>
                    <a:pt x="1527619" y="0"/>
                  </a:lnTo>
                  <a:lnTo>
                    <a:pt x="1527619"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12328" r="-128568" b="-546691"/>
              </a:stretch>
            </a:blipFill>
          </p:spPr>
          <p:txBody>
            <a:bodyPr/>
            <a:lstStyle/>
            <a:p>
              <a:endParaRPr lang="en-US" sz="1600"/>
            </a:p>
          </p:txBody>
        </p:sp>
        <p:sp>
          <p:nvSpPr>
            <p:cNvPr id="15" name="Freeform 6">
              <a:extLst>
                <a:ext uri="{FF2B5EF4-FFF2-40B4-BE49-F238E27FC236}">
                  <a16:creationId xmlns:a16="http://schemas.microsoft.com/office/drawing/2014/main" id="{6B75F5EC-8B32-E4EC-478E-DB3BC6715FF7}"/>
                </a:ext>
              </a:extLst>
            </p:cNvPr>
            <p:cNvSpPr/>
            <p:nvPr/>
          </p:nvSpPr>
          <p:spPr>
            <a:xfrm rot="5400000">
              <a:off x="688294" y="3829283"/>
              <a:ext cx="936171" cy="843190"/>
            </a:xfrm>
            <a:custGeom>
              <a:avLst/>
              <a:gdLst/>
              <a:ahLst/>
              <a:cxnLst/>
              <a:rect l="l" t="t" r="r" b="b"/>
              <a:pathLst>
                <a:path w="1527620" h="4114800">
                  <a:moveTo>
                    <a:pt x="0" y="0"/>
                  </a:moveTo>
                  <a:lnTo>
                    <a:pt x="1527619" y="0"/>
                  </a:lnTo>
                  <a:lnTo>
                    <a:pt x="1527619"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12328" r="-128568" b="-546691"/>
              </a:stretch>
            </a:blipFill>
          </p:spPr>
          <p:txBody>
            <a:bodyPr/>
            <a:lstStyle/>
            <a:p>
              <a:endParaRPr lang="en-US" sz="1600"/>
            </a:p>
          </p:txBody>
        </p:sp>
        <p:sp>
          <p:nvSpPr>
            <p:cNvPr id="17" name="TextBox 16">
              <a:extLst>
                <a:ext uri="{FF2B5EF4-FFF2-40B4-BE49-F238E27FC236}">
                  <a16:creationId xmlns:a16="http://schemas.microsoft.com/office/drawing/2014/main" id="{39106472-6F65-BD28-0CFC-F4EAB059773A}"/>
                </a:ext>
              </a:extLst>
            </p:cNvPr>
            <p:cNvSpPr txBox="1"/>
            <p:nvPr/>
          </p:nvSpPr>
          <p:spPr>
            <a:xfrm>
              <a:off x="1632855" y="3259723"/>
              <a:ext cx="4463145" cy="353943"/>
            </a:xfrm>
            <a:prstGeom prst="rect">
              <a:avLst/>
            </a:prstGeom>
            <a:noFill/>
          </p:spPr>
          <p:txBody>
            <a:bodyPr wrap="square" lIns="91440" tIns="45720" rIns="91440" bIns="45720" rtlCol="0" anchor="t">
              <a:spAutoFit/>
            </a:bodyPr>
            <a:lstStyle/>
            <a:p>
              <a:r>
                <a:rPr lang="en-IN" sz="1700" b="1" dirty="0">
                  <a:latin typeface="+mn-lt"/>
                  <a:ea typeface="Calibri" panose="020F0502020204030204" pitchFamily="34" charset="0"/>
                  <a:cs typeface="Calibri" panose="020F0502020204030204" pitchFamily="34" charset="0"/>
                </a:rPr>
                <a:t>Database:</a:t>
              </a:r>
              <a:r>
                <a:rPr lang="en-IN" sz="1700" dirty="0">
                  <a:latin typeface="+mn-lt"/>
                  <a:ea typeface="Calibri" panose="020F0502020204030204" pitchFamily="34" charset="0"/>
                  <a:cs typeface="Calibri" panose="020F0502020204030204" pitchFamily="34" charset="0"/>
                </a:rPr>
                <a:t> MongoDB</a:t>
              </a:r>
              <a:endParaRPr lang="en-US" sz="1700" dirty="0">
                <a:latin typeface="+mn-lt"/>
                <a:ea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5FB5334A-E333-7099-4930-287CC31F8DC3}"/>
                </a:ext>
              </a:extLst>
            </p:cNvPr>
            <p:cNvSpPr txBox="1"/>
            <p:nvPr/>
          </p:nvSpPr>
          <p:spPr>
            <a:xfrm>
              <a:off x="1632855" y="4078219"/>
              <a:ext cx="5151567" cy="353943"/>
            </a:xfrm>
            <a:prstGeom prst="rect">
              <a:avLst/>
            </a:prstGeom>
            <a:noFill/>
          </p:spPr>
          <p:txBody>
            <a:bodyPr wrap="square" rtlCol="0">
              <a:spAutoFit/>
            </a:bodyPr>
            <a:lstStyle/>
            <a:p>
              <a:r>
                <a:rPr lang="en-IN" sz="1700" b="1" dirty="0">
                  <a:latin typeface="+mn-lt"/>
                  <a:ea typeface="Calibri" panose="020F0502020204030204" pitchFamily="34" charset="0"/>
                  <a:cs typeface="Calibri" panose="020F0502020204030204" pitchFamily="34" charset="0"/>
                </a:rPr>
                <a:t>Authentication and Security:</a:t>
              </a:r>
              <a:r>
                <a:rPr lang="en-IN" sz="1700" dirty="0">
                  <a:latin typeface="+mn-lt"/>
                  <a:ea typeface="Calibri" panose="020F0502020204030204" pitchFamily="34" charset="0"/>
                  <a:cs typeface="Calibri" panose="020F0502020204030204" pitchFamily="34" charset="0"/>
                </a:rPr>
                <a:t> Passport.js, Express-session, Flash messages </a:t>
              </a:r>
              <a:r>
                <a:rPr lang="en-US" sz="1600" dirty="0">
                  <a:latin typeface="+mn-lt"/>
                  <a:cs typeface="Calibri" panose="020F0502020204030204" pitchFamily="34" charset="0"/>
                </a:rPr>
                <a:t> </a:t>
              </a:r>
            </a:p>
          </p:txBody>
        </p:sp>
        <p:sp>
          <p:nvSpPr>
            <p:cNvPr id="20" name="TextBox 19">
              <a:extLst>
                <a:ext uri="{FF2B5EF4-FFF2-40B4-BE49-F238E27FC236}">
                  <a16:creationId xmlns:a16="http://schemas.microsoft.com/office/drawing/2014/main" id="{B9B3262A-EBC7-70F4-E80B-7105E0186D12}"/>
                </a:ext>
              </a:extLst>
            </p:cNvPr>
            <p:cNvSpPr txBox="1"/>
            <p:nvPr/>
          </p:nvSpPr>
          <p:spPr>
            <a:xfrm>
              <a:off x="1077686" y="1687286"/>
              <a:ext cx="250371" cy="338554"/>
            </a:xfrm>
            <a:prstGeom prst="rect">
              <a:avLst/>
            </a:prstGeom>
            <a:noFill/>
          </p:spPr>
          <p:txBody>
            <a:bodyPr wrap="square" rtlCol="0">
              <a:spAutoFit/>
            </a:bodyPr>
            <a:lstStyle/>
            <a:p>
              <a:pPr algn="ctr"/>
              <a:r>
                <a:rPr lang="en-US" sz="1600" b="1">
                  <a:solidFill>
                    <a:schemeClr val="bg1"/>
                  </a:solidFill>
                </a:rPr>
                <a:t>1</a:t>
              </a:r>
            </a:p>
          </p:txBody>
        </p:sp>
        <p:sp>
          <p:nvSpPr>
            <p:cNvPr id="21" name="TextBox 20">
              <a:extLst>
                <a:ext uri="{FF2B5EF4-FFF2-40B4-BE49-F238E27FC236}">
                  <a16:creationId xmlns:a16="http://schemas.microsoft.com/office/drawing/2014/main" id="{4B228E7F-45DD-6A92-9B7A-93012225AB45}"/>
                </a:ext>
              </a:extLst>
            </p:cNvPr>
            <p:cNvSpPr txBox="1"/>
            <p:nvPr/>
          </p:nvSpPr>
          <p:spPr>
            <a:xfrm>
              <a:off x="1077686" y="2492829"/>
              <a:ext cx="250371" cy="338554"/>
            </a:xfrm>
            <a:prstGeom prst="rect">
              <a:avLst/>
            </a:prstGeom>
            <a:noFill/>
          </p:spPr>
          <p:txBody>
            <a:bodyPr wrap="square" rtlCol="0">
              <a:spAutoFit/>
            </a:bodyPr>
            <a:lstStyle/>
            <a:p>
              <a:pPr algn="ctr"/>
              <a:r>
                <a:rPr lang="en-US" sz="1600" b="1">
                  <a:solidFill>
                    <a:schemeClr val="bg1"/>
                  </a:solidFill>
                </a:rPr>
                <a:t>2</a:t>
              </a:r>
            </a:p>
          </p:txBody>
        </p:sp>
        <p:sp>
          <p:nvSpPr>
            <p:cNvPr id="22" name="TextBox 21">
              <a:extLst>
                <a:ext uri="{FF2B5EF4-FFF2-40B4-BE49-F238E27FC236}">
                  <a16:creationId xmlns:a16="http://schemas.microsoft.com/office/drawing/2014/main" id="{76751CB5-990A-59AE-4BA7-0EAD540C8819}"/>
                </a:ext>
              </a:extLst>
            </p:cNvPr>
            <p:cNvSpPr txBox="1"/>
            <p:nvPr/>
          </p:nvSpPr>
          <p:spPr>
            <a:xfrm>
              <a:off x="1110343" y="3275111"/>
              <a:ext cx="250371" cy="338554"/>
            </a:xfrm>
            <a:prstGeom prst="rect">
              <a:avLst/>
            </a:prstGeom>
            <a:noFill/>
          </p:spPr>
          <p:txBody>
            <a:bodyPr wrap="square" rtlCol="0">
              <a:spAutoFit/>
            </a:bodyPr>
            <a:lstStyle/>
            <a:p>
              <a:pPr algn="ctr"/>
              <a:r>
                <a:rPr lang="en-US" sz="1600" b="1">
                  <a:solidFill>
                    <a:schemeClr val="bg1"/>
                  </a:solidFill>
                </a:rPr>
                <a:t>3</a:t>
              </a:r>
            </a:p>
          </p:txBody>
        </p:sp>
        <p:sp>
          <p:nvSpPr>
            <p:cNvPr id="23" name="TextBox 22">
              <a:extLst>
                <a:ext uri="{FF2B5EF4-FFF2-40B4-BE49-F238E27FC236}">
                  <a16:creationId xmlns:a16="http://schemas.microsoft.com/office/drawing/2014/main" id="{9930CF7E-892C-CA55-823A-B74F5B45E524}"/>
                </a:ext>
              </a:extLst>
            </p:cNvPr>
            <p:cNvSpPr txBox="1"/>
            <p:nvPr/>
          </p:nvSpPr>
          <p:spPr>
            <a:xfrm>
              <a:off x="1088572" y="4124197"/>
              <a:ext cx="250371" cy="338554"/>
            </a:xfrm>
            <a:prstGeom prst="rect">
              <a:avLst/>
            </a:prstGeom>
            <a:noFill/>
          </p:spPr>
          <p:txBody>
            <a:bodyPr wrap="square" rtlCol="0">
              <a:spAutoFit/>
            </a:bodyPr>
            <a:lstStyle/>
            <a:p>
              <a:pPr algn="ctr"/>
              <a:r>
                <a:rPr lang="en-US" sz="1600" b="1" dirty="0">
                  <a:solidFill>
                    <a:schemeClr val="bg1"/>
                  </a:solidFill>
                </a:rPr>
                <a:t>4</a:t>
              </a:r>
            </a:p>
          </p:txBody>
        </p:sp>
        <p:sp>
          <p:nvSpPr>
            <p:cNvPr id="24" name="TextBox 23">
              <a:extLst>
                <a:ext uri="{FF2B5EF4-FFF2-40B4-BE49-F238E27FC236}">
                  <a16:creationId xmlns:a16="http://schemas.microsoft.com/office/drawing/2014/main" id="{7E56E4BE-594A-6803-2C46-5A2012300497}"/>
                </a:ext>
              </a:extLst>
            </p:cNvPr>
            <p:cNvSpPr txBox="1"/>
            <p:nvPr/>
          </p:nvSpPr>
          <p:spPr>
            <a:xfrm>
              <a:off x="1099458" y="4929740"/>
              <a:ext cx="250371" cy="338554"/>
            </a:xfrm>
            <a:prstGeom prst="rect">
              <a:avLst/>
            </a:prstGeom>
            <a:noFill/>
          </p:spPr>
          <p:txBody>
            <a:bodyPr wrap="square" rtlCol="0">
              <a:spAutoFit/>
            </a:bodyPr>
            <a:lstStyle/>
            <a:p>
              <a:pPr algn="ctr"/>
              <a:r>
                <a:rPr lang="en-US" sz="1600" b="1">
                  <a:solidFill>
                    <a:schemeClr val="bg1"/>
                  </a:solidFill>
                </a:rPr>
                <a:t>5</a:t>
              </a:r>
            </a:p>
          </p:txBody>
        </p:sp>
      </p:grpSp>
      <p:sp>
        <p:nvSpPr>
          <p:cNvPr id="2" name="Freeform 6">
            <a:extLst>
              <a:ext uri="{FF2B5EF4-FFF2-40B4-BE49-F238E27FC236}">
                <a16:creationId xmlns:a16="http://schemas.microsoft.com/office/drawing/2014/main" id="{6977D3AE-144A-CB90-F8C9-25A83A042D59}"/>
              </a:ext>
            </a:extLst>
          </p:cNvPr>
          <p:cNvSpPr/>
          <p:nvPr/>
        </p:nvSpPr>
        <p:spPr>
          <a:xfrm rot="5400000">
            <a:off x="498371" y="4463621"/>
            <a:ext cx="936171" cy="1181802"/>
          </a:xfrm>
          <a:custGeom>
            <a:avLst/>
            <a:gdLst/>
            <a:ahLst/>
            <a:cxnLst/>
            <a:rect l="l" t="t" r="r" b="b"/>
            <a:pathLst>
              <a:path w="1527620" h="4114800">
                <a:moveTo>
                  <a:pt x="0" y="0"/>
                </a:moveTo>
                <a:lnTo>
                  <a:pt x="1527619" y="0"/>
                </a:lnTo>
                <a:lnTo>
                  <a:pt x="1527619"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12328" r="-128568" b="-546691"/>
            </a:stretch>
          </a:blipFill>
        </p:spPr>
        <p:txBody>
          <a:bodyPr/>
          <a:lstStyle/>
          <a:p>
            <a:endParaRPr lang="en-US" sz="1600"/>
          </a:p>
        </p:txBody>
      </p:sp>
      <p:sp>
        <p:nvSpPr>
          <p:cNvPr id="3" name="TextBox 2">
            <a:extLst>
              <a:ext uri="{FF2B5EF4-FFF2-40B4-BE49-F238E27FC236}">
                <a16:creationId xmlns:a16="http://schemas.microsoft.com/office/drawing/2014/main" id="{48F1FC8C-1D26-915A-BF66-320AE4623DF4}"/>
              </a:ext>
            </a:extLst>
          </p:cNvPr>
          <p:cNvSpPr txBox="1"/>
          <p:nvPr/>
        </p:nvSpPr>
        <p:spPr>
          <a:xfrm>
            <a:off x="858415" y="4905242"/>
            <a:ext cx="350916" cy="584775"/>
          </a:xfrm>
          <a:prstGeom prst="rect">
            <a:avLst/>
          </a:prstGeom>
          <a:noFill/>
        </p:spPr>
        <p:txBody>
          <a:bodyPr wrap="square" rtlCol="0">
            <a:spAutoFit/>
          </a:bodyPr>
          <a:lstStyle/>
          <a:p>
            <a:pPr algn="ctr"/>
            <a:r>
              <a:rPr lang="en-US" sz="1600" b="1" dirty="0">
                <a:solidFill>
                  <a:schemeClr val="bg1"/>
                </a:solidFill>
              </a:rPr>
              <a:t>5</a:t>
            </a:r>
          </a:p>
          <a:p>
            <a:pPr algn="ctr"/>
            <a:endParaRPr lang="en-US" sz="1600" b="1" dirty="0">
              <a:solidFill>
                <a:schemeClr val="bg1"/>
              </a:solidFill>
            </a:endParaRPr>
          </a:p>
        </p:txBody>
      </p:sp>
      <p:sp>
        <p:nvSpPr>
          <p:cNvPr id="6" name="TextBox 5">
            <a:extLst>
              <a:ext uri="{FF2B5EF4-FFF2-40B4-BE49-F238E27FC236}">
                <a16:creationId xmlns:a16="http://schemas.microsoft.com/office/drawing/2014/main" id="{B2301715-62B5-A61C-3639-CB4A36C66FE2}"/>
              </a:ext>
            </a:extLst>
          </p:cNvPr>
          <p:cNvSpPr txBox="1"/>
          <p:nvPr/>
        </p:nvSpPr>
        <p:spPr>
          <a:xfrm>
            <a:off x="1634277" y="4877550"/>
            <a:ext cx="7220356" cy="353943"/>
          </a:xfrm>
          <a:prstGeom prst="rect">
            <a:avLst/>
          </a:prstGeom>
          <a:noFill/>
        </p:spPr>
        <p:txBody>
          <a:bodyPr wrap="square" rtlCol="0">
            <a:spAutoFit/>
          </a:bodyPr>
          <a:lstStyle/>
          <a:p>
            <a:r>
              <a:rPr lang="en-IN" sz="1700" b="1" dirty="0">
                <a:latin typeface="+mn-lt"/>
                <a:ea typeface="Calibri" panose="020F0502020204030204" pitchFamily="34" charset="0"/>
                <a:cs typeface="Calibri" panose="020F0502020204030204" pitchFamily="34" charset="0"/>
              </a:rPr>
              <a:t>File Handling:</a:t>
            </a:r>
            <a:r>
              <a:rPr lang="en-IN" sz="1700" dirty="0">
                <a:latin typeface="+mn-lt"/>
                <a:ea typeface="Calibri" panose="020F0502020204030204" pitchFamily="34" charset="0"/>
                <a:cs typeface="Calibri" panose="020F0502020204030204" pitchFamily="34" charset="0"/>
              </a:rPr>
              <a:t> </a:t>
            </a:r>
            <a:r>
              <a:rPr lang="en-IN" sz="1700" dirty="0" err="1">
                <a:latin typeface="+mn-lt"/>
                <a:ea typeface="Calibri" panose="020F0502020204030204" pitchFamily="34" charset="0"/>
                <a:cs typeface="Calibri" panose="020F0502020204030204" pitchFamily="34" charset="0"/>
              </a:rPr>
              <a:t>multer</a:t>
            </a:r>
            <a:r>
              <a:rPr lang="en-IN" sz="1700" dirty="0">
                <a:latin typeface="+mn-lt"/>
                <a:ea typeface="Calibri" panose="020F0502020204030204" pitchFamily="34" charset="0"/>
                <a:cs typeface="Calibri" panose="020F0502020204030204" pitchFamily="34" charset="0"/>
              </a:rPr>
              <a:t> (for document uploads)</a:t>
            </a:r>
            <a:endParaRPr lang="en-US" sz="1700" dirty="0">
              <a:latin typeface="+mn-lt"/>
              <a:cs typeface="Calibri" panose="020F0502020204030204" pitchFamily="34" charset="0"/>
            </a:endParaRPr>
          </a:p>
        </p:txBody>
      </p:sp>
      <p:sp>
        <p:nvSpPr>
          <p:cNvPr id="26" name="Freeform 6">
            <a:extLst>
              <a:ext uri="{FF2B5EF4-FFF2-40B4-BE49-F238E27FC236}">
                <a16:creationId xmlns:a16="http://schemas.microsoft.com/office/drawing/2014/main" id="{408B7B36-6789-4DB1-A5B4-18F5BA700430}"/>
              </a:ext>
            </a:extLst>
          </p:cNvPr>
          <p:cNvSpPr/>
          <p:nvPr/>
        </p:nvSpPr>
        <p:spPr>
          <a:xfrm rot="5400000">
            <a:off x="498370" y="5288189"/>
            <a:ext cx="936171" cy="1181802"/>
          </a:xfrm>
          <a:custGeom>
            <a:avLst/>
            <a:gdLst/>
            <a:ahLst/>
            <a:cxnLst/>
            <a:rect l="l" t="t" r="r" b="b"/>
            <a:pathLst>
              <a:path w="1527620" h="4114800">
                <a:moveTo>
                  <a:pt x="0" y="0"/>
                </a:moveTo>
                <a:lnTo>
                  <a:pt x="1527619" y="0"/>
                </a:lnTo>
                <a:lnTo>
                  <a:pt x="1527619"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12328" r="-128568" b="-546691"/>
            </a:stretch>
          </a:blipFill>
        </p:spPr>
        <p:txBody>
          <a:bodyPr/>
          <a:lstStyle/>
          <a:p>
            <a:endParaRPr lang="en-US" sz="1600"/>
          </a:p>
        </p:txBody>
      </p:sp>
      <p:sp>
        <p:nvSpPr>
          <p:cNvPr id="8" name="TextBox 7">
            <a:extLst>
              <a:ext uri="{FF2B5EF4-FFF2-40B4-BE49-F238E27FC236}">
                <a16:creationId xmlns:a16="http://schemas.microsoft.com/office/drawing/2014/main" id="{B7C6DD10-C9EE-4463-9831-6F334EF6A0E2}"/>
              </a:ext>
            </a:extLst>
          </p:cNvPr>
          <p:cNvSpPr txBox="1"/>
          <p:nvPr/>
        </p:nvSpPr>
        <p:spPr>
          <a:xfrm>
            <a:off x="888862" y="5713963"/>
            <a:ext cx="446394" cy="553998"/>
          </a:xfrm>
          <a:prstGeom prst="rect">
            <a:avLst/>
          </a:prstGeom>
          <a:noFill/>
        </p:spPr>
        <p:txBody>
          <a:bodyPr wrap="square" rtlCol="0">
            <a:spAutoFit/>
          </a:bodyPr>
          <a:lstStyle/>
          <a:p>
            <a:r>
              <a:rPr lang="en-US" sz="1600" b="1" dirty="0">
                <a:solidFill>
                  <a:schemeClr val="bg1"/>
                </a:solidFill>
              </a:rPr>
              <a:t>6</a:t>
            </a:r>
          </a:p>
          <a:p>
            <a:endParaRPr lang="en-IN" b="1" dirty="0">
              <a:solidFill>
                <a:schemeClr val="bg1">
                  <a:lumMod val="95000"/>
                </a:schemeClr>
              </a:solidFill>
            </a:endParaRPr>
          </a:p>
        </p:txBody>
      </p:sp>
      <p:sp>
        <p:nvSpPr>
          <p:cNvPr id="28" name="TextBox 27">
            <a:extLst>
              <a:ext uri="{FF2B5EF4-FFF2-40B4-BE49-F238E27FC236}">
                <a16:creationId xmlns:a16="http://schemas.microsoft.com/office/drawing/2014/main" id="{82D501EE-4670-4094-9273-756138321F21}"/>
              </a:ext>
            </a:extLst>
          </p:cNvPr>
          <p:cNvSpPr txBox="1"/>
          <p:nvPr/>
        </p:nvSpPr>
        <p:spPr>
          <a:xfrm>
            <a:off x="1557356" y="5713963"/>
            <a:ext cx="8527937" cy="353943"/>
          </a:xfrm>
          <a:prstGeom prst="rect">
            <a:avLst/>
          </a:prstGeom>
          <a:noFill/>
        </p:spPr>
        <p:txBody>
          <a:bodyPr wrap="square">
            <a:spAutoFit/>
          </a:bodyPr>
          <a:lstStyle/>
          <a:p>
            <a:r>
              <a:rPr lang="en-IN" sz="1700" b="1" dirty="0">
                <a:latin typeface="+mn-lt"/>
              </a:rPr>
              <a:t>AI (API)</a:t>
            </a:r>
            <a:r>
              <a:rPr lang="en-IN" sz="1700" dirty="0">
                <a:latin typeface="+mn-lt"/>
              </a:rPr>
              <a:t> – Performs document analysis, tampering detection, and data extraction</a:t>
            </a:r>
          </a:p>
        </p:txBody>
      </p:sp>
    </p:spTree>
    <p:extLst>
      <p:ext uri="{BB962C8B-B14F-4D97-AF65-F5344CB8AC3E}">
        <p14:creationId xmlns:p14="http://schemas.microsoft.com/office/powerpoint/2010/main" val="3764405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3" name="Title 1">
            <a:extLst>
              <a:ext uri="{FF2B5EF4-FFF2-40B4-BE49-F238E27FC236}">
                <a16:creationId xmlns:a16="http://schemas.microsoft.com/office/drawing/2014/main" id="{3FD1BDE3-7D7C-42E9-F4EA-59D39CB39F60}"/>
              </a:ext>
            </a:extLst>
          </p:cNvPr>
          <p:cNvSpPr txBox="1">
            <a:spLocks/>
          </p:cNvSpPr>
          <p:nvPr/>
        </p:nvSpPr>
        <p:spPr>
          <a:xfrm>
            <a:off x="446315" y="582388"/>
            <a:ext cx="8119383" cy="461665"/>
          </a:xfrm>
          <a:prstGeom prst="rect">
            <a:avLst/>
          </a:prstGeom>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000" b="1">
                <a:solidFill>
                  <a:srgbClr val="A20000"/>
                </a:solidFill>
                <a:latin typeface="Vodafone Rg" panose="020B0606080202020204" pitchFamily="34" charset="0"/>
              </a:rPr>
              <a:t>Technical flow diagram -</a:t>
            </a:r>
          </a:p>
        </p:txBody>
      </p:sp>
      <p:pic>
        <p:nvPicPr>
          <p:cNvPr id="6" name="Picture 5">
            <a:extLst>
              <a:ext uri="{FF2B5EF4-FFF2-40B4-BE49-F238E27FC236}">
                <a16:creationId xmlns:a16="http://schemas.microsoft.com/office/drawing/2014/main" id="{2BC94EEC-5F38-4E91-9296-35F641FA5F26}"/>
              </a:ext>
            </a:extLst>
          </p:cNvPr>
          <p:cNvPicPr>
            <a:picLocks noChangeAspect="1"/>
          </p:cNvPicPr>
          <p:nvPr/>
        </p:nvPicPr>
        <p:blipFill>
          <a:blip r:embed="rId3"/>
          <a:stretch>
            <a:fillRect/>
          </a:stretch>
        </p:blipFill>
        <p:spPr>
          <a:xfrm>
            <a:off x="975360" y="1145653"/>
            <a:ext cx="10241280" cy="5383054"/>
          </a:xfrm>
          <a:prstGeom prst="rect">
            <a:avLst/>
          </a:prstGeom>
          <a:ln>
            <a:solidFill>
              <a:srgbClr val="A20000"/>
            </a:solidFill>
          </a:ln>
        </p:spPr>
      </p:pic>
    </p:spTree>
    <p:extLst>
      <p:ext uri="{BB962C8B-B14F-4D97-AF65-F5344CB8AC3E}">
        <p14:creationId xmlns:p14="http://schemas.microsoft.com/office/powerpoint/2010/main" val="3285263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Title 1">
            <a:extLst>
              <a:ext uri="{FF2B5EF4-FFF2-40B4-BE49-F238E27FC236}">
                <a16:creationId xmlns:a16="http://schemas.microsoft.com/office/drawing/2014/main" id="{7032A749-AB4F-0DC9-D988-50B0D748214A}"/>
              </a:ext>
            </a:extLst>
          </p:cNvPr>
          <p:cNvSpPr txBox="1">
            <a:spLocks/>
          </p:cNvSpPr>
          <p:nvPr/>
        </p:nvSpPr>
        <p:spPr>
          <a:xfrm>
            <a:off x="446315" y="582388"/>
            <a:ext cx="5660571" cy="461665"/>
          </a:xfrm>
          <a:prstGeom prst="rect">
            <a:avLst/>
          </a:prstGeom>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000" b="1" dirty="0">
                <a:solidFill>
                  <a:srgbClr val="A20000"/>
                </a:solidFill>
                <a:latin typeface="Vodafone Rg" panose="020B0606080202020204" pitchFamily="34" charset="0"/>
              </a:rPr>
              <a:t>Architecture Blueprint</a:t>
            </a:r>
          </a:p>
        </p:txBody>
      </p:sp>
      <p:sp>
        <p:nvSpPr>
          <p:cNvPr id="3" name="Rectangle 2">
            <a:extLst>
              <a:ext uri="{FF2B5EF4-FFF2-40B4-BE49-F238E27FC236}">
                <a16:creationId xmlns:a16="http://schemas.microsoft.com/office/drawing/2014/main" id="{E887056B-3504-E1FD-3FD7-BB87AF928A74}"/>
              </a:ext>
            </a:extLst>
          </p:cNvPr>
          <p:cNvSpPr/>
          <p:nvPr/>
        </p:nvSpPr>
        <p:spPr>
          <a:xfrm>
            <a:off x="8090704" y="1817225"/>
            <a:ext cx="76392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a:ln w="22225">
                <a:solidFill>
                  <a:schemeClr val="accent2"/>
                </a:solidFill>
                <a:prstDash val="solid"/>
              </a:ln>
              <a:solidFill>
                <a:schemeClr val="accent2">
                  <a:lumMod val="40000"/>
                  <a:lumOff val="60000"/>
                </a:schemeClr>
              </a:solidFill>
            </a:endParaRPr>
          </a:p>
        </p:txBody>
      </p:sp>
      <p:pic>
        <p:nvPicPr>
          <p:cNvPr id="5" name="Picture 4">
            <a:extLst>
              <a:ext uri="{FF2B5EF4-FFF2-40B4-BE49-F238E27FC236}">
                <a16:creationId xmlns:a16="http://schemas.microsoft.com/office/drawing/2014/main" id="{E5B32BD4-5440-4203-8294-04F42B1089B6}"/>
              </a:ext>
            </a:extLst>
          </p:cNvPr>
          <p:cNvPicPr>
            <a:picLocks noChangeAspect="1"/>
          </p:cNvPicPr>
          <p:nvPr/>
        </p:nvPicPr>
        <p:blipFill>
          <a:blip r:embed="rId3"/>
          <a:stretch>
            <a:fillRect/>
          </a:stretch>
        </p:blipFill>
        <p:spPr>
          <a:xfrm>
            <a:off x="919843" y="1109367"/>
            <a:ext cx="10374085" cy="5384739"/>
          </a:xfrm>
          <a:prstGeom prst="rect">
            <a:avLst/>
          </a:prstGeom>
          <a:ln>
            <a:solidFill>
              <a:srgbClr val="E60000"/>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C15CB7-81A8-467B-9A1F-9E1B41992678}"/>
              </a:ext>
            </a:extLst>
          </p:cNvPr>
          <p:cNvSpPr txBox="1">
            <a:spLocks/>
          </p:cNvSpPr>
          <p:nvPr/>
        </p:nvSpPr>
        <p:spPr>
          <a:xfrm>
            <a:off x="446315" y="582388"/>
            <a:ext cx="5660571" cy="461665"/>
          </a:xfrm>
          <a:prstGeom prst="rect">
            <a:avLst/>
          </a:prstGeom>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000" b="1" dirty="0">
                <a:solidFill>
                  <a:srgbClr val="A20000"/>
                </a:solidFill>
                <a:latin typeface="Vodafone Rg" panose="020B0606080202020204" pitchFamily="34" charset="0"/>
              </a:rPr>
              <a:t>Workflow diagram </a:t>
            </a:r>
          </a:p>
        </p:txBody>
      </p:sp>
      <p:pic>
        <p:nvPicPr>
          <p:cNvPr id="5" name="Picture 4">
            <a:extLst>
              <a:ext uri="{FF2B5EF4-FFF2-40B4-BE49-F238E27FC236}">
                <a16:creationId xmlns:a16="http://schemas.microsoft.com/office/drawing/2014/main" id="{22C6EC0F-9EF9-4C48-8AD5-ED5BC8D0AF66}"/>
              </a:ext>
            </a:extLst>
          </p:cNvPr>
          <p:cNvPicPr>
            <a:picLocks noChangeAspect="1"/>
          </p:cNvPicPr>
          <p:nvPr/>
        </p:nvPicPr>
        <p:blipFill>
          <a:blip r:embed="rId3"/>
          <a:stretch>
            <a:fillRect/>
          </a:stretch>
        </p:blipFill>
        <p:spPr>
          <a:xfrm>
            <a:off x="595605" y="1146690"/>
            <a:ext cx="10434321" cy="5319425"/>
          </a:xfrm>
          <a:prstGeom prst="rect">
            <a:avLst/>
          </a:prstGeom>
          <a:ln>
            <a:solidFill>
              <a:srgbClr val="A20000"/>
            </a:solidFill>
          </a:ln>
        </p:spPr>
      </p:pic>
    </p:spTree>
    <p:extLst>
      <p:ext uri="{BB962C8B-B14F-4D97-AF65-F5344CB8AC3E}">
        <p14:creationId xmlns:p14="http://schemas.microsoft.com/office/powerpoint/2010/main" val="27725019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86DCB7A6-634A-2780-9E61-89390F5789B6}"/>
            </a:ext>
          </a:extLst>
        </p:cNvPr>
        <p:cNvGrpSpPr/>
        <p:nvPr/>
      </p:nvGrpSpPr>
      <p:grpSpPr>
        <a:xfrm>
          <a:off x="0" y="0"/>
          <a:ext cx="0" cy="0"/>
          <a:chOff x="0" y="0"/>
          <a:chExt cx="0" cy="0"/>
        </a:xfrm>
      </p:grpSpPr>
      <p:sp>
        <p:nvSpPr>
          <p:cNvPr id="148" name="Google Shape;148;p5">
            <a:extLst>
              <a:ext uri="{FF2B5EF4-FFF2-40B4-BE49-F238E27FC236}">
                <a16:creationId xmlns:a16="http://schemas.microsoft.com/office/drawing/2014/main" id="{8BD7FAED-4E8E-17E3-9A26-E47A017A12CD}"/>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D52C8353-2CE1-BBD4-C142-0E2ABD1DE801}"/>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2C204748-0169-CDFE-7295-AAF53ADE62CE}"/>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5CD84464-3DBB-B5B5-C3CB-BDD8C5F71133}"/>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CBA93AD7-CD0C-C09C-F0BC-09900B05EDBF}"/>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F051060C-A710-029F-D495-EAA70BD5F618}"/>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3" name="Title 1">
            <a:extLst>
              <a:ext uri="{FF2B5EF4-FFF2-40B4-BE49-F238E27FC236}">
                <a16:creationId xmlns:a16="http://schemas.microsoft.com/office/drawing/2014/main" id="{B6F353DA-7794-0E7B-DCB9-60A0055758D8}"/>
              </a:ext>
            </a:extLst>
          </p:cNvPr>
          <p:cNvSpPr txBox="1">
            <a:spLocks/>
          </p:cNvSpPr>
          <p:nvPr/>
        </p:nvSpPr>
        <p:spPr>
          <a:xfrm>
            <a:off x="446315" y="582388"/>
            <a:ext cx="8119383" cy="461665"/>
          </a:xfrm>
          <a:prstGeom prst="rect">
            <a:avLst/>
          </a:prstGeom>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000" b="1" dirty="0">
                <a:solidFill>
                  <a:srgbClr val="A20000"/>
                </a:solidFill>
                <a:latin typeface="Vodafone Rg" panose="020B0606080202020204" pitchFamily="34" charset="0"/>
              </a:rPr>
              <a:t>Result of our project -</a:t>
            </a:r>
          </a:p>
        </p:txBody>
      </p:sp>
      <p:sp>
        <p:nvSpPr>
          <p:cNvPr id="10" name="TextBox 9">
            <a:extLst>
              <a:ext uri="{FF2B5EF4-FFF2-40B4-BE49-F238E27FC236}">
                <a16:creationId xmlns:a16="http://schemas.microsoft.com/office/drawing/2014/main" id="{9C357B09-797A-47D8-B65C-7EC4FB38E39D}"/>
              </a:ext>
            </a:extLst>
          </p:cNvPr>
          <p:cNvSpPr txBox="1"/>
          <p:nvPr/>
        </p:nvSpPr>
        <p:spPr>
          <a:xfrm>
            <a:off x="446315" y="1044053"/>
            <a:ext cx="2394509" cy="338554"/>
          </a:xfrm>
          <a:prstGeom prst="rect">
            <a:avLst/>
          </a:prstGeom>
          <a:noFill/>
        </p:spPr>
        <p:txBody>
          <a:bodyPr wrap="square">
            <a:spAutoFit/>
          </a:bodyPr>
          <a:lstStyle/>
          <a:p>
            <a:pPr marL="0" indent="0">
              <a:buNone/>
            </a:pPr>
            <a:r>
              <a:rPr lang="en-US" sz="1600" b="1" dirty="0"/>
              <a:t>1</a:t>
            </a:r>
            <a:r>
              <a:rPr lang="en-US" sz="1600" dirty="0"/>
              <a:t>. </a:t>
            </a:r>
            <a:r>
              <a:rPr lang="en-US" sz="1600" b="1" dirty="0"/>
              <a:t>Signup</a:t>
            </a:r>
            <a:r>
              <a:rPr lang="en-US" sz="1600" dirty="0"/>
              <a:t> </a:t>
            </a:r>
            <a:r>
              <a:rPr lang="en-US" sz="1600" b="1" dirty="0"/>
              <a:t>Page</a:t>
            </a:r>
            <a:endParaRPr lang="en-IN" sz="1600" b="1" dirty="0"/>
          </a:p>
        </p:txBody>
      </p:sp>
      <p:pic>
        <p:nvPicPr>
          <p:cNvPr id="4" name="Picture 3">
            <a:extLst>
              <a:ext uri="{FF2B5EF4-FFF2-40B4-BE49-F238E27FC236}">
                <a16:creationId xmlns:a16="http://schemas.microsoft.com/office/drawing/2014/main" id="{262E8F73-AC78-4C63-A60D-B51E617401AF}"/>
              </a:ext>
            </a:extLst>
          </p:cNvPr>
          <p:cNvPicPr>
            <a:picLocks noChangeAspect="1"/>
          </p:cNvPicPr>
          <p:nvPr/>
        </p:nvPicPr>
        <p:blipFill>
          <a:blip r:embed="rId3"/>
          <a:stretch>
            <a:fillRect/>
          </a:stretch>
        </p:blipFill>
        <p:spPr>
          <a:xfrm>
            <a:off x="171029" y="1474047"/>
            <a:ext cx="9234582" cy="4902217"/>
          </a:xfrm>
          <a:prstGeom prst="rect">
            <a:avLst/>
          </a:prstGeom>
          <a:ln>
            <a:solidFill>
              <a:srgbClr val="A20000"/>
            </a:solidFill>
          </a:ln>
        </p:spPr>
      </p:pic>
      <p:sp>
        <p:nvSpPr>
          <p:cNvPr id="14" name="TextBox 13">
            <a:extLst>
              <a:ext uri="{FF2B5EF4-FFF2-40B4-BE49-F238E27FC236}">
                <a16:creationId xmlns:a16="http://schemas.microsoft.com/office/drawing/2014/main" id="{7B8974E9-BBD3-4CE2-B698-01E28716D8B4}"/>
              </a:ext>
            </a:extLst>
          </p:cNvPr>
          <p:cNvSpPr txBox="1"/>
          <p:nvPr/>
        </p:nvSpPr>
        <p:spPr>
          <a:xfrm>
            <a:off x="9451238" y="1866664"/>
            <a:ext cx="2401556" cy="3785652"/>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mn-lt"/>
                <a:cs typeface="Arial" panose="020B0604020202020204" pitchFamily="34" charset="0"/>
              </a:rPr>
              <a:t>Allows </a:t>
            </a:r>
            <a:r>
              <a:rPr lang="en-US" sz="1600" b="1" dirty="0">
                <a:latin typeface="+mn-lt"/>
                <a:cs typeface="Arial" panose="020B0604020202020204" pitchFamily="34" charset="0"/>
              </a:rPr>
              <a:t>new users </a:t>
            </a:r>
            <a:r>
              <a:rPr lang="en-US" sz="1600" dirty="0">
                <a:latin typeface="+mn-lt"/>
                <a:cs typeface="Arial" panose="020B0604020202020204" pitchFamily="34" charset="0"/>
              </a:rPr>
              <a:t>to securely register using username, email, and password</a:t>
            </a:r>
          </a:p>
          <a:p>
            <a:pPr marL="285750" indent="-285750">
              <a:buFont typeface="Arial" panose="020B0604020202020204" pitchFamily="34" charset="0"/>
              <a:buChar char="•"/>
            </a:pPr>
            <a:endParaRPr lang="en-US" sz="1600" dirty="0">
              <a:latin typeface="+mn-lt"/>
              <a:cs typeface="Arial" panose="020B0604020202020204" pitchFamily="34" charset="0"/>
            </a:endParaRPr>
          </a:p>
          <a:p>
            <a:pPr marL="285750" indent="-285750">
              <a:buFont typeface="Arial" panose="020B0604020202020204" pitchFamily="34" charset="0"/>
              <a:buChar char="•"/>
            </a:pPr>
            <a:r>
              <a:rPr lang="en-US" sz="1600" dirty="0">
                <a:latin typeface="+mn-lt"/>
                <a:cs typeface="Arial" panose="020B0604020202020204" pitchFamily="34" charset="0"/>
              </a:rPr>
              <a:t>Acts as the entry point for </a:t>
            </a:r>
            <a:r>
              <a:rPr lang="en-US" sz="1600" b="1" dirty="0">
                <a:latin typeface="+mn-lt"/>
                <a:cs typeface="Arial" panose="020B0604020202020204" pitchFamily="34" charset="0"/>
              </a:rPr>
              <a:t>authorized access</a:t>
            </a:r>
            <a:r>
              <a:rPr lang="en-US" sz="1600" dirty="0">
                <a:latin typeface="+mn-lt"/>
                <a:cs typeface="Arial" panose="020B0604020202020204" pitchFamily="34" charset="0"/>
              </a:rPr>
              <a:t> to the fraud detection system</a:t>
            </a:r>
          </a:p>
          <a:p>
            <a:pPr marL="285750" indent="-285750">
              <a:buFont typeface="Arial" panose="020B0604020202020204" pitchFamily="34" charset="0"/>
              <a:buChar char="•"/>
            </a:pPr>
            <a:endParaRPr lang="en-US" sz="1600" dirty="0">
              <a:latin typeface="+mn-lt"/>
              <a:cs typeface="Arial" panose="020B0604020202020204" pitchFamily="34" charset="0"/>
            </a:endParaRPr>
          </a:p>
          <a:p>
            <a:pPr marL="285750" indent="-285750">
              <a:buFont typeface="Arial" panose="020B0604020202020204" pitchFamily="34" charset="0"/>
              <a:buChar char="•"/>
            </a:pPr>
            <a:r>
              <a:rPr lang="en-US" sz="1600" dirty="0">
                <a:latin typeface="+mn-lt"/>
                <a:cs typeface="Arial" panose="020B0604020202020204" pitchFamily="34" charset="0"/>
              </a:rPr>
              <a:t>Ensures only </a:t>
            </a:r>
            <a:r>
              <a:rPr lang="en-US" sz="1600" b="1" dirty="0">
                <a:latin typeface="+mn-lt"/>
                <a:cs typeface="Arial" panose="020B0604020202020204" pitchFamily="34" charset="0"/>
              </a:rPr>
              <a:t>authenticated users </a:t>
            </a:r>
            <a:r>
              <a:rPr lang="en-US" sz="1600" dirty="0">
                <a:latin typeface="+mn-lt"/>
                <a:cs typeface="Arial" panose="020B0604020202020204" pitchFamily="34" charset="0"/>
              </a:rPr>
              <a:t>can submit and track welfare applications</a:t>
            </a:r>
          </a:p>
          <a:p>
            <a:endParaRPr lang="en-US" sz="1600" dirty="0"/>
          </a:p>
        </p:txBody>
      </p:sp>
    </p:spTree>
    <p:extLst>
      <p:ext uri="{BB962C8B-B14F-4D97-AF65-F5344CB8AC3E}">
        <p14:creationId xmlns:p14="http://schemas.microsoft.com/office/powerpoint/2010/main" val="797713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514A035C-8A2E-6667-0023-E485F12E9CA5}"/>
            </a:ext>
          </a:extLst>
        </p:cNvPr>
        <p:cNvGrpSpPr/>
        <p:nvPr/>
      </p:nvGrpSpPr>
      <p:grpSpPr>
        <a:xfrm>
          <a:off x="0" y="0"/>
          <a:ext cx="0" cy="0"/>
          <a:chOff x="0" y="0"/>
          <a:chExt cx="0" cy="0"/>
        </a:xfrm>
      </p:grpSpPr>
      <p:sp>
        <p:nvSpPr>
          <p:cNvPr id="148" name="Google Shape;148;p5">
            <a:extLst>
              <a:ext uri="{FF2B5EF4-FFF2-40B4-BE49-F238E27FC236}">
                <a16:creationId xmlns:a16="http://schemas.microsoft.com/office/drawing/2014/main" id="{7AE50D9A-117E-5401-2211-C281C1A03C09}"/>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F271C4C5-08F9-692A-E911-D3FD3940C932}"/>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B0658BC8-34E0-2732-E805-16B4774FE603}"/>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B573918D-8CBE-5ABF-318B-77176BDF7638}"/>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C3160999-0030-ECB5-E0F0-6260978D46BC}"/>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34D05526-EB11-42D6-E456-B730C9E8D6DF}"/>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3" name="Title 1">
            <a:extLst>
              <a:ext uri="{FF2B5EF4-FFF2-40B4-BE49-F238E27FC236}">
                <a16:creationId xmlns:a16="http://schemas.microsoft.com/office/drawing/2014/main" id="{138221CD-A199-5E37-06E7-FFC6CDAAD56C}"/>
              </a:ext>
            </a:extLst>
          </p:cNvPr>
          <p:cNvSpPr txBox="1">
            <a:spLocks/>
          </p:cNvSpPr>
          <p:nvPr/>
        </p:nvSpPr>
        <p:spPr>
          <a:xfrm>
            <a:off x="446315" y="582388"/>
            <a:ext cx="8119383" cy="461665"/>
          </a:xfrm>
          <a:prstGeom prst="rect">
            <a:avLst/>
          </a:prstGeom>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000" b="1" dirty="0">
                <a:solidFill>
                  <a:srgbClr val="A20000"/>
                </a:solidFill>
                <a:latin typeface="Vodafone Rg" panose="020B0606080202020204" pitchFamily="34" charset="0"/>
              </a:rPr>
              <a:t>Result of our project -</a:t>
            </a:r>
          </a:p>
        </p:txBody>
      </p:sp>
      <p:sp>
        <p:nvSpPr>
          <p:cNvPr id="10" name="TextBox 9">
            <a:extLst>
              <a:ext uri="{FF2B5EF4-FFF2-40B4-BE49-F238E27FC236}">
                <a16:creationId xmlns:a16="http://schemas.microsoft.com/office/drawing/2014/main" id="{ACBCC553-4FF7-4D11-9C25-EB43BFE1D800}"/>
              </a:ext>
            </a:extLst>
          </p:cNvPr>
          <p:cNvSpPr txBox="1"/>
          <p:nvPr/>
        </p:nvSpPr>
        <p:spPr>
          <a:xfrm>
            <a:off x="25804" y="1044053"/>
            <a:ext cx="3513599" cy="338554"/>
          </a:xfrm>
          <a:prstGeom prst="rect">
            <a:avLst/>
          </a:prstGeom>
          <a:noFill/>
        </p:spPr>
        <p:txBody>
          <a:bodyPr wrap="square">
            <a:spAutoFit/>
          </a:bodyPr>
          <a:lstStyle/>
          <a:p>
            <a:pPr marL="0" indent="0">
              <a:buNone/>
            </a:pPr>
            <a:r>
              <a:rPr lang="en-US" sz="1600" b="1" dirty="0"/>
              <a:t>      2. Application Form</a:t>
            </a:r>
            <a:endParaRPr lang="en-IN" sz="1600" b="1" dirty="0"/>
          </a:p>
        </p:txBody>
      </p:sp>
      <p:pic>
        <p:nvPicPr>
          <p:cNvPr id="4" name="Picture 3">
            <a:extLst>
              <a:ext uri="{FF2B5EF4-FFF2-40B4-BE49-F238E27FC236}">
                <a16:creationId xmlns:a16="http://schemas.microsoft.com/office/drawing/2014/main" id="{BB9B2821-C4F0-49AF-B2C0-97ADE7E19AA7}"/>
              </a:ext>
            </a:extLst>
          </p:cNvPr>
          <p:cNvPicPr>
            <a:picLocks noChangeAspect="1"/>
          </p:cNvPicPr>
          <p:nvPr/>
        </p:nvPicPr>
        <p:blipFill>
          <a:blip r:embed="rId3"/>
          <a:stretch>
            <a:fillRect/>
          </a:stretch>
        </p:blipFill>
        <p:spPr>
          <a:xfrm>
            <a:off x="188540" y="1580126"/>
            <a:ext cx="9074684" cy="4865898"/>
          </a:xfrm>
          <a:prstGeom prst="rect">
            <a:avLst/>
          </a:prstGeom>
          <a:ln>
            <a:solidFill>
              <a:srgbClr val="E60000"/>
            </a:solidFill>
          </a:ln>
        </p:spPr>
      </p:pic>
      <p:sp>
        <p:nvSpPr>
          <p:cNvPr id="14" name="Rectangle 13">
            <a:extLst>
              <a:ext uri="{FF2B5EF4-FFF2-40B4-BE49-F238E27FC236}">
                <a16:creationId xmlns:a16="http://schemas.microsoft.com/office/drawing/2014/main" id="{58241FD5-1EDA-4089-9C21-7189E4A5CF0C}"/>
              </a:ext>
            </a:extLst>
          </p:cNvPr>
          <p:cNvSpPr>
            <a:spLocks noChangeArrowheads="1"/>
          </p:cNvSpPr>
          <p:nvPr/>
        </p:nvSpPr>
        <p:spPr bwMode="auto">
          <a:xfrm>
            <a:off x="9263224" y="1750917"/>
            <a:ext cx="2719061"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cs typeface="Arial" panose="020B0604020202020204" pitchFamily="34" charset="0"/>
              </a:rPr>
              <a:t>This screen allows </a:t>
            </a:r>
            <a:r>
              <a:rPr kumimoji="0" lang="en-US" altLang="en-US" sz="1600" b="1" i="0" u="none" strike="noStrike" cap="none" normalizeH="0" baseline="0" dirty="0">
                <a:ln>
                  <a:noFill/>
                </a:ln>
                <a:solidFill>
                  <a:schemeClr val="tx1"/>
                </a:solidFill>
                <a:effectLst/>
                <a:cs typeface="Arial" panose="020B0604020202020204" pitchFamily="34" charset="0"/>
              </a:rPr>
              <a:t>authenticated users </a:t>
            </a:r>
            <a:r>
              <a:rPr kumimoji="0" lang="en-US" altLang="en-US" sz="1600" b="0" i="0" u="none" strike="noStrike" cap="none" normalizeH="0" baseline="0" dirty="0">
                <a:ln>
                  <a:noFill/>
                </a:ln>
                <a:solidFill>
                  <a:schemeClr val="tx1"/>
                </a:solidFill>
                <a:effectLst/>
                <a:cs typeface="Arial" panose="020B0604020202020204" pitchFamily="34" charset="0"/>
              </a:rPr>
              <a:t>to submit a new welfare application by entering </a:t>
            </a:r>
            <a:r>
              <a:rPr kumimoji="0" lang="en-US" altLang="en-US" sz="1600" b="1" i="0" u="none" strike="noStrike" cap="none" normalizeH="0" baseline="0" dirty="0">
                <a:ln>
                  <a:noFill/>
                </a:ln>
                <a:solidFill>
                  <a:schemeClr val="tx1"/>
                </a:solidFill>
                <a:effectLst/>
                <a:cs typeface="Arial" panose="020B0604020202020204" pitchFamily="34" charset="0"/>
              </a:rPr>
              <a:t>personal and identity details.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cs typeface="Arial" panose="020B0604020202020204" pitchFamily="34" charset="0"/>
              </a:rPr>
              <a:t>Aadhaar and PAN details along with document uploads are collected for </a:t>
            </a:r>
            <a:r>
              <a:rPr kumimoji="0" lang="en-US" altLang="en-US" sz="1600" b="1" i="0" u="none" strike="noStrike" cap="none" normalizeH="0" baseline="0" dirty="0">
                <a:ln>
                  <a:noFill/>
                </a:ln>
                <a:solidFill>
                  <a:schemeClr val="tx1"/>
                </a:solidFill>
                <a:effectLst/>
                <a:cs typeface="Arial" panose="020B0604020202020204" pitchFamily="34" charset="0"/>
              </a:rPr>
              <a:t>verification and fraud detection</a:t>
            </a:r>
            <a:r>
              <a:rPr kumimoji="0" lang="en-US" altLang="en-US" sz="1600" b="0" i="0" u="none" strike="noStrike" cap="none" normalizeH="0" baseline="0" dirty="0">
                <a:ln>
                  <a:noFill/>
                </a:ln>
                <a:solidFill>
                  <a:schemeClr val="tx1"/>
                </a:solidFill>
                <a:effectLst/>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cs typeface="Arial" panose="020B0604020202020204" pitchFamily="34" charset="0"/>
              </a:rPr>
              <a:t>The form acts as the </a:t>
            </a:r>
            <a:r>
              <a:rPr kumimoji="0" lang="en-US" altLang="en-US" sz="1600" b="1" i="0" u="none" strike="noStrike" cap="none" normalizeH="0" baseline="0" dirty="0">
                <a:ln>
                  <a:noFill/>
                </a:ln>
                <a:solidFill>
                  <a:schemeClr val="tx1"/>
                </a:solidFill>
                <a:effectLst/>
                <a:cs typeface="Arial" panose="020B0604020202020204" pitchFamily="34" charset="0"/>
              </a:rPr>
              <a:t>first checkpoint </a:t>
            </a:r>
            <a:r>
              <a:rPr kumimoji="0" lang="en-US" altLang="en-US" sz="1600" b="0" i="0" u="none" strike="noStrike" cap="none" normalizeH="0" baseline="0" dirty="0">
                <a:ln>
                  <a:noFill/>
                </a:ln>
                <a:solidFill>
                  <a:schemeClr val="tx1"/>
                </a:solidFill>
                <a:effectLst/>
                <a:cs typeface="Arial" panose="020B0604020202020204" pitchFamily="34" charset="0"/>
              </a:rPr>
              <a:t>where duplicate or fraudulent applications are identified </a:t>
            </a:r>
            <a:r>
              <a:rPr kumimoji="0" lang="en-US" altLang="en-US" sz="1600" b="1" i="0" u="none" strike="noStrike" cap="none" normalizeH="0" baseline="0" dirty="0">
                <a:ln>
                  <a:noFill/>
                </a:ln>
                <a:solidFill>
                  <a:schemeClr val="tx1"/>
                </a:solidFill>
                <a:effectLst/>
                <a:cs typeface="Arial" panose="020B0604020202020204" pitchFamily="34" charset="0"/>
              </a:rPr>
              <a:t>before submission</a:t>
            </a:r>
            <a:r>
              <a:rPr kumimoji="0" lang="en-US" altLang="en-US" sz="1600" b="0" i="0" u="none" strike="noStrike" cap="none" normalizeH="0" baseline="0" dirty="0">
                <a:ln>
                  <a:noFill/>
                </a:ln>
                <a:solidFill>
                  <a:schemeClr val="tx1"/>
                </a:solidFill>
                <a:effectLst/>
                <a:cs typeface="Arial" panose="020B0604020202020204" pitchFamily="34" charset="0"/>
              </a:rPr>
              <a:t>.</a:t>
            </a:r>
          </a:p>
        </p:txBody>
      </p:sp>
    </p:spTree>
    <p:extLst>
      <p:ext uri="{BB962C8B-B14F-4D97-AF65-F5344CB8AC3E}">
        <p14:creationId xmlns:p14="http://schemas.microsoft.com/office/powerpoint/2010/main" val="3771153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DF17D-58BD-499F-9B32-904B6A64CDA3}"/>
              </a:ext>
            </a:extLst>
          </p:cNvPr>
          <p:cNvSpPr txBox="1">
            <a:spLocks/>
          </p:cNvSpPr>
          <p:nvPr/>
        </p:nvSpPr>
        <p:spPr>
          <a:xfrm>
            <a:off x="446315" y="582388"/>
            <a:ext cx="8119383" cy="461665"/>
          </a:xfrm>
          <a:prstGeom prst="rect">
            <a:avLst/>
          </a:prstGeom>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000" b="1" dirty="0">
                <a:solidFill>
                  <a:srgbClr val="A20000"/>
                </a:solidFill>
                <a:latin typeface="Vodafone Rg" panose="020B0606080202020204" pitchFamily="34" charset="0"/>
              </a:rPr>
              <a:t>Result of our project -</a:t>
            </a:r>
          </a:p>
        </p:txBody>
      </p:sp>
      <p:sp>
        <p:nvSpPr>
          <p:cNvPr id="3" name="TextBox 2">
            <a:extLst>
              <a:ext uri="{FF2B5EF4-FFF2-40B4-BE49-F238E27FC236}">
                <a16:creationId xmlns:a16="http://schemas.microsoft.com/office/drawing/2014/main" id="{C1F545A0-2B2A-4D41-A1C0-36897532423D}"/>
              </a:ext>
            </a:extLst>
          </p:cNvPr>
          <p:cNvSpPr txBox="1"/>
          <p:nvPr/>
        </p:nvSpPr>
        <p:spPr>
          <a:xfrm>
            <a:off x="279921" y="1164970"/>
            <a:ext cx="4331873" cy="338554"/>
          </a:xfrm>
          <a:prstGeom prst="rect">
            <a:avLst/>
          </a:prstGeom>
          <a:noFill/>
        </p:spPr>
        <p:txBody>
          <a:bodyPr wrap="square">
            <a:spAutoFit/>
          </a:bodyPr>
          <a:lstStyle/>
          <a:p>
            <a:pPr marL="0" indent="0">
              <a:buNone/>
            </a:pPr>
            <a:r>
              <a:rPr lang="en-US" sz="1600" b="1" dirty="0"/>
              <a:t>      3.</a:t>
            </a:r>
            <a:r>
              <a:rPr lang="en-IN" sz="1600" b="1" dirty="0"/>
              <a:t> Fraud Suspected</a:t>
            </a:r>
          </a:p>
        </p:txBody>
      </p:sp>
      <p:pic>
        <p:nvPicPr>
          <p:cNvPr id="7" name="Picture 6">
            <a:extLst>
              <a:ext uri="{FF2B5EF4-FFF2-40B4-BE49-F238E27FC236}">
                <a16:creationId xmlns:a16="http://schemas.microsoft.com/office/drawing/2014/main" id="{48A62BE3-66C3-4BB4-9DCC-CA31A3A6A95B}"/>
              </a:ext>
            </a:extLst>
          </p:cNvPr>
          <p:cNvPicPr>
            <a:picLocks noChangeAspect="1"/>
          </p:cNvPicPr>
          <p:nvPr/>
        </p:nvPicPr>
        <p:blipFill>
          <a:blip r:embed="rId2"/>
          <a:stretch>
            <a:fillRect/>
          </a:stretch>
        </p:blipFill>
        <p:spPr>
          <a:xfrm>
            <a:off x="446315" y="1624442"/>
            <a:ext cx="7920411" cy="4887521"/>
          </a:xfrm>
          <a:prstGeom prst="rect">
            <a:avLst/>
          </a:prstGeom>
          <a:ln>
            <a:solidFill>
              <a:srgbClr val="A20000"/>
            </a:solidFill>
          </a:ln>
        </p:spPr>
      </p:pic>
      <p:sp>
        <p:nvSpPr>
          <p:cNvPr id="4" name="Rectangle 1">
            <a:extLst>
              <a:ext uri="{FF2B5EF4-FFF2-40B4-BE49-F238E27FC236}">
                <a16:creationId xmlns:a16="http://schemas.microsoft.com/office/drawing/2014/main" id="{CAEEFB3A-2268-46E6-92DA-AC2437D7D54B}"/>
              </a:ext>
            </a:extLst>
          </p:cNvPr>
          <p:cNvSpPr>
            <a:spLocks noChangeArrowheads="1"/>
          </p:cNvSpPr>
          <p:nvPr/>
        </p:nvSpPr>
        <p:spPr bwMode="auto">
          <a:xfrm>
            <a:off x="9141167" y="2053206"/>
            <a:ext cx="4294095"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mn-lt"/>
              </a:rPr>
              <a:t>  Displays the application </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i="0" u="none" strike="noStrike" cap="none" normalizeH="0" baseline="0" dirty="0">
                <a:ln>
                  <a:noFill/>
                </a:ln>
                <a:solidFill>
                  <a:schemeClr val="tx1"/>
                </a:solidFill>
                <a:effectLst/>
                <a:latin typeface="+mn-lt"/>
              </a:rPr>
              <a:t>   form with input fields </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i="0" u="none" strike="noStrike" cap="none" normalizeH="0" baseline="0" dirty="0">
                <a:ln>
                  <a:noFill/>
                </a:ln>
                <a:solidFill>
                  <a:schemeClr val="tx1"/>
                </a:solidFill>
                <a:effectLst/>
                <a:latin typeface="+mn-lt"/>
              </a:rPr>
              <a:t>   for </a:t>
            </a:r>
            <a:r>
              <a:rPr kumimoji="0" lang="en-US" altLang="en-US" sz="1600" b="1" i="0" u="none" strike="noStrike" cap="none" normalizeH="0" baseline="0" dirty="0">
                <a:ln>
                  <a:noFill/>
                </a:ln>
                <a:solidFill>
                  <a:schemeClr val="tx1"/>
                </a:solidFill>
                <a:effectLst/>
                <a:latin typeface="+mn-lt"/>
              </a:rPr>
              <a:t>Aadhaar,</a:t>
            </a:r>
            <a:r>
              <a:rPr lang="en-US" altLang="en-US" sz="1600" b="1" dirty="0">
                <a:solidFill>
                  <a:schemeClr val="tx1"/>
                </a:solidFill>
                <a:latin typeface="+mn-lt"/>
              </a:rPr>
              <a:t> </a:t>
            </a:r>
            <a:r>
              <a:rPr kumimoji="0" lang="en-US" altLang="en-US" sz="1600" b="1" i="0" u="none" strike="noStrike" cap="none" normalizeH="0" baseline="0" dirty="0">
                <a:ln>
                  <a:noFill/>
                </a:ln>
                <a:solidFill>
                  <a:schemeClr val="tx1"/>
                </a:solidFill>
                <a:effectLst/>
                <a:latin typeface="+mn-lt"/>
              </a:rPr>
              <a:t>PAN, </a:t>
            </a:r>
            <a:r>
              <a:rPr kumimoji="0" lang="en-US" altLang="en-US" sz="1600" i="0" u="none" strike="noStrike" cap="none" normalizeH="0" baseline="0" dirty="0">
                <a:ln>
                  <a:noFill/>
                </a:ln>
                <a:solidFill>
                  <a:schemeClr val="tx1"/>
                </a:solidFill>
                <a:effectLst/>
                <a:latin typeface="+mn-lt"/>
              </a:rPr>
              <a:t>and</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i="0" u="none" strike="noStrike" cap="none" normalizeH="0" baseline="0" dirty="0">
                <a:ln>
                  <a:noFill/>
                </a:ln>
                <a:solidFill>
                  <a:schemeClr val="tx1"/>
                </a:solidFill>
                <a:effectLst/>
                <a:latin typeface="+mn-lt"/>
              </a:rPr>
              <a:t>   </a:t>
            </a:r>
            <a:r>
              <a:rPr kumimoji="0" lang="en-US" altLang="en-US" sz="1600" b="1" i="0" u="none" strike="noStrike" cap="none" normalizeH="0" baseline="0" dirty="0">
                <a:ln>
                  <a:noFill/>
                </a:ln>
                <a:solidFill>
                  <a:schemeClr val="tx1"/>
                </a:solidFill>
                <a:effectLst/>
                <a:latin typeface="+mn-lt"/>
              </a:rPr>
              <a:t>personal details.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1"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mn-lt"/>
              </a:rPr>
              <a:t>  Shows real-time validation</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i="0" u="none" strike="noStrike" cap="none" normalizeH="0" baseline="0" dirty="0">
                <a:ln>
                  <a:noFill/>
                </a:ln>
                <a:solidFill>
                  <a:schemeClr val="tx1"/>
                </a:solidFill>
                <a:effectLst/>
                <a:latin typeface="+mn-lt"/>
              </a:rPr>
              <a:t>   error(e.g., </a:t>
            </a:r>
            <a:r>
              <a:rPr kumimoji="0" lang="en-US" altLang="en-US" sz="1600" i="1" u="none" strike="noStrike" cap="none" normalizeH="0" baseline="0" dirty="0">
                <a:ln>
                  <a:noFill/>
                </a:ln>
                <a:solidFill>
                  <a:schemeClr val="tx1"/>
                </a:solidFill>
                <a:effectLst/>
                <a:latin typeface="+mn-lt"/>
              </a:rPr>
              <a:t>“</a:t>
            </a:r>
            <a:r>
              <a:rPr kumimoji="0" lang="en-US" altLang="en-US" sz="1600" b="1" i="1" u="none" strike="noStrike" cap="none" normalizeH="0" baseline="0" dirty="0">
                <a:ln>
                  <a:noFill/>
                </a:ln>
                <a:solidFill>
                  <a:schemeClr val="tx1"/>
                </a:solidFill>
                <a:effectLst/>
                <a:latin typeface="+mn-lt"/>
              </a:rPr>
              <a:t>Aadhaar</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1" u="none" strike="noStrike" cap="none" normalizeH="0" baseline="0" dirty="0">
                <a:ln>
                  <a:noFill/>
                </a:ln>
                <a:solidFill>
                  <a:schemeClr val="tx1"/>
                </a:solidFill>
                <a:effectLst/>
                <a:latin typeface="+mn-lt"/>
              </a:rPr>
              <a:t>    number </a:t>
            </a:r>
            <a:r>
              <a:rPr kumimoji="0" lang="en-US" altLang="en-US" sz="1600" i="1" u="none" strike="noStrike" cap="none" normalizeH="0" baseline="0" dirty="0">
                <a:ln>
                  <a:noFill/>
                </a:ln>
                <a:solidFill>
                  <a:schemeClr val="tx1"/>
                </a:solidFill>
                <a:effectLst/>
                <a:latin typeface="+mn-lt"/>
              </a:rPr>
              <a:t>does not </a:t>
            </a:r>
          </a:p>
          <a:p>
            <a:pPr marL="0" marR="0" lvl="0" indent="0" algn="l" defTabSz="914400" rtl="0" eaLnBrk="0" fontAlgn="base" latinLnBrk="0" hangingPunct="0">
              <a:lnSpc>
                <a:spcPct val="100000"/>
              </a:lnSpc>
              <a:spcBef>
                <a:spcPct val="0"/>
              </a:spcBef>
              <a:spcAft>
                <a:spcPct val="0"/>
              </a:spcAft>
              <a:buClrTx/>
              <a:buSzTx/>
              <a:tabLst/>
            </a:pPr>
            <a:r>
              <a:rPr lang="en-US" altLang="en-US" sz="1600" i="1" dirty="0">
                <a:solidFill>
                  <a:schemeClr val="tx1"/>
                </a:solidFill>
                <a:latin typeface="+mn-lt"/>
              </a:rPr>
              <a:t>    </a:t>
            </a:r>
            <a:r>
              <a:rPr kumimoji="0" lang="en-US" altLang="en-US" sz="1600" i="1" u="none" strike="noStrike" cap="none" normalizeH="0" baseline="0" dirty="0">
                <a:ln>
                  <a:noFill/>
                </a:ln>
                <a:solidFill>
                  <a:schemeClr val="tx1"/>
                </a:solidFill>
                <a:effectLst/>
                <a:latin typeface="+mn-lt"/>
              </a:rPr>
              <a:t>match document”</a:t>
            </a:r>
            <a:r>
              <a:rPr kumimoji="0" lang="en-US" altLang="en-US" sz="1600" i="0" u="none" strike="noStrike" cap="none" normalizeH="0" baseline="0" dirty="0">
                <a:ln>
                  <a:noFill/>
                </a:ln>
                <a:solidFill>
                  <a:schemeClr val="tx1"/>
                </a:solidFill>
                <a:effectLst/>
                <a:latin typeface="+mn-lt"/>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mn-lt"/>
              </a:rPr>
              <a:t>  Prevents submission </a:t>
            </a:r>
          </a:p>
          <a:p>
            <a:pPr marL="0" marR="0" lvl="0" indent="0" algn="l" defTabSz="914400" rtl="0" eaLnBrk="0" fontAlgn="base" latinLnBrk="0" hangingPunct="0">
              <a:lnSpc>
                <a:spcPct val="100000"/>
              </a:lnSpc>
              <a:spcBef>
                <a:spcPct val="0"/>
              </a:spcBef>
              <a:spcAft>
                <a:spcPct val="0"/>
              </a:spcAft>
              <a:buClrTx/>
              <a:buSzTx/>
              <a:tabLst/>
            </a:pPr>
            <a:r>
              <a:rPr lang="en-US" altLang="en-US" sz="1600" dirty="0">
                <a:solidFill>
                  <a:schemeClr val="tx1"/>
                </a:solidFill>
                <a:latin typeface="+mn-lt"/>
              </a:rPr>
              <a:t>    </a:t>
            </a:r>
            <a:r>
              <a:rPr kumimoji="0" lang="en-US" altLang="en-US" sz="1600" i="0" u="none" strike="noStrike" cap="none" normalizeH="0" baseline="0" dirty="0">
                <a:ln>
                  <a:noFill/>
                </a:ln>
                <a:solidFill>
                  <a:schemeClr val="tx1"/>
                </a:solidFill>
                <a:effectLst/>
                <a:latin typeface="+mn-lt"/>
              </a:rPr>
              <a:t>if </a:t>
            </a:r>
            <a:r>
              <a:rPr kumimoji="0" lang="en-US" altLang="en-US" sz="1600" b="1" i="0" u="none" strike="noStrike" cap="none" normalizeH="0" baseline="0" dirty="0">
                <a:ln>
                  <a:noFill/>
                </a:ln>
                <a:solidFill>
                  <a:schemeClr val="tx1"/>
                </a:solidFill>
                <a:effectLst/>
                <a:latin typeface="+mn-lt"/>
              </a:rPr>
              <a:t>document verification</a:t>
            </a:r>
          </a:p>
          <a:p>
            <a:pPr marL="0" marR="0" lvl="0" indent="0" algn="l" defTabSz="914400" rtl="0" eaLnBrk="0" fontAlgn="base" latinLnBrk="0" hangingPunct="0">
              <a:lnSpc>
                <a:spcPct val="100000"/>
              </a:lnSpc>
              <a:spcBef>
                <a:spcPct val="0"/>
              </a:spcBef>
              <a:spcAft>
                <a:spcPct val="0"/>
              </a:spcAft>
              <a:buClrTx/>
              <a:buSzTx/>
              <a:tabLst/>
            </a:pPr>
            <a:r>
              <a:rPr lang="en-US" altLang="en-US" sz="1600" b="1" dirty="0">
                <a:solidFill>
                  <a:schemeClr val="tx1"/>
                </a:solidFill>
                <a:latin typeface="+mn-lt"/>
              </a:rPr>
              <a:t>   </a:t>
            </a:r>
            <a:r>
              <a:rPr kumimoji="0" lang="en-US" altLang="en-US" sz="1600" i="0" u="none" strike="noStrike" cap="none" normalizeH="0" baseline="0" dirty="0">
                <a:ln>
                  <a:noFill/>
                </a:ln>
                <a:solidFill>
                  <a:schemeClr val="tx1"/>
                </a:solidFill>
                <a:effectLst/>
                <a:latin typeface="+mn-lt"/>
              </a:rPr>
              <a:t> or </a:t>
            </a:r>
            <a:r>
              <a:rPr kumimoji="0" lang="en-US" altLang="en-US" sz="1600" b="1" i="0" u="none" strike="noStrike" cap="none" normalizeH="0" baseline="0" dirty="0">
                <a:ln>
                  <a:noFill/>
                </a:ln>
                <a:solidFill>
                  <a:schemeClr val="tx1"/>
                </a:solidFill>
                <a:effectLst/>
                <a:latin typeface="+mn-lt"/>
              </a:rPr>
              <a:t>data matching fails</a:t>
            </a:r>
            <a:r>
              <a:rPr kumimoji="0" lang="en-US" altLang="en-US" sz="1600" i="0" u="none" strike="noStrike" cap="none" normalizeH="0" baseline="0" dirty="0">
                <a:ln>
                  <a:noFill/>
                </a:ln>
                <a:solidFill>
                  <a:schemeClr val="tx1"/>
                </a:solidFill>
                <a:effectLst/>
                <a:latin typeface="+mn-lt"/>
              </a:rPr>
              <a:t>.</a:t>
            </a:r>
          </a:p>
        </p:txBody>
      </p:sp>
    </p:spTree>
    <p:extLst>
      <p:ext uri="{BB962C8B-B14F-4D97-AF65-F5344CB8AC3E}">
        <p14:creationId xmlns:p14="http://schemas.microsoft.com/office/powerpoint/2010/main" val="2653895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5D98E-E81C-4600-B72F-D46653174E91}"/>
              </a:ext>
            </a:extLst>
          </p:cNvPr>
          <p:cNvSpPr txBox="1">
            <a:spLocks/>
          </p:cNvSpPr>
          <p:nvPr/>
        </p:nvSpPr>
        <p:spPr>
          <a:xfrm>
            <a:off x="446315" y="582388"/>
            <a:ext cx="8119383" cy="461665"/>
          </a:xfrm>
          <a:prstGeom prst="rect">
            <a:avLst/>
          </a:prstGeom>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000" b="1" dirty="0">
                <a:solidFill>
                  <a:srgbClr val="A20000"/>
                </a:solidFill>
                <a:latin typeface="Vodafone Rg" panose="020B0606080202020204" pitchFamily="34" charset="0"/>
              </a:rPr>
              <a:t>Result of our project -</a:t>
            </a:r>
          </a:p>
        </p:txBody>
      </p:sp>
      <p:sp>
        <p:nvSpPr>
          <p:cNvPr id="3" name="TextBox 16">
            <a:extLst>
              <a:ext uri="{FF2B5EF4-FFF2-40B4-BE49-F238E27FC236}">
                <a16:creationId xmlns:a16="http://schemas.microsoft.com/office/drawing/2014/main" id="{808CEF80-9385-02D8-F756-CCD21A0FB61C}"/>
              </a:ext>
            </a:extLst>
          </p:cNvPr>
          <p:cNvSpPr txBox="1"/>
          <p:nvPr/>
        </p:nvSpPr>
        <p:spPr>
          <a:xfrm>
            <a:off x="604936" y="1194050"/>
            <a:ext cx="2412386"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b="1" dirty="0"/>
              <a:t>4. AI Fraud Detection</a:t>
            </a:r>
            <a:endParaRPr lang="en-IN" b="1" dirty="0"/>
          </a:p>
        </p:txBody>
      </p:sp>
      <p:pic>
        <p:nvPicPr>
          <p:cNvPr id="9" name="Picture 8">
            <a:extLst>
              <a:ext uri="{FF2B5EF4-FFF2-40B4-BE49-F238E27FC236}">
                <a16:creationId xmlns:a16="http://schemas.microsoft.com/office/drawing/2014/main" id="{953694D1-0E16-43FF-9511-7B2D3F082713}"/>
              </a:ext>
            </a:extLst>
          </p:cNvPr>
          <p:cNvPicPr>
            <a:picLocks noChangeAspect="1"/>
          </p:cNvPicPr>
          <p:nvPr/>
        </p:nvPicPr>
        <p:blipFill>
          <a:blip r:embed="rId2"/>
          <a:stretch>
            <a:fillRect/>
          </a:stretch>
        </p:blipFill>
        <p:spPr>
          <a:xfrm>
            <a:off x="440751" y="1914053"/>
            <a:ext cx="7770188" cy="4440094"/>
          </a:xfrm>
          <a:prstGeom prst="rect">
            <a:avLst/>
          </a:prstGeom>
          <a:ln>
            <a:solidFill>
              <a:srgbClr val="E60000"/>
            </a:solidFill>
          </a:ln>
        </p:spPr>
      </p:pic>
      <p:sp>
        <p:nvSpPr>
          <p:cNvPr id="5" name="Rectangle 1">
            <a:extLst>
              <a:ext uri="{FF2B5EF4-FFF2-40B4-BE49-F238E27FC236}">
                <a16:creationId xmlns:a16="http://schemas.microsoft.com/office/drawing/2014/main" id="{5B902F3C-822C-44CA-BFC1-81E894D3B9A7}"/>
              </a:ext>
            </a:extLst>
          </p:cNvPr>
          <p:cNvSpPr>
            <a:spLocks noChangeArrowheads="1"/>
          </p:cNvSpPr>
          <p:nvPr/>
        </p:nvSpPr>
        <p:spPr bwMode="auto">
          <a:xfrm>
            <a:off x="8870826" y="2058021"/>
            <a:ext cx="4294095"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mn-lt"/>
              </a:rPr>
              <a:t>  </a:t>
            </a:r>
            <a:r>
              <a:rPr lang="en-US" sz="1600" dirty="0">
                <a:latin typeface="+mn-lt"/>
              </a:rPr>
              <a:t>AI detected the uploaded</a:t>
            </a:r>
          </a:p>
          <a:p>
            <a:pPr marL="0" marR="0" lvl="0" indent="0" algn="l" defTabSz="914400" rtl="0" eaLnBrk="0" fontAlgn="base" latinLnBrk="0" hangingPunct="0">
              <a:lnSpc>
                <a:spcPct val="100000"/>
              </a:lnSpc>
              <a:spcBef>
                <a:spcPct val="0"/>
              </a:spcBef>
              <a:spcAft>
                <a:spcPct val="0"/>
              </a:spcAft>
              <a:buClrTx/>
              <a:buSzTx/>
              <a:tabLst/>
            </a:pPr>
            <a:r>
              <a:rPr lang="en-US" sz="1600" dirty="0">
                <a:latin typeface="+mn-lt"/>
              </a:rPr>
              <a:t> file as an </a:t>
            </a:r>
            <a:r>
              <a:rPr lang="en-US" sz="1600" b="1" dirty="0">
                <a:latin typeface="+mn-lt"/>
              </a:rPr>
              <a:t>Aadhaar card</a:t>
            </a:r>
            <a:r>
              <a:rPr lang="en-US" sz="1600" dirty="0">
                <a:latin typeface="+mn-lt"/>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1"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mn-lt"/>
              </a:rPr>
              <a:t>  </a:t>
            </a:r>
            <a:r>
              <a:rPr lang="en-US" sz="1600" dirty="0">
                <a:latin typeface="+mn-lt"/>
              </a:rPr>
              <a:t>System flagged the document </a:t>
            </a:r>
          </a:p>
          <a:p>
            <a:pPr marL="0" marR="0" lvl="0" indent="0" algn="l" defTabSz="914400" rtl="0" eaLnBrk="0" fontAlgn="base" latinLnBrk="0" hangingPunct="0">
              <a:lnSpc>
                <a:spcPct val="100000"/>
              </a:lnSpc>
              <a:spcBef>
                <a:spcPct val="0"/>
              </a:spcBef>
              <a:spcAft>
                <a:spcPct val="0"/>
              </a:spcAft>
              <a:buClrTx/>
              <a:buSzTx/>
              <a:tabLst/>
            </a:pPr>
            <a:r>
              <a:rPr lang="en-US" sz="1600" dirty="0">
                <a:latin typeface="+mn-lt"/>
              </a:rPr>
              <a:t>as </a:t>
            </a:r>
            <a:r>
              <a:rPr lang="en-US" sz="1600" b="1" dirty="0">
                <a:latin typeface="+mn-lt"/>
              </a:rPr>
              <a:t>fake/modified </a:t>
            </a:r>
            <a:r>
              <a:rPr lang="en-US" sz="1600" dirty="0">
                <a:latin typeface="+mn-lt"/>
              </a:rPr>
              <a:t>with</a:t>
            </a:r>
          </a:p>
          <a:p>
            <a:pPr marL="0" marR="0" lvl="0" indent="0" algn="l" defTabSz="914400" rtl="0" eaLnBrk="0" fontAlgn="base" latinLnBrk="0" hangingPunct="0">
              <a:lnSpc>
                <a:spcPct val="100000"/>
              </a:lnSpc>
              <a:spcBef>
                <a:spcPct val="0"/>
              </a:spcBef>
              <a:spcAft>
                <a:spcPct val="0"/>
              </a:spcAft>
              <a:buClrTx/>
              <a:buSzTx/>
              <a:tabLst/>
            </a:pPr>
            <a:r>
              <a:rPr lang="en-US" sz="1600" dirty="0">
                <a:latin typeface="+mn-lt"/>
              </a:rPr>
              <a:t> high confidence.</a:t>
            </a:r>
          </a:p>
          <a:p>
            <a:pPr marL="0" marR="0" lvl="0" indent="0" algn="l" defTabSz="914400" rtl="0" eaLnBrk="0" fontAlgn="base" latinLnBrk="0" hangingPunct="0">
              <a:lnSpc>
                <a:spcPct val="100000"/>
              </a:lnSpc>
              <a:spcBef>
                <a:spcPct val="0"/>
              </a:spcBef>
              <a:spcAft>
                <a:spcPct val="0"/>
              </a:spcAft>
              <a:buClrTx/>
              <a:buSzTx/>
              <a:tabLst/>
            </a:pPr>
            <a:endParaRPr lang="en-US" sz="1600" dirty="0">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sz="1600" dirty="0">
                <a:latin typeface="+mn-lt"/>
              </a:rPr>
              <a:t>AI could not find a </a:t>
            </a:r>
          </a:p>
          <a:p>
            <a:pPr marL="0" marR="0" lvl="0" indent="0" algn="l" defTabSz="914400" rtl="0" eaLnBrk="0" fontAlgn="base" latinLnBrk="0" hangingPunct="0">
              <a:lnSpc>
                <a:spcPct val="100000"/>
              </a:lnSpc>
              <a:spcBef>
                <a:spcPct val="0"/>
              </a:spcBef>
              <a:spcAft>
                <a:spcPct val="0"/>
              </a:spcAft>
              <a:buClrTx/>
              <a:buSzTx/>
              <a:tabLst/>
            </a:pPr>
            <a:r>
              <a:rPr lang="en-US" sz="1600" b="1" dirty="0">
                <a:latin typeface="+mn-lt"/>
              </a:rPr>
              <a:t>valid Aadhaar number</a:t>
            </a:r>
          </a:p>
          <a:p>
            <a:pPr marL="0" marR="0" lvl="0" indent="0" algn="l" defTabSz="914400" rtl="0" eaLnBrk="0" fontAlgn="base" latinLnBrk="0" hangingPunct="0">
              <a:lnSpc>
                <a:spcPct val="100000"/>
              </a:lnSpc>
              <a:spcBef>
                <a:spcPct val="0"/>
              </a:spcBef>
              <a:spcAft>
                <a:spcPct val="0"/>
              </a:spcAft>
              <a:buClrTx/>
              <a:buSzTx/>
              <a:tabLst/>
            </a:pPr>
            <a:r>
              <a:rPr lang="en-US" sz="1600" dirty="0">
                <a:latin typeface="+mn-lt"/>
              </a:rPr>
              <a:t> in the image.</a:t>
            </a:r>
          </a:p>
          <a:p>
            <a:pPr marL="0" marR="0" lvl="0" indent="0" algn="l" defTabSz="914400" rtl="0" eaLnBrk="0" fontAlgn="base" latinLnBrk="0" hangingPunct="0">
              <a:lnSpc>
                <a:spcPct val="100000"/>
              </a:lnSpc>
              <a:spcBef>
                <a:spcPct val="0"/>
              </a:spcBef>
              <a:spcAft>
                <a:spcPct val="0"/>
              </a:spcAft>
              <a:buClrTx/>
              <a:buSzTx/>
              <a:tabLst/>
            </a:pPr>
            <a:endParaRPr lang="en-US" sz="1600" dirty="0">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sz="1600" dirty="0">
                <a:latin typeface="+mn-lt"/>
              </a:rPr>
              <a:t>Document appears to be</a:t>
            </a:r>
          </a:p>
          <a:p>
            <a:pPr marL="0" marR="0" lvl="0" indent="0" algn="l" defTabSz="914400" rtl="0" eaLnBrk="0" fontAlgn="base" latinLnBrk="0" hangingPunct="0">
              <a:lnSpc>
                <a:spcPct val="100000"/>
              </a:lnSpc>
              <a:spcBef>
                <a:spcPct val="0"/>
              </a:spcBef>
              <a:spcAft>
                <a:spcPct val="0"/>
              </a:spcAft>
              <a:buClrTx/>
              <a:buSzTx/>
              <a:tabLst/>
            </a:pPr>
            <a:r>
              <a:rPr lang="en-US" sz="1600" dirty="0">
                <a:latin typeface="+mn-lt"/>
              </a:rPr>
              <a:t> a sample/template marked </a:t>
            </a:r>
          </a:p>
          <a:p>
            <a:pPr marL="0" marR="0" lvl="0" indent="0" algn="l" defTabSz="914400" rtl="0" eaLnBrk="0" fontAlgn="base" latinLnBrk="0" hangingPunct="0">
              <a:lnSpc>
                <a:spcPct val="100000"/>
              </a:lnSpc>
              <a:spcBef>
                <a:spcPct val="0"/>
              </a:spcBef>
              <a:spcAft>
                <a:spcPct val="0"/>
              </a:spcAft>
              <a:buClrTx/>
              <a:buSzTx/>
              <a:tabLst/>
            </a:pPr>
            <a:r>
              <a:rPr lang="en-US" sz="1600" b="1" dirty="0">
                <a:latin typeface="+mn-lt"/>
              </a:rPr>
              <a:t>“NOT ORIGINAL”, </a:t>
            </a:r>
            <a:r>
              <a:rPr lang="en-US" sz="1600" dirty="0">
                <a:latin typeface="+mn-lt"/>
              </a:rPr>
              <a:t>so </a:t>
            </a:r>
          </a:p>
          <a:p>
            <a:pPr marL="0" marR="0" lvl="0" indent="0" algn="l" defTabSz="914400" rtl="0" eaLnBrk="0" fontAlgn="base" latinLnBrk="0" hangingPunct="0">
              <a:lnSpc>
                <a:spcPct val="100000"/>
              </a:lnSpc>
              <a:spcBef>
                <a:spcPct val="0"/>
              </a:spcBef>
              <a:spcAft>
                <a:spcPct val="0"/>
              </a:spcAft>
              <a:buClrTx/>
              <a:buSzTx/>
              <a:tabLst/>
            </a:pPr>
            <a:r>
              <a:rPr lang="en-US" sz="1600" dirty="0">
                <a:latin typeface="+mn-lt"/>
              </a:rPr>
              <a:t>application is rejected.</a:t>
            </a:r>
            <a:endParaRPr kumimoji="0" lang="en-US" altLang="en-US" sz="160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30715040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8E151-9A04-4DED-976E-5E07575076D4}"/>
              </a:ext>
            </a:extLst>
          </p:cNvPr>
          <p:cNvSpPr txBox="1">
            <a:spLocks/>
          </p:cNvSpPr>
          <p:nvPr/>
        </p:nvSpPr>
        <p:spPr>
          <a:xfrm>
            <a:off x="446315" y="582388"/>
            <a:ext cx="8119383" cy="461665"/>
          </a:xfrm>
          <a:prstGeom prst="rect">
            <a:avLst/>
          </a:prstGeom>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000" b="1" dirty="0">
                <a:solidFill>
                  <a:srgbClr val="A20000"/>
                </a:solidFill>
                <a:latin typeface="Vodafone Rg" panose="020B0606080202020204" pitchFamily="34" charset="0"/>
              </a:rPr>
              <a:t>Result of our project -</a:t>
            </a:r>
          </a:p>
        </p:txBody>
      </p:sp>
      <p:sp>
        <p:nvSpPr>
          <p:cNvPr id="3" name="TextBox 2">
            <a:extLst>
              <a:ext uri="{FF2B5EF4-FFF2-40B4-BE49-F238E27FC236}">
                <a16:creationId xmlns:a16="http://schemas.microsoft.com/office/drawing/2014/main" id="{614FECC7-3018-4B0C-BAB4-6AB5E850069D}"/>
              </a:ext>
            </a:extLst>
          </p:cNvPr>
          <p:cNvSpPr txBox="1"/>
          <p:nvPr/>
        </p:nvSpPr>
        <p:spPr>
          <a:xfrm>
            <a:off x="0" y="1044053"/>
            <a:ext cx="7917035" cy="338554"/>
          </a:xfrm>
          <a:prstGeom prst="rect">
            <a:avLst/>
          </a:prstGeom>
          <a:noFill/>
        </p:spPr>
        <p:txBody>
          <a:bodyPr wrap="square">
            <a:spAutoFit/>
          </a:bodyPr>
          <a:lstStyle/>
          <a:p>
            <a:pPr marL="0" indent="0">
              <a:buNone/>
            </a:pPr>
            <a:r>
              <a:rPr lang="en-US" sz="1600" b="1" dirty="0"/>
              <a:t>      5. Application Submitted Successfully and Stored in All Applications Page</a:t>
            </a:r>
            <a:endParaRPr lang="en-IN" sz="1600" b="1" dirty="0"/>
          </a:p>
        </p:txBody>
      </p:sp>
      <p:pic>
        <p:nvPicPr>
          <p:cNvPr id="5" name="Picture 4">
            <a:extLst>
              <a:ext uri="{FF2B5EF4-FFF2-40B4-BE49-F238E27FC236}">
                <a16:creationId xmlns:a16="http://schemas.microsoft.com/office/drawing/2014/main" id="{78379430-5B06-4DCF-83E3-09B6720EB05C}"/>
              </a:ext>
            </a:extLst>
          </p:cNvPr>
          <p:cNvPicPr>
            <a:picLocks noChangeAspect="1"/>
          </p:cNvPicPr>
          <p:nvPr/>
        </p:nvPicPr>
        <p:blipFill>
          <a:blip r:embed="rId2"/>
          <a:stretch>
            <a:fillRect/>
          </a:stretch>
        </p:blipFill>
        <p:spPr>
          <a:xfrm>
            <a:off x="446315" y="1581818"/>
            <a:ext cx="8119383" cy="4910422"/>
          </a:xfrm>
          <a:prstGeom prst="rect">
            <a:avLst/>
          </a:prstGeom>
          <a:ln>
            <a:solidFill>
              <a:srgbClr val="E60000"/>
            </a:solidFill>
          </a:ln>
        </p:spPr>
      </p:pic>
      <p:sp>
        <p:nvSpPr>
          <p:cNvPr id="6" name="Rectangle 1">
            <a:extLst>
              <a:ext uri="{FF2B5EF4-FFF2-40B4-BE49-F238E27FC236}">
                <a16:creationId xmlns:a16="http://schemas.microsoft.com/office/drawing/2014/main" id="{D00DA970-53F7-4FA8-9D6C-7ED9A42A4FEB}"/>
              </a:ext>
            </a:extLst>
          </p:cNvPr>
          <p:cNvSpPr>
            <a:spLocks noChangeArrowheads="1"/>
          </p:cNvSpPr>
          <p:nvPr/>
        </p:nvSpPr>
        <p:spPr bwMode="auto">
          <a:xfrm>
            <a:off x="8929592" y="1876585"/>
            <a:ext cx="4294095"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mn-lt"/>
              </a:rPr>
              <a:t>   </a:t>
            </a:r>
            <a:r>
              <a:rPr lang="en-US" sz="1600" dirty="0">
                <a:latin typeface="+mn-lt"/>
              </a:rPr>
              <a:t>Displays a list of all </a:t>
            </a:r>
          </a:p>
          <a:p>
            <a:pPr marL="0" marR="0" lvl="0" indent="0" algn="l" defTabSz="914400" rtl="0" eaLnBrk="0" fontAlgn="base" latinLnBrk="0" hangingPunct="0">
              <a:lnSpc>
                <a:spcPct val="100000"/>
              </a:lnSpc>
              <a:spcBef>
                <a:spcPct val="0"/>
              </a:spcBef>
              <a:spcAft>
                <a:spcPct val="0"/>
              </a:spcAft>
              <a:buClrTx/>
              <a:buSzTx/>
              <a:tabLst/>
            </a:pPr>
            <a:r>
              <a:rPr lang="en-US" sz="1600" b="1" dirty="0">
                <a:latin typeface="+mn-lt"/>
              </a:rPr>
              <a:t>     submitted applications</a:t>
            </a:r>
          </a:p>
          <a:p>
            <a:pPr marL="0" marR="0" lvl="0" indent="0" algn="l" defTabSz="914400" rtl="0" eaLnBrk="0" fontAlgn="base" latinLnBrk="0" hangingPunct="0">
              <a:lnSpc>
                <a:spcPct val="100000"/>
              </a:lnSpc>
              <a:spcBef>
                <a:spcPct val="0"/>
              </a:spcBef>
              <a:spcAft>
                <a:spcPct val="0"/>
              </a:spcAft>
              <a:buClrTx/>
              <a:buSzTx/>
              <a:tabLst/>
            </a:pPr>
            <a:r>
              <a:rPr lang="en-US" sz="1600" dirty="0">
                <a:latin typeface="+mn-lt"/>
              </a:rPr>
              <a:t>     in the system.</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1"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mn-lt"/>
              </a:rPr>
              <a:t>   </a:t>
            </a:r>
            <a:r>
              <a:rPr lang="en-US" sz="1600" dirty="0">
                <a:latin typeface="+mn-lt"/>
              </a:rPr>
              <a:t>Each </a:t>
            </a:r>
            <a:r>
              <a:rPr lang="en-US" sz="1600" b="1" dirty="0">
                <a:latin typeface="+mn-lt"/>
              </a:rPr>
              <a:t>applicant’s name</a:t>
            </a:r>
          </a:p>
          <a:p>
            <a:pPr marL="0" marR="0" lvl="0" indent="0" algn="l" defTabSz="914400" rtl="0" eaLnBrk="0" fontAlgn="base" latinLnBrk="0" hangingPunct="0">
              <a:lnSpc>
                <a:spcPct val="100000"/>
              </a:lnSpc>
              <a:spcBef>
                <a:spcPct val="0"/>
              </a:spcBef>
              <a:spcAft>
                <a:spcPct val="0"/>
              </a:spcAft>
              <a:buClrTx/>
              <a:buSzTx/>
              <a:tabLst/>
            </a:pPr>
            <a:r>
              <a:rPr lang="en-US" sz="1600" dirty="0">
                <a:latin typeface="+mn-lt"/>
              </a:rPr>
              <a:t>     is clickable to </a:t>
            </a:r>
            <a:r>
              <a:rPr lang="en-US" sz="1600" b="1" dirty="0">
                <a:latin typeface="+mn-lt"/>
              </a:rPr>
              <a:t>view full</a:t>
            </a:r>
          </a:p>
          <a:p>
            <a:pPr marL="0" marR="0" lvl="0" indent="0" algn="l" defTabSz="914400" rtl="0" eaLnBrk="0" fontAlgn="base" latinLnBrk="0" hangingPunct="0">
              <a:lnSpc>
                <a:spcPct val="100000"/>
              </a:lnSpc>
              <a:spcBef>
                <a:spcPct val="0"/>
              </a:spcBef>
              <a:spcAft>
                <a:spcPct val="0"/>
              </a:spcAft>
              <a:buClrTx/>
              <a:buSzTx/>
              <a:tabLst/>
            </a:pPr>
            <a:r>
              <a:rPr lang="en-US" sz="1600" dirty="0">
                <a:latin typeface="+mn-lt"/>
              </a:rPr>
              <a:t>     </a:t>
            </a:r>
            <a:r>
              <a:rPr lang="en-US" sz="1600" b="1" dirty="0">
                <a:latin typeface="+mn-lt"/>
              </a:rPr>
              <a:t>details</a:t>
            </a:r>
            <a:r>
              <a:rPr lang="en-US" sz="1600" dirty="0">
                <a:latin typeface="+mn-lt"/>
              </a:rPr>
              <a:t> and </a:t>
            </a:r>
            <a:r>
              <a:rPr lang="en-US" sz="1600" b="1" dirty="0">
                <a:latin typeface="+mn-lt"/>
              </a:rPr>
              <a:t>verification status</a:t>
            </a:r>
            <a:r>
              <a:rPr lang="en-US" sz="1600" dirty="0">
                <a:latin typeface="+mn-lt"/>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mn-lt"/>
              </a:rPr>
              <a:t>   </a:t>
            </a:r>
            <a:r>
              <a:rPr lang="en-US" sz="1600" dirty="0">
                <a:latin typeface="+mn-lt"/>
              </a:rPr>
              <a:t>Helps admin </a:t>
            </a:r>
            <a:r>
              <a:rPr lang="en-US" sz="1600" b="1" dirty="0">
                <a:latin typeface="+mn-lt"/>
              </a:rPr>
              <a:t>review</a:t>
            </a:r>
            <a:r>
              <a:rPr lang="en-US" sz="1600" dirty="0">
                <a:latin typeface="+mn-lt"/>
              </a:rPr>
              <a:t>, </a:t>
            </a:r>
            <a:r>
              <a:rPr lang="en-US" sz="1600" b="1" dirty="0">
                <a:latin typeface="+mn-lt"/>
              </a:rPr>
              <a:t>track</a:t>
            </a:r>
            <a:r>
              <a:rPr lang="en-US" sz="1600" dirty="0">
                <a:latin typeface="+mn-lt"/>
              </a:rPr>
              <a:t>, </a:t>
            </a:r>
          </a:p>
          <a:p>
            <a:pPr marL="0" marR="0" lvl="0" indent="0" algn="l" defTabSz="914400" rtl="0" eaLnBrk="0" fontAlgn="base" latinLnBrk="0" hangingPunct="0">
              <a:lnSpc>
                <a:spcPct val="100000"/>
              </a:lnSpc>
              <a:spcBef>
                <a:spcPct val="0"/>
              </a:spcBef>
              <a:spcAft>
                <a:spcPct val="0"/>
              </a:spcAft>
              <a:buClrTx/>
              <a:buSzTx/>
              <a:tabLst/>
            </a:pPr>
            <a:r>
              <a:rPr lang="en-US" sz="1600" dirty="0">
                <a:latin typeface="+mn-lt"/>
              </a:rPr>
              <a:t>     and </a:t>
            </a:r>
            <a:r>
              <a:rPr lang="en-US" sz="1600" b="1" dirty="0">
                <a:latin typeface="+mn-lt"/>
              </a:rPr>
              <a:t>monitor fraud </a:t>
            </a:r>
          </a:p>
          <a:p>
            <a:pPr marL="0" marR="0" lvl="0" indent="0" algn="l" defTabSz="914400" rtl="0" eaLnBrk="0" fontAlgn="base" latinLnBrk="0" hangingPunct="0">
              <a:lnSpc>
                <a:spcPct val="100000"/>
              </a:lnSpc>
              <a:spcBef>
                <a:spcPct val="0"/>
              </a:spcBef>
              <a:spcAft>
                <a:spcPct val="0"/>
              </a:spcAft>
              <a:buClrTx/>
              <a:buSzTx/>
              <a:tabLst/>
            </a:pPr>
            <a:r>
              <a:rPr lang="en-US" sz="1600" dirty="0">
                <a:latin typeface="+mn-lt"/>
              </a:rPr>
              <a:t>     detection results.</a:t>
            </a:r>
          </a:p>
          <a:p>
            <a:pPr marL="0" marR="0" lvl="0" indent="0" algn="l" defTabSz="914400" rtl="0" eaLnBrk="0" fontAlgn="base" latinLnBrk="0" hangingPunct="0">
              <a:lnSpc>
                <a:spcPct val="100000"/>
              </a:lnSpc>
              <a:spcBef>
                <a:spcPct val="0"/>
              </a:spcBef>
              <a:spcAft>
                <a:spcPct val="0"/>
              </a:spcAft>
              <a:buClrTx/>
              <a:buSzTx/>
              <a:tabLst/>
            </a:pPr>
            <a:endParaRPr lang="en-US" sz="1600" dirty="0">
              <a:latin typeface="+mn-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1600" dirty="0">
                <a:latin typeface="+mn-lt"/>
              </a:rPr>
              <a:t>Shows </a:t>
            </a:r>
            <a:r>
              <a:rPr lang="en-US" sz="1600" b="1" dirty="0">
                <a:latin typeface="+mn-lt"/>
              </a:rPr>
              <a:t>success message</a:t>
            </a:r>
          </a:p>
          <a:p>
            <a:pPr marR="0" lvl="0" algn="l" defTabSz="914400" rtl="0" eaLnBrk="0" fontAlgn="base" latinLnBrk="0" hangingPunct="0">
              <a:lnSpc>
                <a:spcPct val="100000"/>
              </a:lnSpc>
              <a:spcBef>
                <a:spcPct val="0"/>
              </a:spcBef>
              <a:spcAft>
                <a:spcPct val="0"/>
              </a:spcAft>
              <a:buClrTx/>
              <a:buSzTx/>
              <a:tabLst/>
            </a:pPr>
            <a:r>
              <a:rPr lang="en-US" sz="1600" b="1" dirty="0">
                <a:latin typeface="+mn-lt"/>
              </a:rPr>
              <a:t>      </a:t>
            </a:r>
            <a:r>
              <a:rPr lang="en-US" sz="1600" dirty="0">
                <a:latin typeface="+mn-lt"/>
              </a:rPr>
              <a:t>after a new application</a:t>
            </a:r>
          </a:p>
          <a:p>
            <a:pPr marR="0" lvl="0" algn="l" defTabSz="914400" rtl="0" eaLnBrk="0" fontAlgn="base" latinLnBrk="0" hangingPunct="0">
              <a:lnSpc>
                <a:spcPct val="100000"/>
              </a:lnSpc>
              <a:spcBef>
                <a:spcPct val="0"/>
              </a:spcBef>
              <a:spcAft>
                <a:spcPct val="0"/>
              </a:spcAft>
              <a:buClrTx/>
              <a:buSzTx/>
              <a:tabLst/>
            </a:pPr>
            <a:r>
              <a:rPr lang="en-US" sz="1600" dirty="0">
                <a:latin typeface="+mn-lt"/>
              </a:rPr>
              <a:t>       is submitted.</a:t>
            </a:r>
            <a:endParaRPr kumimoji="0" lang="en-US" altLang="en-US" sz="160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838876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66F37-FBFD-45D1-A464-C4714E67B075}"/>
              </a:ext>
            </a:extLst>
          </p:cNvPr>
          <p:cNvSpPr txBox="1">
            <a:spLocks/>
          </p:cNvSpPr>
          <p:nvPr/>
        </p:nvSpPr>
        <p:spPr>
          <a:xfrm>
            <a:off x="446315" y="582388"/>
            <a:ext cx="8119383" cy="461665"/>
          </a:xfrm>
          <a:prstGeom prst="rect">
            <a:avLst/>
          </a:prstGeom>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000" b="1" dirty="0">
                <a:solidFill>
                  <a:srgbClr val="A20000"/>
                </a:solidFill>
                <a:latin typeface="Vodafone Rg" panose="020B0606080202020204" pitchFamily="34" charset="0"/>
              </a:rPr>
              <a:t>Result of our project -</a:t>
            </a:r>
          </a:p>
        </p:txBody>
      </p:sp>
      <p:sp>
        <p:nvSpPr>
          <p:cNvPr id="3" name="TextBox 16">
            <a:extLst>
              <a:ext uri="{FF2B5EF4-FFF2-40B4-BE49-F238E27FC236}">
                <a16:creationId xmlns:a16="http://schemas.microsoft.com/office/drawing/2014/main" id="{B505B613-927D-B1EA-DC60-472D615257E6}"/>
              </a:ext>
            </a:extLst>
          </p:cNvPr>
          <p:cNvSpPr txBox="1"/>
          <p:nvPr/>
        </p:nvSpPr>
        <p:spPr>
          <a:xfrm>
            <a:off x="446315" y="1156916"/>
            <a:ext cx="3189134"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b="1" dirty="0"/>
              <a:t>6. Blockchain Working</a:t>
            </a:r>
            <a:endParaRPr lang="en-IN" b="1" dirty="0"/>
          </a:p>
        </p:txBody>
      </p:sp>
      <p:pic>
        <p:nvPicPr>
          <p:cNvPr id="7" name="Picture 6">
            <a:extLst>
              <a:ext uri="{FF2B5EF4-FFF2-40B4-BE49-F238E27FC236}">
                <a16:creationId xmlns:a16="http://schemas.microsoft.com/office/drawing/2014/main" id="{E383596B-F441-49FC-971C-F3B96F16AF89}"/>
              </a:ext>
            </a:extLst>
          </p:cNvPr>
          <p:cNvPicPr>
            <a:picLocks noChangeAspect="1"/>
          </p:cNvPicPr>
          <p:nvPr/>
        </p:nvPicPr>
        <p:blipFill rotWithShape="1">
          <a:blip r:embed="rId2"/>
          <a:srcRect r="13553"/>
          <a:stretch/>
        </p:blipFill>
        <p:spPr>
          <a:xfrm>
            <a:off x="446315" y="1639111"/>
            <a:ext cx="7712165" cy="4792169"/>
          </a:xfrm>
          <a:prstGeom prst="rect">
            <a:avLst/>
          </a:prstGeom>
        </p:spPr>
      </p:pic>
      <p:sp>
        <p:nvSpPr>
          <p:cNvPr id="5" name="Rectangle 4">
            <a:extLst>
              <a:ext uri="{FF2B5EF4-FFF2-40B4-BE49-F238E27FC236}">
                <a16:creationId xmlns:a16="http://schemas.microsoft.com/office/drawing/2014/main" id="{4A6ADBF4-D8DC-457B-9CFD-7D508D747B86}"/>
              </a:ext>
            </a:extLst>
          </p:cNvPr>
          <p:cNvSpPr>
            <a:spLocks noChangeArrowheads="1"/>
          </p:cNvSpPr>
          <p:nvPr/>
        </p:nvSpPr>
        <p:spPr bwMode="auto">
          <a:xfrm>
            <a:off x="8746309" y="2193412"/>
            <a:ext cx="3189134"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rPr>
              <a:t>This screen shows the </a:t>
            </a:r>
            <a:r>
              <a:rPr kumimoji="0" lang="en-US" altLang="en-US" sz="1600" b="1" i="0" u="none" strike="noStrike" cap="none" normalizeH="0" baseline="0" dirty="0">
                <a:ln>
                  <a:noFill/>
                </a:ln>
                <a:solidFill>
                  <a:schemeClr val="tx1"/>
                </a:solidFill>
                <a:effectLst/>
              </a:rPr>
              <a:t>live blockchain ledger</a:t>
            </a:r>
            <a:r>
              <a:rPr kumimoji="0" lang="en-US" altLang="en-US" sz="1600" b="0" i="0" u="none" strike="noStrike" cap="none" normalizeH="0" baseline="0" dirty="0">
                <a:ln>
                  <a:noFill/>
                </a:ln>
                <a:solidFill>
                  <a:schemeClr val="tx1"/>
                </a:solidFill>
                <a:effectLst/>
              </a:rPr>
              <a:t> used in the </a:t>
            </a:r>
            <a:r>
              <a:rPr kumimoji="0" lang="en-US" altLang="en-US" sz="1600" b="0" i="0" u="none" strike="noStrike" cap="none" normalizeH="0" baseline="0" dirty="0" err="1">
                <a:ln>
                  <a:noFill/>
                </a:ln>
                <a:solidFill>
                  <a:schemeClr val="tx1"/>
                </a:solidFill>
                <a:effectLst/>
              </a:rPr>
              <a:t>FraudLens</a:t>
            </a:r>
            <a:r>
              <a:rPr kumimoji="0" lang="en-US" altLang="en-US" sz="1600" b="0" i="0" u="none" strike="noStrike" cap="none" normalizeH="0" baseline="0" dirty="0">
                <a:ln>
                  <a:noFill/>
                </a:ln>
                <a:solidFill>
                  <a:schemeClr val="tx1"/>
                </a:solidFill>
                <a:effectLst/>
              </a:rPr>
              <a:t> system.</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rPr>
              <a:t>Each application submission creates a </a:t>
            </a:r>
            <a:r>
              <a:rPr kumimoji="0" lang="en-US" altLang="en-US" sz="1600" b="1" i="0" u="none" strike="noStrike" cap="none" normalizeH="0" baseline="0" dirty="0">
                <a:ln>
                  <a:noFill/>
                </a:ln>
                <a:solidFill>
                  <a:schemeClr val="tx1"/>
                </a:solidFill>
                <a:effectLst/>
              </a:rPr>
              <a:t>new immutable block</a:t>
            </a:r>
            <a:r>
              <a:rPr kumimoji="0" lang="en-US" altLang="en-US" sz="1600" b="0" i="0" u="none" strike="noStrike" cap="none" normalizeH="0" baseline="0" dirty="0">
                <a:ln>
                  <a:noFill/>
                </a:ln>
                <a:solidFill>
                  <a:schemeClr val="tx1"/>
                </a:solidFill>
                <a:effectLst/>
              </a:rPr>
              <a:t> containing hashed Aadhaar and PAN details.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rPr>
              <a:t>The linkage of blocks using </a:t>
            </a:r>
            <a:r>
              <a:rPr kumimoji="0" lang="en-US" altLang="en-US" sz="1600" b="1" i="0" u="none" strike="noStrike" cap="none" normalizeH="0" baseline="0" dirty="0">
                <a:ln>
                  <a:noFill/>
                </a:ln>
                <a:solidFill>
                  <a:schemeClr val="tx1"/>
                </a:solidFill>
                <a:effectLst/>
              </a:rPr>
              <a:t>previous Hash</a:t>
            </a:r>
            <a:r>
              <a:rPr kumimoji="0" lang="en-US" altLang="en-US" sz="1600" b="0" i="0" u="none" strike="noStrike" cap="none" normalizeH="0" baseline="0" dirty="0">
                <a:ln>
                  <a:noFill/>
                </a:ln>
                <a:solidFill>
                  <a:schemeClr val="tx1"/>
                </a:solidFill>
                <a:effectLst/>
              </a:rPr>
              <a:t> ensures data cannot be altered, providing </a:t>
            </a:r>
            <a:r>
              <a:rPr kumimoji="0" lang="en-US" altLang="en-US" sz="1600" b="1" i="0" u="none" strike="noStrike" cap="none" normalizeH="0" baseline="0" dirty="0">
                <a:ln>
                  <a:noFill/>
                </a:ln>
                <a:solidFill>
                  <a:schemeClr val="tx1"/>
                </a:solidFill>
                <a:effectLst/>
              </a:rPr>
              <a:t>tamper-proof auditability</a:t>
            </a:r>
            <a:r>
              <a:rPr kumimoji="0" lang="en-US" altLang="en-US" sz="1600" b="0" i="0" u="none" strike="noStrike" cap="none" normalizeH="0" baseline="0" dirty="0">
                <a:ln>
                  <a:noFill/>
                </a:ln>
                <a:solidFill>
                  <a:schemeClr val="tx1"/>
                </a:solidFill>
                <a:effectLst/>
              </a:rPr>
              <a:t>.</a:t>
            </a:r>
          </a:p>
        </p:txBody>
      </p:sp>
    </p:spTree>
    <p:extLst>
      <p:ext uri="{BB962C8B-B14F-4D97-AF65-F5344CB8AC3E}">
        <p14:creationId xmlns:p14="http://schemas.microsoft.com/office/powerpoint/2010/main" val="38588886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4B673-3E50-4626-852A-4505A8FF652C}"/>
              </a:ext>
            </a:extLst>
          </p:cNvPr>
          <p:cNvSpPr txBox="1">
            <a:spLocks/>
          </p:cNvSpPr>
          <p:nvPr/>
        </p:nvSpPr>
        <p:spPr>
          <a:xfrm>
            <a:off x="446315" y="582388"/>
            <a:ext cx="8119383" cy="461665"/>
          </a:xfrm>
          <a:prstGeom prst="rect">
            <a:avLst/>
          </a:prstGeom>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000" b="1" dirty="0">
                <a:solidFill>
                  <a:srgbClr val="A20000"/>
                </a:solidFill>
                <a:latin typeface="Vodafone Rg" panose="020B0606080202020204" pitchFamily="34" charset="0"/>
              </a:rPr>
              <a:t>Result of our project -</a:t>
            </a:r>
          </a:p>
        </p:txBody>
      </p:sp>
      <p:sp>
        <p:nvSpPr>
          <p:cNvPr id="3" name="TextBox 16">
            <a:extLst>
              <a:ext uri="{FF2B5EF4-FFF2-40B4-BE49-F238E27FC236}">
                <a16:creationId xmlns:a16="http://schemas.microsoft.com/office/drawing/2014/main" id="{2ACFEC55-CBAA-4342-98A4-CEC610FB4D56}"/>
              </a:ext>
            </a:extLst>
          </p:cNvPr>
          <p:cNvSpPr txBox="1"/>
          <p:nvPr/>
        </p:nvSpPr>
        <p:spPr>
          <a:xfrm>
            <a:off x="446315" y="1156916"/>
            <a:ext cx="3189134"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b="1" dirty="0"/>
              <a:t>8. </a:t>
            </a:r>
            <a:r>
              <a:rPr lang="en-IN" b="1" dirty="0"/>
              <a:t>Application Details</a:t>
            </a:r>
          </a:p>
        </p:txBody>
      </p:sp>
      <p:pic>
        <p:nvPicPr>
          <p:cNvPr id="8" name="Picture 7">
            <a:extLst>
              <a:ext uri="{FF2B5EF4-FFF2-40B4-BE49-F238E27FC236}">
                <a16:creationId xmlns:a16="http://schemas.microsoft.com/office/drawing/2014/main" id="{7D8B54CA-627F-4CE8-A31F-560696DA6E45}"/>
              </a:ext>
            </a:extLst>
          </p:cNvPr>
          <p:cNvPicPr>
            <a:picLocks noChangeAspect="1"/>
          </p:cNvPicPr>
          <p:nvPr/>
        </p:nvPicPr>
        <p:blipFill rotWithShape="1">
          <a:blip r:embed="rId2"/>
          <a:srcRect t="2305" r="52522"/>
          <a:stretch/>
        </p:blipFill>
        <p:spPr>
          <a:xfrm>
            <a:off x="796364" y="1798320"/>
            <a:ext cx="6920052" cy="4151651"/>
          </a:xfrm>
          <a:prstGeom prst="rect">
            <a:avLst/>
          </a:prstGeom>
          <a:ln>
            <a:solidFill>
              <a:srgbClr val="E60000"/>
            </a:solidFill>
          </a:ln>
        </p:spPr>
      </p:pic>
      <p:sp>
        <p:nvSpPr>
          <p:cNvPr id="5" name="Rectangle 1">
            <a:extLst>
              <a:ext uri="{FF2B5EF4-FFF2-40B4-BE49-F238E27FC236}">
                <a16:creationId xmlns:a16="http://schemas.microsoft.com/office/drawing/2014/main" id="{4BBB103A-F4AC-4464-8DEA-5942175127BE}"/>
              </a:ext>
            </a:extLst>
          </p:cNvPr>
          <p:cNvSpPr>
            <a:spLocks noChangeArrowheads="1"/>
          </p:cNvSpPr>
          <p:nvPr/>
        </p:nvSpPr>
        <p:spPr bwMode="auto">
          <a:xfrm>
            <a:off x="8565698" y="1872965"/>
            <a:ext cx="4294095"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mn-lt"/>
              </a:rPr>
              <a:t>  </a:t>
            </a:r>
            <a:r>
              <a:rPr lang="en-US" sz="1600" dirty="0">
                <a:latin typeface="+mn-lt"/>
              </a:rPr>
              <a:t>Shows </a:t>
            </a:r>
            <a:r>
              <a:rPr lang="en-US" sz="1600" b="1" dirty="0">
                <a:latin typeface="+mn-lt"/>
              </a:rPr>
              <a:t>name,</a:t>
            </a:r>
            <a:r>
              <a:rPr lang="en-US" sz="1600" dirty="0">
                <a:latin typeface="+mn-lt"/>
              </a:rPr>
              <a:t> </a:t>
            </a:r>
            <a:r>
              <a:rPr lang="en-US" sz="1600" b="1" dirty="0">
                <a:latin typeface="+mn-lt"/>
              </a:rPr>
              <a:t>email</a:t>
            </a:r>
            <a:r>
              <a:rPr lang="en-US" sz="1600" dirty="0">
                <a:latin typeface="+mn-lt"/>
              </a:rPr>
              <a:t> and</a:t>
            </a:r>
          </a:p>
          <a:p>
            <a:pPr marL="0" marR="0" lvl="0" indent="0" algn="l" defTabSz="914400" rtl="0" eaLnBrk="0" fontAlgn="base" latinLnBrk="0" hangingPunct="0">
              <a:lnSpc>
                <a:spcPct val="100000"/>
              </a:lnSpc>
              <a:spcBef>
                <a:spcPct val="0"/>
              </a:spcBef>
              <a:spcAft>
                <a:spcPct val="0"/>
              </a:spcAft>
              <a:buClrTx/>
              <a:buSzTx/>
              <a:tabLst/>
            </a:pPr>
            <a:r>
              <a:rPr lang="en-US" sz="1600" dirty="0">
                <a:latin typeface="+mn-lt"/>
              </a:rPr>
              <a:t> </a:t>
            </a:r>
            <a:r>
              <a:rPr lang="en-US" sz="1600" b="1" dirty="0">
                <a:latin typeface="+mn-lt"/>
              </a:rPr>
              <a:t>mobile number </a:t>
            </a:r>
            <a:r>
              <a:rPr lang="en-US" sz="1600" dirty="0">
                <a:latin typeface="+mn-lt"/>
              </a:rPr>
              <a:t>of the</a:t>
            </a:r>
          </a:p>
          <a:p>
            <a:pPr marL="0" marR="0" lvl="0" indent="0" algn="l" defTabSz="914400" rtl="0" eaLnBrk="0" fontAlgn="base" latinLnBrk="0" hangingPunct="0">
              <a:lnSpc>
                <a:spcPct val="100000"/>
              </a:lnSpc>
              <a:spcBef>
                <a:spcPct val="0"/>
              </a:spcBef>
              <a:spcAft>
                <a:spcPct val="0"/>
              </a:spcAft>
              <a:buClrTx/>
              <a:buSzTx/>
              <a:tabLst/>
            </a:pPr>
            <a:r>
              <a:rPr lang="en-US" sz="1600" dirty="0">
                <a:latin typeface="+mn-lt"/>
              </a:rPr>
              <a:t> applicant.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1"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mn-lt"/>
              </a:rPr>
              <a:t>  </a:t>
            </a:r>
            <a:r>
              <a:rPr lang="en-US" sz="1600" dirty="0">
                <a:latin typeface="+mn-lt"/>
              </a:rPr>
              <a:t>Provides options to </a:t>
            </a:r>
          </a:p>
          <a:p>
            <a:pPr marL="0" marR="0" lvl="0" indent="0" algn="l" defTabSz="914400" rtl="0" eaLnBrk="0" fontAlgn="base" latinLnBrk="0" hangingPunct="0">
              <a:lnSpc>
                <a:spcPct val="100000"/>
              </a:lnSpc>
              <a:spcBef>
                <a:spcPct val="0"/>
              </a:spcBef>
              <a:spcAft>
                <a:spcPct val="0"/>
              </a:spcAft>
              <a:buClrTx/>
              <a:buSzTx/>
              <a:tabLst/>
            </a:pPr>
            <a:r>
              <a:rPr lang="en-US" sz="1600" dirty="0">
                <a:latin typeface="+mn-lt"/>
              </a:rPr>
              <a:t>view uploaded </a:t>
            </a:r>
          </a:p>
          <a:p>
            <a:pPr marL="0" marR="0" lvl="0" indent="0" algn="l" defTabSz="914400" rtl="0" eaLnBrk="0" fontAlgn="base" latinLnBrk="0" hangingPunct="0">
              <a:lnSpc>
                <a:spcPct val="100000"/>
              </a:lnSpc>
              <a:spcBef>
                <a:spcPct val="0"/>
              </a:spcBef>
              <a:spcAft>
                <a:spcPct val="0"/>
              </a:spcAft>
              <a:buClrTx/>
              <a:buSzTx/>
              <a:tabLst/>
            </a:pPr>
            <a:r>
              <a:rPr lang="en-US" sz="1600" b="1" dirty="0">
                <a:latin typeface="+mn-lt"/>
              </a:rPr>
              <a:t>Aadhaar</a:t>
            </a:r>
            <a:r>
              <a:rPr lang="en-US" sz="1600" dirty="0">
                <a:latin typeface="+mn-lt"/>
              </a:rPr>
              <a:t> and </a:t>
            </a:r>
            <a:r>
              <a:rPr lang="en-US" sz="1600" b="1" dirty="0">
                <a:latin typeface="+mn-lt"/>
              </a:rPr>
              <a:t>PAN</a:t>
            </a:r>
            <a:r>
              <a:rPr lang="en-US" sz="1600" dirty="0">
                <a:latin typeface="+mn-lt"/>
              </a:rPr>
              <a:t> card.</a:t>
            </a:r>
          </a:p>
          <a:p>
            <a:pPr marL="0" marR="0" lvl="0" indent="0" algn="l" defTabSz="914400" rtl="0" eaLnBrk="0" fontAlgn="base" latinLnBrk="0" hangingPunct="0">
              <a:lnSpc>
                <a:spcPct val="100000"/>
              </a:lnSpc>
              <a:spcBef>
                <a:spcPct val="0"/>
              </a:spcBef>
              <a:spcAft>
                <a:spcPct val="0"/>
              </a:spcAft>
              <a:buClrTx/>
              <a:buSzTx/>
              <a:tabLst/>
            </a:pPr>
            <a:endParaRPr lang="en-US" sz="1600" dirty="0">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sz="1600" b="1" dirty="0">
                <a:latin typeface="+mn-lt"/>
              </a:rPr>
              <a:t>“Cancel This Application”</a:t>
            </a:r>
          </a:p>
          <a:p>
            <a:pPr marL="0" marR="0" lvl="0" indent="0" algn="l" defTabSz="914400" rtl="0" eaLnBrk="0" fontAlgn="base" latinLnBrk="0" hangingPunct="0">
              <a:lnSpc>
                <a:spcPct val="100000"/>
              </a:lnSpc>
              <a:spcBef>
                <a:spcPct val="0"/>
              </a:spcBef>
              <a:spcAft>
                <a:spcPct val="0"/>
              </a:spcAft>
              <a:buClrTx/>
              <a:buSzTx/>
              <a:tabLst/>
            </a:pPr>
            <a:r>
              <a:rPr lang="en-US" sz="1600" dirty="0">
                <a:latin typeface="+mn-lt"/>
              </a:rPr>
              <a:t> button allows admin/user </a:t>
            </a:r>
          </a:p>
          <a:p>
            <a:pPr marL="0" marR="0" lvl="0" indent="0" algn="l" defTabSz="914400" rtl="0" eaLnBrk="0" fontAlgn="base" latinLnBrk="0" hangingPunct="0">
              <a:lnSpc>
                <a:spcPct val="100000"/>
              </a:lnSpc>
              <a:spcBef>
                <a:spcPct val="0"/>
              </a:spcBef>
              <a:spcAft>
                <a:spcPct val="0"/>
              </a:spcAft>
              <a:buClrTx/>
              <a:buSzTx/>
              <a:tabLst/>
            </a:pPr>
            <a:r>
              <a:rPr lang="en-US" sz="1600" dirty="0">
                <a:latin typeface="+mn-lt"/>
              </a:rPr>
              <a:t>to </a:t>
            </a:r>
            <a:r>
              <a:rPr lang="en-US" sz="1600" b="1" dirty="0">
                <a:latin typeface="+mn-lt"/>
              </a:rPr>
              <a:t>withdraw</a:t>
            </a:r>
            <a:r>
              <a:rPr lang="en-US" sz="1600" dirty="0">
                <a:latin typeface="+mn-lt"/>
              </a:rPr>
              <a:t> the application.</a:t>
            </a:r>
          </a:p>
          <a:p>
            <a:pPr marL="0" marR="0" lvl="0" indent="0" algn="l" defTabSz="914400" rtl="0" eaLnBrk="0" fontAlgn="base" latinLnBrk="0" hangingPunct="0">
              <a:lnSpc>
                <a:spcPct val="100000"/>
              </a:lnSpc>
              <a:spcBef>
                <a:spcPct val="0"/>
              </a:spcBef>
              <a:spcAft>
                <a:spcPct val="0"/>
              </a:spcAft>
              <a:buClrTx/>
              <a:buSzTx/>
              <a:tabLst/>
            </a:pPr>
            <a:endParaRPr lang="en-US" sz="1600" dirty="0">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sz="1600" dirty="0">
                <a:latin typeface="+mn-lt"/>
              </a:rPr>
              <a:t>Used for </a:t>
            </a:r>
            <a:r>
              <a:rPr lang="en-US" sz="1600" b="1" dirty="0">
                <a:latin typeface="+mn-lt"/>
              </a:rPr>
              <a:t>reviewing</a:t>
            </a:r>
            <a:r>
              <a:rPr lang="en-US" sz="1600" dirty="0">
                <a:latin typeface="+mn-lt"/>
              </a:rPr>
              <a:t> and</a:t>
            </a:r>
          </a:p>
          <a:p>
            <a:pPr marL="0" marR="0" lvl="0" indent="0" algn="l" defTabSz="914400" rtl="0" eaLnBrk="0" fontAlgn="base" latinLnBrk="0" hangingPunct="0">
              <a:lnSpc>
                <a:spcPct val="100000"/>
              </a:lnSpc>
              <a:spcBef>
                <a:spcPct val="0"/>
              </a:spcBef>
              <a:spcAft>
                <a:spcPct val="0"/>
              </a:spcAft>
              <a:buClrTx/>
              <a:buSzTx/>
              <a:tabLst/>
            </a:pPr>
            <a:r>
              <a:rPr lang="en-US" sz="1600" dirty="0">
                <a:latin typeface="+mn-lt"/>
              </a:rPr>
              <a:t> validating submitted </a:t>
            </a:r>
          </a:p>
          <a:p>
            <a:pPr marL="0" marR="0" lvl="0" indent="0" algn="l" defTabSz="914400" rtl="0" eaLnBrk="0" fontAlgn="base" latinLnBrk="0" hangingPunct="0">
              <a:lnSpc>
                <a:spcPct val="100000"/>
              </a:lnSpc>
              <a:spcBef>
                <a:spcPct val="0"/>
              </a:spcBef>
              <a:spcAft>
                <a:spcPct val="0"/>
              </a:spcAft>
              <a:buClrTx/>
              <a:buSzTx/>
              <a:tabLst/>
            </a:pPr>
            <a:r>
              <a:rPr lang="en-US" sz="1600" b="1" dirty="0">
                <a:latin typeface="+mn-lt"/>
              </a:rPr>
              <a:t>application details </a:t>
            </a:r>
            <a:r>
              <a:rPr lang="en-US" sz="1600" dirty="0">
                <a:latin typeface="+mn-lt"/>
              </a:rPr>
              <a:t>and </a:t>
            </a:r>
            <a:r>
              <a:rPr lang="en-US" sz="1600" b="1" dirty="0">
                <a:latin typeface="+mn-lt"/>
              </a:rPr>
              <a:t>document.</a:t>
            </a:r>
          </a:p>
        </p:txBody>
      </p:sp>
    </p:spTree>
    <p:extLst>
      <p:ext uri="{BB962C8B-B14F-4D97-AF65-F5344CB8AC3E}">
        <p14:creationId xmlns:p14="http://schemas.microsoft.com/office/powerpoint/2010/main" val="18017854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A9C04-D3C1-49D7-92FA-87FD7294ACDD}"/>
              </a:ext>
            </a:extLst>
          </p:cNvPr>
          <p:cNvSpPr txBox="1">
            <a:spLocks/>
          </p:cNvSpPr>
          <p:nvPr/>
        </p:nvSpPr>
        <p:spPr>
          <a:xfrm>
            <a:off x="446315" y="582388"/>
            <a:ext cx="8119383" cy="461665"/>
          </a:xfrm>
          <a:prstGeom prst="rect">
            <a:avLst/>
          </a:prstGeom>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000" b="1" dirty="0">
                <a:solidFill>
                  <a:srgbClr val="A20000"/>
                </a:solidFill>
                <a:latin typeface="Vodafone Rg" panose="020B0606080202020204" pitchFamily="34" charset="0"/>
              </a:rPr>
              <a:t>Result of our project -</a:t>
            </a:r>
          </a:p>
        </p:txBody>
      </p:sp>
      <p:sp>
        <p:nvSpPr>
          <p:cNvPr id="4" name="TextBox 16">
            <a:extLst>
              <a:ext uri="{FF2B5EF4-FFF2-40B4-BE49-F238E27FC236}">
                <a16:creationId xmlns:a16="http://schemas.microsoft.com/office/drawing/2014/main" id="{EF4B5FC9-428B-E345-25A5-5AD8A3CBD444}"/>
              </a:ext>
            </a:extLst>
          </p:cNvPr>
          <p:cNvSpPr txBox="1"/>
          <p:nvPr/>
        </p:nvSpPr>
        <p:spPr>
          <a:xfrm>
            <a:off x="383562" y="956756"/>
            <a:ext cx="3659520"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b="1" dirty="0"/>
              <a:t>9. Dashboard</a:t>
            </a:r>
            <a:endParaRPr lang="en-IN" b="1" dirty="0"/>
          </a:p>
        </p:txBody>
      </p:sp>
      <p:pic>
        <p:nvPicPr>
          <p:cNvPr id="5" name="Picture 4">
            <a:extLst>
              <a:ext uri="{FF2B5EF4-FFF2-40B4-BE49-F238E27FC236}">
                <a16:creationId xmlns:a16="http://schemas.microsoft.com/office/drawing/2014/main" id="{E7D57AC5-73FC-4876-88C4-B4759F05F2B9}"/>
              </a:ext>
            </a:extLst>
          </p:cNvPr>
          <p:cNvPicPr>
            <a:picLocks noChangeAspect="1"/>
          </p:cNvPicPr>
          <p:nvPr/>
        </p:nvPicPr>
        <p:blipFill>
          <a:blip r:embed="rId2"/>
          <a:stretch>
            <a:fillRect/>
          </a:stretch>
        </p:blipFill>
        <p:spPr>
          <a:xfrm>
            <a:off x="446315" y="1418421"/>
            <a:ext cx="8500461" cy="5045132"/>
          </a:xfrm>
          <a:prstGeom prst="rect">
            <a:avLst/>
          </a:prstGeom>
          <a:ln>
            <a:solidFill>
              <a:srgbClr val="A20000"/>
            </a:solidFill>
          </a:ln>
        </p:spPr>
      </p:pic>
      <p:sp>
        <p:nvSpPr>
          <p:cNvPr id="6" name="Rectangle 5">
            <a:extLst>
              <a:ext uri="{FF2B5EF4-FFF2-40B4-BE49-F238E27FC236}">
                <a16:creationId xmlns:a16="http://schemas.microsoft.com/office/drawing/2014/main" id="{D481D7B2-DF72-4DDF-9BAD-C708AF60A9CF}"/>
              </a:ext>
            </a:extLst>
          </p:cNvPr>
          <p:cNvSpPr>
            <a:spLocks noChangeArrowheads="1"/>
          </p:cNvSpPr>
          <p:nvPr/>
        </p:nvSpPr>
        <p:spPr bwMode="auto">
          <a:xfrm>
            <a:off x="9301340" y="1681291"/>
            <a:ext cx="2597713"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1600" dirty="0">
                <a:cs typeface="Arial" panose="020B0604020202020204" pitchFamily="34" charset="0"/>
              </a:rPr>
              <a:t>Displays </a:t>
            </a:r>
            <a:r>
              <a:rPr lang="en-US" sz="1600" b="1" dirty="0">
                <a:cs typeface="Arial" panose="020B0604020202020204" pitchFamily="34" charset="0"/>
              </a:rPr>
              <a:t>real-time statistics</a:t>
            </a:r>
            <a:r>
              <a:rPr lang="en-US" sz="1600" dirty="0">
                <a:cs typeface="Arial" panose="020B0604020202020204" pitchFamily="34" charset="0"/>
              </a:rPr>
              <a:t> of total applications submitted in the system</a:t>
            </a:r>
          </a:p>
          <a:p>
            <a:pPr marL="285750" indent="-285750">
              <a:buFont typeface="Arial" panose="020B0604020202020204" pitchFamily="34" charset="0"/>
              <a:buChar char="•"/>
            </a:pPr>
            <a:endParaRPr lang="en-US" sz="1600" dirty="0">
              <a:cs typeface="Arial" panose="020B0604020202020204" pitchFamily="34" charset="0"/>
            </a:endParaRPr>
          </a:p>
          <a:p>
            <a:pPr marL="285750" indent="-285750">
              <a:buFont typeface="Arial" panose="020B0604020202020204" pitchFamily="34" charset="0"/>
              <a:buChar char="•"/>
            </a:pPr>
            <a:r>
              <a:rPr lang="en-US" sz="1600" dirty="0">
                <a:cs typeface="Arial" panose="020B0604020202020204" pitchFamily="34" charset="0"/>
              </a:rPr>
              <a:t>Shows the number of </a:t>
            </a:r>
            <a:r>
              <a:rPr lang="en-US" sz="1600" b="1" dirty="0">
                <a:cs typeface="Arial" panose="020B0604020202020204" pitchFamily="34" charset="0"/>
              </a:rPr>
              <a:t>fraud cases detected </a:t>
            </a:r>
            <a:r>
              <a:rPr lang="en-US" sz="1600" dirty="0">
                <a:cs typeface="Arial" panose="020B0604020202020204" pitchFamily="34" charset="0"/>
              </a:rPr>
              <a:t>to help </a:t>
            </a:r>
            <a:r>
              <a:rPr lang="en-US" sz="1600" b="1" dirty="0">
                <a:cs typeface="Arial" panose="020B0604020202020204" pitchFamily="34" charset="0"/>
              </a:rPr>
              <a:t>authorities monitor misuse</a:t>
            </a:r>
          </a:p>
          <a:p>
            <a:pPr marL="285750" indent="-285750">
              <a:buFont typeface="Arial" panose="020B0604020202020204" pitchFamily="34" charset="0"/>
              <a:buChar char="•"/>
            </a:pPr>
            <a:endParaRPr lang="en-US" sz="1600" b="1" dirty="0">
              <a:cs typeface="Arial" panose="020B0604020202020204" pitchFamily="34" charset="0"/>
            </a:endParaRPr>
          </a:p>
          <a:p>
            <a:pPr marL="285750" indent="-285750">
              <a:buFont typeface="Arial" panose="020B0604020202020204" pitchFamily="34" charset="0"/>
              <a:buChar char="•"/>
            </a:pPr>
            <a:r>
              <a:rPr lang="en-IN" sz="1600" dirty="0"/>
              <a:t>It shows total </a:t>
            </a:r>
            <a:r>
              <a:rPr lang="en-IN" sz="1600" b="1" dirty="0"/>
              <a:t>tampered documents</a:t>
            </a:r>
            <a:r>
              <a:rPr lang="en-IN" sz="1600" dirty="0"/>
              <a:t> identified</a:t>
            </a:r>
            <a:endParaRPr lang="en-US" sz="1600" b="1" dirty="0">
              <a:cs typeface="Arial" panose="020B0604020202020204" pitchFamily="34" charset="0"/>
            </a:endParaRPr>
          </a:p>
          <a:p>
            <a:pPr marL="285750" indent="-285750">
              <a:buFont typeface="Arial" panose="020B0604020202020204" pitchFamily="34" charset="0"/>
              <a:buChar char="•"/>
            </a:pPr>
            <a:endParaRPr lang="en-US" sz="1600" dirty="0">
              <a:cs typeface="Arial" panose="020B0604020202020204" pitchFamily="34" charset="0"/>
            </a:endParaRPr>
          </a:p>
          <a:p>
            <a:pPr marL="285750" indent="-285750">
              <a:buFont typeface="Arial" panose="020B0604020202020204" pitchFamily="34" charset="0"/>
              <a:buChar char="•"/>
            </a:pPr>
            <a:r>
              <a:rPr lang="en-US" sz="1600" dirty="0">
                <a:cs typeface="Arial" panose="020B0604020202020204" pitchFamily="34" charset="0"/>
              </a:rPr>
              <a:t>Tracks total </a:t>
            </a:r>
            <a:r>
              <a:rPr lang="en-US" sz="1600" b="1" dirty="0">
                <a:cs typeface="Arial" panose="020B0604020202020204" pitchFamily="34" charset="0"/>
              </a:rPr>
              <a:t>blockchain blocks</a:t>
            </a:r>
            <a:r>
              <a:rPr lang="en-US" sz="1600" dirty="0">
                <a:cs typeface="Arial" panose="020B0604020202020204" pitchFamily="34" charset="0"/>
              </a:rPr>
              <a:t> to reflect </a:t>
            </a:r>
            <a:r>
              <a:rPr lang="en-US" sz="1600" b="1" dirty="0">
                <a:cs typeface="Arial" panose="020B0604020202020204" pitchFamily="34" charset="0"/>
              </a:rPr>
              <a:t>transparency and immutable records</a:t>
            </a:r>
          </a:p>
        </p:txBody>
      </p:sp>
    </p:spTree>
    <p:extLst>
      <p:ext uri="{BB962C8B-B14F-4D97-AF65-F5344CB8AC3E}">
        <p14:creationId xmlns:p14="http://schemas.microsoft.com/office/powerpoint/2010/main" val="16017079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flipH="1">
            <a:off x="8928735" y="1747449"/>
            <a:ext cx="2817049" cy="4225573"/>
          </a:xfrm>
          <a:prstGeom prst="rect">
            <a:avLst/>
          </a:prstGeom>
          <a:noFill/>
          <a:ln>
            <a:noFill/>
          </a:ln>
        </p:spPr>
      </p:pic>
      <p:sp>
        <p:nvSpPr>
          <p:cNvPr id="4" name="Title 1">
            <a:extLst>
              <a:ext uri="{FF2B5EF4-FFF2-40B4-BE49-F238E27FC236}">
                <a16:creationId xmlns:a16="http://schemas.microsoft.com/office/drawing/2014/main" id="{DBAC5F37-FC39-28B6-1CB0-135F2372259F}"/>
              </a:ext>
            </a:extLst>
          </p:cNvPr>
          <p:cNvSpPr txBox="1">
            <a:spLocks/>
          </p:cNvSpPr>
          <p:nvPr/>
        </p:nvSpPr>
        <p:spPr>
          <a:xfrm>
            <a:off x="446315" y="582388"/>
            <a:ext cx="8011885" cy="461665"/>
          </a:xfrm>
          <a:prstGeom prst="rect">
            <a:avLst/>
          </a:prstGeom>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000" b="1" dirty="0">
                <a:solidFill>
                  <a:srgbClr val="A20000"/>
                </a:solidFill>
                <a:latin typeface="Vodafone Rg" panose="020B0606080202020204" pitchFamily="34" charset="0"/>
              </a:rPr>
              <a:t>Role of Agentic AI and Gen AI in the solution </a:t>
            </a:r>
          </a:p>
        </p:txBody>
      </p:sp>
      <p:sp>
        <p:nvSpPr>
          <p:cNvPr id="5" name="TextBox 4">
            <a:extLst>
              <a:ext uri="{FF2B5EF4-FFF2-40B4-BE49-F238E27FC236}">
                <a16:creationId xmlns:a16="http://schemas.microsoft.com/office/drawing/2014/main" id="{DA53103C-9894-6F78-414E-FCF51F545C0D}"/>
              </a:ext>
            </a:extLst>
          </p:cNvPr>
          <p:cNvSpPr txBox="1"/>
          <p:nvPr/>
        </p:nvSpPr>
        <p:spPr>
          <a:xfrm>
            <a:off x="327464" y="1513731"/>
            <a:ext cx="8119383" cy="4154984"/>
          </a:xfrm>
          <a:prstGeom prst="rect">
            <a:avLst/>
          </a:prstGeom>
          <a:noFill/>
        </p:spPr>
        <p:txBody>
          <a:bodyPr wrap="square" rtlCol="0">
            <a:spAutoFit/>
          </a:bodyPr>
          <a:lstStyle/>
          <a:p>
            <a:r>
              <a:rPr lang="en-IN" sz="2000" b="1" dirty="0">
                <a:latin typeface="+mn-lt"/>
              </a:rPr>
              <a:t>Role of Generative AI</a:t>
            </a:r>
          </a:p>
          <a:p>
            <a:endParaRPr lang="en-IN" sz="2000" dirty="0"/>
          </a:p>
          <a:p>
            <a:pPr marL="285750" indent="-285750">
              <a:buFont typeface="Arial" panose="020B0604020202020204" pitchFamily="34" charset="0"/>
              <a:buChar char="•"/>
            </a:pPr>
            <a:r>
              <a:rPr lang="en-US" sz="1600" dirty="0">
                <a:latin typeface="+mn-lt"/>
              </a:rPr>
              <a:t>Analyzes uploaded Aadhaar and PAN card images.</a:t>
            </a:r>
          </a:p>
          <a:p>
            <a:pPr marL="285750" indent="-285750">
              <a:buFont typeface="Arial" panose="020B0604020202020204" pitchFamily="34" charset="0"/>
              <a:buChar char="•"/>
            </a:pPr>
            <a:r>
              <a:rPr lang="en-IN" sz="1600" dirty="0">
                <a:latin typeface="+mn-lt"/>
              </a:rPr>
              <a:t>Detects document tampering or digital manipulation.</a:t>
            </a:r>
          </a:p>
          <a:p>
            <a:pPr marL="285750" indent="-285750">
              <a:buFont typeface="Arial" panose="020B0604020202020204" pitchFamily="34" charset="0"/>
              <a:buChar char="•"/>
            </a:pPr>
            <a:r>
              <a:rPr lang="en-IN" sz="1600" dirty="0">
                <a:latin typeface="+mn-lt"/>
              </a:rPr>
              <a:t>Extracts document details (number, type) from images.</a:t>
            </a:r>
          </a:p>
          <a:p>
            <a:pPr marL="285750" indent="-285750">
              <a:buFont typeface="Arial" panose="020B0604020202020204" pitchFamily="34" charset="0"/>
              <a:buChar char="•"/>
            </a:pPr>
            <a:r>
              <a:rPr lang="en-US" sz="1600" dirty="0">
                <a:latin typeface="+mn-lt"/>
              </a:rPr>
              <a:t>Generates structured verification results (tampered, confidence score, reason).</a:t>
            </a:r>
          </a:p>
          <a:p>
            <a:endParaRPr lang="en-IN" sz="1600" dirty="0">
              <a:latin typeface="+mn-lt"/>
            </a:endParaRPr>
          </a:p>
          <a:p>
            <a:endParaRPr lang="en-IN" sz="2000" dirty="0">
              <a:latin typeface="+mn-lt"/>
            </a:endParaRPr>
          </a:p>
          <a:p>
            <a:r>
              <a:rPr lang="en-IN" sz="2000" b="1" dirty="0">
                <a:latin typeface="+mn-lt"/>
              </a:rPr>
              <a:t>Role of Agentic AI</a:t>
            </a:r>
          </a:p>
          <a:p>
            <a:endParaRPr lang="en-IN" sz="2000" dirty="0"/>
          </a:p>
          <a:p>
            <a:pPr marL="342900" indent="-342900">
              <a:buFont typeface="Arial" panose="020B0604020202020204" pitchFamily="34" charset="0"/>
              <a:buChar char="•"/>
            </a:pPr>
            <a:r>
              <a:rPr lang="en-IN" sz="1600" dirty="0">
                <a:latin typeface="+mn-lt"/>
              </a:rPr>
              <a:t>Automates multi-step verification process (validation → AI check → duplicate check → fraud flag).</a:t>
            </a:r>
          </a:p>
          <a:p>
            <a:pPr marL="342900" indent="-342900">
              <a:buFont typeface="Arial" panose="020B0604020202020204" pitchFamily="34" charset="0"/>
              <a:buChar char="•"/>
            </a:pPr>
            <a:r>
              <a:rPr lang="en-US" sz="1600" dirty="0">
                <a:latin typeface="+mn-lt"/>
              </a:rPr>
              <a:t>Continuously monitors repeated attempts from same IP/device.</a:t>
            </a:r>
          </a:p>
          <a:p>
            <a:pPr marL="342900" indent="-342900">
              <a:buFont typeface="Arial" panose="020B0604020202020204" pitchFamily="34" charset="0"/>
              <a:buChar char="•"/>
            </a:pPr>
            <a:r>
              <a:rPr lang="en-US" sz="1600" dirty="0">
                <a:latin typeface="+mn-lt"/>
              </a:rPr>
              <a:t>Assigns dynamic fraud risk status based on behavior patterns.</a:t>
            </a:r>
          </a:p>
          <a:p>
            <a:pPr marL="342900" indent="-342900">
              <a:buFont typeface="Arial" panose="020B0604020202020204" pitchFamily="34" charset="0"/>
              <a:buChar char="•"/>
            </a:pPr>
            <a:r>
              <a:rPr lang="en-US" sz="1600" dirty="0">
                <a:latin typeface="+mn-lt"/>
              </a:rPr>
              <a:t>Assigns dynamic fraud risk status based on behavior patterns.</a:t>
            </a:r>
            <a:endParaRPr lang="en-IN" sz="1600" dirty="0">
              <a:latin typeface="+mn-l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416CE90F-71E3-21D0-BA78-91A9113233C5}"/>
            </a:ext>
          </a:extLst>
        </p:cNvPr>
        <p:cNvGrpSpPr/>
        <p:nvPr/>
      </p:nvGrpSpPr>
      <p:grpSpPr>
        <a:xfrm>
          <a:off x="0" y="0"/>
          <a:ext cx="0" cy="0"/>
          <a:chOff x="0" y="0"/>
          <a:chExt cx="0" cy="0"/>
        </a:xfrm>
      </p:grpSpPr>
      <p:grpSp>
        <p:nvGrpSpPr>
          <p:cNvPr id="272" name="Group 271">
            <a:extLst>
              <a:ext uri="{FF2B5EF4-FFF2-40B4-BE49-F238E27FC236}">
                <a16:creationId xmlns:a16="http://schemas.microsoft.com/office/drawing/2014/main" id="{5A0F0C55-C4ED-73D3-F786-5FA02ACE6D68}"/>
              </a:ext>
            </a:extLst>
          </p:cNvPr>
          <p:cNvGrpSpPr/>
          <p:nvPr/>
        </p:nvGrpSpPr>
        <p:grpSpPr>
          <a:xfrm>
            <a:off x="364675" y="684633"/>
            <a:ext cx="11462650" cy="5488733"/>
            <a:chOff x="457200" y="1257300"/>
            <a:chExt cx="11462650" cy="4850474"/>
          </a:xfrm>
        </p:grpSpPr>
        <p:sp>
          <p:nvSpPr>
            <p:cNvPr id="3" name="AutoShape 2">
              <a:extLst>
                <a:ext uri="{FF2B5EF4-FFF2-40B4-BE49-F238E27FC236}">
                  <a16:creationId xmlns:a16="http://schemas.microsoft.com/office/drawing/2014/main" id="{0A3E513C-EA69-9F5E-4AB9-61B5939A5789}"/>
                </a:ext>
              </a:extLst>
            </p:cNvPr>
            <p:cNvSpPr/>
            <p:nvPr/>
          </p:nvSpPr>
          <p:spPr>
            <a:xfrm>
              <a:off x="1828009" y="2114155"/>
              <a:ext cx="8742020" cy="31219"/>
            </a:xfrm>
            <a:prstGeom prst="line">
              <a:avLst/>
            </a:prstGeom>
            <a:ln w="47625" cap="flat">
              <a:solidFill>
                <a:srgbClr val="8D9193"/>
              </a:solidFill>
              <a:prstDash val="sysDot"/>
              <a:headEnd type="none" w="sm" len="sm"/>
              <a:tailEnd type="none" w="sm" len="sm"/>
            </a:ln>
          </p:spPr>
          <p:txBody>
            <a:bodyPr/>
            <a:lstStyle/>
            <a:p>
              <a:endParaRPr lang="en-US"/>
            </a:p>
          </p:txBody>
        </p:sp>
        <p:grpSp>
          <p:nvGrpSpPr>
            <p:cNvPr id="32" name="Group 31">
              <a:extLst>
                <a:ext uri="{FF2B5EF4-FFF2-40B4-BE49-F238E27FC236}">
                  <a16:creationId xmlns:a16="http://schemas.microsoft.com/office/drawing/2014/main" id="{7CD06130-FE37-5A28-174A-727A7CC9FF81}"/>
                </a:ext>
              </a:extLst>
            </p:cNvPr>
            <p:cNvGrpSpPr/>
            <p:nvPr/>
          </p:nvGrpSpPr>
          <p:grpSpPr>
            <a:xfrm>
              <a:off x="1572683" y="2151799"/>
              <a:ext cx="468690" cy="1528270"/>
              <a:chOff x="1779397" y="2456804"/>
              <a:chExt cx="468690" cy="1528270"/>
            </a:xfrm>
          </p:grpSpPr>
          <p:sp>
            <p:nvSpPr>
              <p:cNvPr id="7" name="AutoShape 8">
                <a:extLst>
                  <a:ext uri="{FF2B5EF4-FFF2-40B4-BE49-F238E27FC236}">
                    <a16:creationId xmlns:a16="http://schemas.microsoft.com/office/drawing/2014/main" id="{6F80D0C8-83C8-34E1-8C69-114DE2824A50}"/>
                  </a:ext>
                </a:extLst>
              </p:cNvPr>
              <p:cNvSpPr/>
              <p:nvPr/>
            </p:nvSpPr>
            <p:spPr>
              <a:xfrm flipV="1">
                <a:off x="2013742" y="2456804"/>
                <a:ext cx="0" cy="1296981"/>
              </a:xfrm>
              <a:prstGeom prst="line">
                <a:avLst/>
              </a:prstGeom>
              <a:ln w="47625" cap="flat">
                <a:solidFill>
                  <a:srgbClr val="8D9193"/>
                </a:solidFill>
                <a:prstDash val="sysDot"/>
                <a:headEnd type="none" w="sm" len="sm"/>
                <a:tailEnd type="none" w="sm" len="sm"/>
              </a:ln>
            </p:spPr>
            <p:txBody>
              <a:bodyPr/>
              <a:lstStyle/>
              <a:p>
                <a:endParaRPr lang="en-US"/>
              </a:p>
            </p:txBody>
          </p:sp>
          <p:grpSp>
            <p:nvGrpSpPr>
              <p:cNvPr id="14" name="Group 15">
                <a:extLst>
                  <a:ext uri="{FF2B5EF4-FFF2-40B4-BE49-F238E27FC236}">
                    <a16:creationId xmlns:a16="http://schemas.microsoft.com/office/drawing/2014/main" id="{B7EE4523-D724-BA6A-443F-0290938CC9C4}"/>
                  </a:ext>
                </a:extLst>
              </p:cNvPr>
              <p:cNvGrpSpPr/>
              <p:nvPr/>
            </p:nvGrpSpPr>
            <p:grpSpPr>
              <a:xfrm rot="-10800000">
                <a:off x="1779397" y="3623616"/>
                <a:ext cx="468690" cy="361458"/>
                <a:chOff x="0" y="0"/>
                <a:chExt cx="922188" cy="711200"/>
              </a:xfrm>
            </p:grpSpPr>
            <p:sp>
              <p:nvSpPr>
                <p:cNvPr id="15" name="Freeform 16">
                  <a:extLst>
                    <a:ext uri="{FF2B5EF4-FFF2-40B4-BE49-F238E27FC236}">
                      <a16:creationId xmlns:a16="http://schemas.microsoft.com/office/drawing/2014/main" id="{871B3BBB-F30C-54B1-2CC6-0CED0C2440EF}"/>
                    </a:ext>
                  </a:extLst>
                </p:cNvPr>
                <p:cNvSpPr/>
                <p:nvPr/>
              </p:nvSpPr>
              <p:spPr>
                <a:xfrm>
                  <a:off x="75415" y="89768"/>
                  <a:ext cx="771359" cy="621432"/>
                </a:xfrm>
                <a:custGeom>
                  <a:avLst/>
                  <a:gdLst/>
                  <a:ahLst/>
                  <a:cxnLst/>
                  <a:rect l="l" t="t" r="r" b="b"/>
                  <a:pathLst>
                    <a:path w="771359" h="621432">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txBody>
                <a:bodyPr/>
                <a:lstStyle/>
                <a:p>
                  <a:endParaRPr lang="en-US"/>
                </a:p>
              </p:txBody>
            </p:sp>
            <p:sp>
              <p:nvSpPr>
                <p:cNvPr id="16" name="TextBox 17">
                  <a:extLst>
                    <a:ext uri="{FF2B5EF4-FFF2-40B4-BE49-F238E27FC236}">
                      <a16:creationId xmlns:a16="http://schemas.microsoft.com/office/drawing/2014/main" id="{30C12B85-4224-F44F-3211-CE60E766CF75}"/>
                    </a:ext>
                  </a:extLst>
                </p:cNvPr>
                <p:cNvSpPr txBox="1"/>
                <p:nvPr/>
              </p:nvSpPr>
              <p:spPr>
                <a:xfrm>
                  <a:off x="144092" y="292100"/>
                  <a:ext cx="634004" cy="368300"/>
                </a:xfrm>
                <a:prstGeom prst="rect">
                  <a:avLst/>
                </a:prstGeom>
              </p:spPr>
              <p:txBody>
                <a:bodyPr lIns="50800" tIns="50800" rIns="50800" bIns="50800" rtlCol="0" anchor="ctr"/>
                <a:lstStyle/>
                <a:p>
                  <a:pPr algn="ctr">
                    <a:lnSpc>
                      <a:spcPts val="2756"/>
                    </a:lnSpc>
                  </a:pPr>
                  <a:endParaRPr/>
                </a:p>
              </p:txBody>
            </p:sp>
          </p:grpSp>
        </p:grpSp>
        <p:sp>
          <p:nvSpPr>
            <p:cNvPr id="10" name="TextBox 11">
              <a:extLst>
                <a:ext uri="{FF2B5EF4-FFF2-40B4-BE49-F238E27FC236}">
                  <a16:creationId xmlns:a16="http://schemas.microsoft.com/office/drawing/2014/main" id="{DDF31A0C-77BF-EFF2-B1CE-8DA07D90F38C}"/>
                </a:ext>
              </a:extLst>
            </p:cNvPr>
            <p:cNvSpPr txBox="1"/>
            <p:nvPr/>
          </p:nvSpPr>
          <p:spPr>
            <a:xfrm>
              <a:off x="598832" y="4067360"/>
              <a:ext cx="2917136" cy="1399818"/>
            </a:xfrm>
            <a:prstGeom prst="rect">
              <a:avLst/>
            </a:prstGeom>
          </p:spPr>
          <p:txBody>
            <a:bodyPr lIns="50800" tIns="50800" rIns="50800" bIns="50800" rtlCol="0" anchor="ctr"/>
            <a:lstStyle/>
            <a:p>
              <a:pPr algn="ctr">
                <a:lnSpc>
                  <a:spcPts val="2659"/>
                </a:lnSpc>
                <a:spcBef>
                  <a:spcPct val="0"/>
                </a:spcBef>
              </a:pPr>
              <a:endParaRPr/>
            </a:p>
          </p:txBody>
        </p:sp>
        <p:grpSp>
          <p:nvGrpSpPr>
            <p:cNvPr id="264" name="Group 263">
              <a:extLst>
                <a:ext uri="{FF2B5EF4-FFF2-40B4-BE49-F238E27FC236}">
                  <a16:creationId xmlns:a16="http://schemas.microsoft.com/office/drawing/2014/main" id="{F3F7E365-9D38-5677-7432-BDFD7217AEB3}"/>
                </a:ext>
              </a:extLst>
            </p:cNvPr>
            <p:cNvGrpSpPr/>
            <p:nvPr/>
          </p:nvGrpSpPr>
          <p:grpSpPr>
            <a:xfrm>
              <a:off x="457200" y="3695947"/>
              <a:ext cx="2656106" cy="2400053"/>
              <a:chOff x="457200" y="3695947"/>
              <a:chExt cx="2656106" cy="2400053"/>
            </a:xfrm>
          </p:grpSpPr>
          <p:sp>
            <p:nvSpPr>
              <p:cNvPr id="43" name="Rectangle: Rounded Corners 42">
                <a:extLst>
                  <a:ext uri="{FF2B5EF4-FFF2-40B4-BE49-F238E27FC236}">
                    <a16:creationId xmlns:a16="http://schemas.microsoft.com/office/drawing/2014/main" id="{6218766B-427A-8F11-3719-323D25F6AB5B}"/>
                  </a:ext>
                </a:extLst>
              </p:cNvPr>
              <p:cNvSpPr/>
              <p:nvPr/>
            </p:nvSpPr>
            <p:spPr>
              <a:xfrm>
                <a:off x="457200" y="4272889"/>
                <a:ext cx="2656106" cy="1823111"/>
              </a:xfrm>
              <a:prstGeom prst="roundRect">
                <a:avLst>
                  <a:gd name="adj" fmla="val 12163"/>
                </a:avLst>
              </a:prstGeom>
              <a:solidFill>
                <a:srgbClr val="EAE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 name="Group 12">
                <a:extLst>
                  <a:ext uri="{FF2B5EF4-FFF2-40B4-BE49-F238E27FC236}">
                    <a16:creationId xmlns:a16="http://schemas.microsoft.com/office/drawing/2014/main" id="{85D85324-4782-DA38-3181-939FE970DF09}"/>
                  </a:ext>
                </a:extLst>
              </p:cNvPr>
              <p:cNvGrpSpPr/>
              <p:nvPr/>
            </p:nvGrpSpPr>
            <p:grpSpPr>
              <a:xfrm>
                <a:off x="1415368" y="3695947"/>
                <a:ext cx="739770" cy="739770"/>
                <a:chOff x="0" y="0"/>
                <a:chExt cx="812800" cy="812800"/>
              </a:xfrm>
            </p:grpSpPr>
            <p:sp>
              <p:nvSpPr>
                <p:cNvPr id="12" name="Freeform 13">
                  <a:extLst>
                    <a:ext uri="{FF2B5EF4-FFF2-40B4-BE49-F238E27FC236}">
                      <a16:creationId xmlns:a16="http://schemas.microsoft.com/office/drawing/2014/main" id="{00CE095B-0352-5A86-8F44-BFF62C7F233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txBody>
                <a:bodyPr/>
                <a:lstStyle/>
                <a:p>
                  <a:endParaRPr lang="en-US"/>
                </a:p>
              </p:txBody>
            </p:sp>
            <p:sp>
              <p:nvSpPr>
                <p:cNvPr id="13" name="TextBox 14">
                  <a:extLst>
                    <a:ext uri="{FF2B5EF4-FFF2-40B4-BE49-F238E27FC236}">
                      <a16:creationId xmlns:a16="http://schemas.microsoft.com/office/drawing/2014/main" id="{6B67DE5C-1244-20F1-4D7E-9934E36B209E}"/>
                    </a:ext>
                  </a:extLst>
                </p:cNvPr>
                <p:cNvSpPr txBox="1"/>
                <p:nvPr/>
              </p:nvSpPr>
              <p:spPr>
                <a:xfrm>
                  <a:off x="76200" y="38100"/>
                  <a:ext cx="660400" cy="698500"/>
                </a:xfrm>
                <a:prstGeom prst="rect">
                  <a:avLst/>
                </a:prstGeom>
              </p:spPr>
              <p:txBody>
                <a:bodyPr lIns="71438" tIns="71438" rIns="71438" bIns="71438" rtlCol="0" anchor="ctr"/>
                <a:lstStyle/>
                <a:p>
                  <a:pPr algn="ctr">
                    <a:lnSpc>
                      <a:spcPts val="2756"/>
                    </a:lnSpc>
                  </a:pPr>
                  <a:endParaRPr/>
                </a:p>
              </p:txBody>
            </p:sp>
          </p:grpSp>
          <p:sp>
            <p:nvSpPr>
              <p:cNvPr id="17" name="TextBox 67">
                <a:extLst>
                  <a:ext uri="{FF2B5EF4-FFF2-40B4-BE49-F238E27FC236}">
                    <a16:creationId xmlns:a16="http://schemas.microsoft.com/office/drawing/2014/main" id="{CD1AE653-6650-BECC-9548-2BE815B269AE}"/>
                  </a:ext>
                </a:extLst>
              </p:cNvPr>
              <p:cNvSpPr txBox="1"/>
              <p:nvPr/>
            </p:nvSpPr>
            <p:spPr>
              <a:xfrm>
                <a:off x="485774" y="4568891"/>
                <a:ext cx="2583988" cy="1231106"/>
              </a:xfrm>
              <a:prstGeom prst="rect">
                <a:avLst/>
              </a:prstGeom>
            </p:spPr>
            <p:txBody>
              <a:bodyPr wrap="square" lIns="0" tIns="0" rIns="0" bIns="0" rtlCol="0" anchor="t">
                <a:spAutoFit/>
              </a:bodyPr>
              <a:lstStyle/>
              <a:p>
                <a:pPr algn="ctr">
                  <a:spcBef>
                    <a:spcPct val="0"/>
                  </a:spcBef>
                </a:pPr>
                <a:r>
                  <a:rPr lang="en-US" sz="1600" b="1" dirty="0">
                    <a:latin typeface="+mn-lt"/>
                  </a:rPr>
                  <a:t>1.</a:t>
                </a:r>
                <a:r>
                  <a:rPr lang="en-IN" sz="1600" b="1" dirty="0">
                    <a:latin typeface="+mn-lt"/>
                  </a:rPr>
                  <a:t> AI + Document Intelligence Integration</a:t>
                </a:r>
                <a:r>
                  <a:rPr lang="en-IN" sz="1600" dirty="0">
                    <a:latin typeface="+mn-lt"/>
                  </a:rPr>
                  <a:t> – Uses Generative AI to verify document type, detect tampering, and extract data automatically.</a:t>
                </a:r>
              </a:p>
            </p:txBody>
          </p:sp>
        </p:grpSp>
        <p:grpSp>
          <p:nvGrpSpPr>
            <p:cNvPr id="22" name="Group 21">
              <a:extLst>
                <a:ext uri="{FF2B5EF4-FFF2-40B4-BE49-F238E27FC236}">
                  <a16:creationId xmlns:a16="http://schemas.microsoft.com/office/drawing/2014/main" id="{AFAE7F35-4433-6DDF-4A14-A37E74AEFA32}"/>
                </a:ext>
              </a:extLst>
            </p:cNvPr>
            <p:cNvGrpSpPr/>
            <p:nvPr/>
          </p:nvGrpSpPr>
          <p:grpSpPr>
            <a:xfrm>
              <a:off x="4492478" y="2212351"/>
              <a:ext cx="468690" cy="1456833"/>
              <a:chOff x="5529870" y="3148727"/>
              <a:chExt cx="468690" cy="1456833"/>
            </a:xfrm>
          </p:grpSpPr>
          <p:sp>
            <p:nvSpPr>
              <p:cNvPr id="18" name="AutoShape 19">
                <a:extLst>
                  <a:ext uri="{FF2B5EF4-FFF2-40B4-BE49-F238E27FC236}">
                    <a16:creationId xmlns:a16="http://schemas.microsoft.com/office/drawing/2014/main" id="{68A95C0A-FC90-D1AB-6EBA-A467CFF98295}"/>
                  </a:ext>
                </a:extLst>
              </p:cNvPr>
              <p:cNvSpPr/>
              <p:nvPr/>
            </p:nvSpPr>
            <p:spPr>
              <a:xfrm flipV="1">
                <a:off x="5764215" y="3148727"/>
                <a:ext cx="0" cy="1225543"/>
              </a:xfrm>
              <a:prstGeom prst="line">
                <a:avLst/>
              </a:prstGeom>
              <a:ln w="47625" cap="flat">
                <a:solidFill>
                  <a:srgbClr val="8D9193"/>
                </a:solidFill>
                <a:prstDash val="sysDot"/>
                <a:headEnd type="none" w="sm" len="sm"/>
                <a:tailEnd type="none" w="sm" len="sm"/>
              </a:ln>
            </p:spPr>
            <p:txBody>
              <a:bodyPr/>
              <a:lstStyle/>
              <a:p>
                <a:endParaRPr lang="en-US"/>
              </a:p>
            </p:txBody>
          </p:sp>
          <p:grpSp>
            <p:nvGrpSpPr>
              <p:cNvPr id="19" name="Group 26">
                <a:extLst>
                  <a:ext uri="{FF2B5EF4-FFF2-40B4-BE49-F238E27FC236}">
                    <a16:creationId xmlns:a16="http://schemas.microsoft.com/office/drawing/2014/main" id="{BE2B2AAE-13AA-22E9-4EDC-059C7905D53A}"/>
                  </a:ext>
                </a:extLst>
              </p:cNvPr>
              <p:cNvGrpSpPr/>
              <p:nvPr/>
            </p:nvGrpSpPr>
            <p:grpSpPr>
              <a:xfrm rot="-10800000">
                <a:off x="5529870" y="4244102"/>
                <a:ext cx="468690" cy="361458"/>
                <a:chOff x="0" y="0"/>
                <a:chExt cx="922188" cy="711200"/>
              </a:xfrm>
            </p:grpSpPr>
            <p:sp>
              <p:nvSpPr>
                <p:cNvPr id="20" name="Freeform 27">
                  <a:extLst>
                    <a:ext uri="{FF2B5EF4-FFF2-40B4-BE49-F238E27FC236}">
                      <a16:creationId xmlns:a16="http://schemas.microsoft.com/office/drawing/2014/main" id="{CDC77F88-3FC2-656B-628D-BEF0198EAB68}"/>
                    </a:ext>
                  </a:extLst>
                </p:cNvPr>
                <p:cNvSpPr/>
                <p:nvPr/>
              </p:nvSpPr>
              <p:spPr>
                <a:xfrm>
                  <a:off x="75415" y="89768"/>
                  <a:ext cx="771359" cy="621432"/>
                </a:xfrm>
                <a:custGeom>
                  <a:avLst/>
                  <a:gdLst/>
                  <a:ahLst/>
                  <a:cxnLst/>
                  <a:rect l="l" t="t" r="r" b="b"/>
                  <a:pathLst>
                    <a:path w="771359" h="621432">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E46671"/>
                </a:solidFill>
                <a:ln cap="sq">
                  <a:noFill/>
                  <a:prstDash val="solid"/>
                  <a:miter/>
                </a:ln>
              </p:spPr>
              <p:txBody>
                <a:bodyPr/>
                <a:lstStyle/>
                <a:p>
                  <a:endParaRPr lang="en-US"/>
                </a:p>
              </p:txBody>
            </p:sp>
            <p:sp>
              <p:nvSpPr>
                <p:cNvPr id="21" name="TextBox 28">
                  <a:extLst>
                    <a:ext uri="{FF2B5EF4-FFF2-40B4-BE49-F238E27FC236}">
                      <a16:creationId xmlns:a16="http://schemas.microsoft.com/office/drawing/2014/main" id="{B55FB2A9-2596-3DBB-2929-8F12CC8F5F22}"/>
                    </a:ext>
                  </a:extLst>
                </p:cNvPr>
                <p:cNvSpPr txBox="1"/>
                <p:nvPr/>
              </p:nvSpPr>
              <p:spPr>
                <a:xfrm>
                  <a:off x="144092" y="292100"/>
                  <a:ext cx="634004" cy="368300"/>
                </a:xfrm>
                <a:prstGeom prst="rect">
                  <a:avLst/>
                </a:prstGeom>
              </p:spPr>
              <p:txBody>
                <a:bodyPr lIns="50800" tIns="50800" rIns="50800" bIns="50800" rtlCol="0" anchor="ctr"/>
                <a:lstStyle/>
                <a:p>
                  <a:pPr algn="ctr">
                    <a:lnSpc>
                      <a:spcPts val="2756"/>
                    </a:lnSpc>
                  </a:pPr>
                  <a:endParaRPr/>
                </a:p>
              </p:txBody>
            </p:sp>
          </p:grpSp>
        </p:grpSp>
        <p:grpSp>
          <p:nvGrpSpPr>
            <p:cNvPr id="27" name="Group 26">
              <a:extLst>
                <a:ext uri="{FF2B5EF4-FFF2-40B4-BE49-F238E27FC236}">
                  <a16:creationId xmlns:a16="http://schemas.microsoft.com/office/drawing/2014/main" id="{68680696-E93E-8A90-6DF3-98C1DBB3E7FA}"/>
                </a:ext>
              </a:extLst>
            </p:cNvPr>
            <p:cNvGrpSpPr/>
            <p:nvPr/>
          </p:nvGrpSpPr>
          <p:grpSpPr>
            <a:xfrm>
              <a:off x="7412273" y="2242251"/>
              <a:ext cx="468690" cy="1426933"/>
              <a:chOff x="8910683" y="3178627"/>
              <a:chExt cx="468690" cy="1426933"/>
            </a:xfrm>
          </p:grpSpPr>
          <p:sp>
            <p:nvSpPr>
              <p:cNvPr id="23" name="AutoShape 29">
                <a:extLst>
                  <a:ext uri="{FF2B5EF4-FFF2-40B4-BE49-F238E27FC236}">
                    <a16:creationId xmlns:a16="http://schemas.microsoft.com/office/drawing/2014/main" id="{6F5E88DF-DEE0-A71A-2B00-86098277BB1A}"/>
                  </a:ext>
                </a:extLst>
              </p:cNvPr>
              <p:cNvSpPr/>
              <p:nvPr/>
            </p:nvSpPr>
            <p:spPr>
              <a:xfrm flipH="1" flipV="1">
                <a:off x="9145028" y="3178627"/>
                <a:ext cx="0" cy="1195643"/>
              </a:xfrm>
              <a:prstGeom prst="line">
                <a:avLst/>
              </a:prstGeom>
              <a:ln w="47625" cap="flat">
                <a:solidFill>
                  <a:srgbClr val="8D9193"/>
                </a:solidFill>
                <a:prstDash val="sysDot"/>
                <a:headEnd type="none" w="sm" len="sm"/>
                <a:tailEnd type="none" w="sm" len="sm"/>
              </a:ln>
            </p:spPr>
            <p:txBody>
              <a:bodyPr/>
              <a:lstStyle/>
              <a:p>
                <a:endParaRPr lang="en-US"/>
              </a:p>
            </p:txBody>
          </p:sp>
          <p:grpSp>
            <p:nvGrpSpPr>
              <p:cNvPr id="24" name="Group 37">
                <a:extLst>
                  <a:ext uri="{FF2B5EF4-FFF2-40B4-BE49-F238E27FC236}">
                    <a16:creationId xmlns:a16="http://schemas.microsoft.com/office/drawing/2014/main" id="{91318B96-C54D-C112-5CFD-EF88CD1C8554}"/>
                  </a:ext>
                </a:extLst>
              </p:cNvPr>
              <p:cNvGrpSpPr/>
              <p:nvPr/>
            </p:nvGrpSpPr>
            <p:grpSpPr>
              <a:xfrm rot="-10800000">
                <a:off x="8910683" y="4244102"/>
                <a:ext cx="468690" cy="361458"/>
                <a:chOff x="0" y="0"/>
                <a:chExt cx="922188" cy="711200"/>
              </a:xfrm>
            </p:grpSpPr>
            <p:sp>
              <p:nvSpPr>
                <p:cNvPr id="25" name="Freeform 38">
                  <a:extLst>
                    <a:ext uri="{FF2B5EF4-FFF2-40B4-BE49-F238E27FC236}">
                      <a16:creationId xmlns:a16="http://schemas.microsoft.com/office/drawing/2014/main" id="{9C450C3B-198E-2F11-B744-A2C58DD010F0}"/>
                    </a:ext>
                  </a:extLst>
                </p:cNvPr>
                <p:cNvSpPr/>
                <p:nvPr/>
              </p:nvSpPr>
              <p:spPr>
                <a:xfrm>
                  <a:off x="75415" y="89768"/>
                  <a:ext cx="771359" cy="621432"/>
                </a:xfrm>
                <a:custGeom>
                  <a:avLst/>
                  <a:gdLst/>
                  <a:ahLst/>
                  <a:cxnLst/>
                  <a:rect l="l" t="t" r="r" b="b"/>
                  <a:pathLst>
                    <a:path w="771359" h="621432">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38AEB6"/>
                </a:solidFill>
                <a:ln cap="sq">
                  <a:noFill/>
                  <a:prstDash val="solid"/>
                  <a:miter/>
                </a:ln>
              </p:spPr>
              <p:txBody>
                <a:bodyPr/>
                <a:lstStyle/>
                <a:p>
                  <a:endParaRPr lang="en-US"/>
                </a:p>
              </p:txBody>
            </p:sp>
            <p:sp>
              <p:nvSpPr>
                <p:cNvPr id="26" name="TextBox 39">
                  <a:extLst>
                    <a:ext uri="{FF2B5EF4-FFF2-40B4-BE49-F238E27FC236}">
                      <a16:creationId xmlns:a16="http://schemas.microsoft.com/office/drawing/2014/main" id="{53A43635-0848-063B-C694-40304CEEAEEC}"/>
                    </a:ext>
                  </a:extLst>
                </p:cNvPr>
                <p:cNvSpPr txBox="1"/>
                <p:nvPr/>
              </p:nvSpPr>
              <p:spPr>
                <a:xfrm>
                  <a:off x="144092" y="292100"/>
                  <a:ext cx="634004" cy="368300"/>
                </a:xfrm>
                <a:prstGeom prst="rect">
                  <a:avLst/>
                </a:prstGeom>
              </p:spPr>
              <p:txBody>
                <a:bodyPr lIns="50800" tIns="50800" rIns="50800" bIns="50800" rtlCol="0" anchor="ctr"/>
                <a:lstStyle/>
                <a:p>
                  <a:pPr algn="ctr">
                    <a:lnSpc>
                      <a:spcPts val="2756"/>
                    </a:lnSpc>
                  </a:pPr>
                  <a:endParaRPr/>
                </a:p>
              </p:txBody>
            </p:sp>
          </p:grpSp>
        </p:grpSp>
        <p:grpSp>
          <p:nvGrpSpPr>
            <p:cNvPr id="33" name="Group 32">
              <a:extLst>
                <a:ext uri="{FF2B5EF4-FFF2-40B4-BE49-F238E27FC236}">
                  <a16:creationId xmlns:a16="http://schemas.microsoft.com/office/drawing/2014/main" id="{C7A096F7-8B22-4167-154F-CBC8FB0231B8}"/>
                </a:ext>
              </a:extLst>
            </p:cNvPr>
            <p:cNvGrpSpPr/>
            <p:nvPr/>
          </p:nvGrpSpPr>
          <p:grpSpPr>
            <a:xfrm>
              <a:off x="10332067" y="2161060"/>
              <a:ext cx="468690" cy="1508124"/>
              <a:chOff x="9929296" y="2389865"/>
              <a:chExt cx="468690" cy="1508124"/>
            </a:xfrm>
          </p:grpSpPr>
          <p:sp>
            <p:nvSpPr>
              <p:cNvPr id="28" name="AutoShape 40">
                <a:extLst>
                  <a:ext uri="{FF2B5EF4-FFF2-40B4-BE49-F238E27FC236}">
                    <a16:creationId xmlns:a16="http://schemas.microsoft.com/office/drawing/2014/main" id="{7D290BEB-F88F-CC5C-7524-A7F4C4D72E8D}"/>
                  </a:ext>
                </a:extLst>
              </p:cNvPr>
              <p:cNvSpPr/>
              <p:nvPr/>
            </p:nvSpPr>
            <p:spPr>
              <a:xfrm flipV="1">
                <a:off x="10163641" y="2389865"/>
                <a:ext cx="0" cy="1276833"/>
              </a:xfrm>
              <a:prstGeom prst="line">
                <a:avLst/>
              </a:prstGeom>
              <a:ln w="47625" cap="flat">
                <a:solidFill>
                  <a:srgbClr val="8D9193"/>
                </a:solidFill>
                <a:prstDash val="sysDot"/>
                <a:headEnd type="none" w="sm" len="sm"/>
                <a:tailEnd type="none" w="sm" len="sm"/>
              </a:ln>
            </p:spPr>
            <p:txBody>
              <a:bodyPr/>
              <a:lstStyle/>
              <a:p>
                <a:endParaRPr lang="en-US"/>
              </a:p>
            </p:txBody>
          </p:sp>
          <p:grpSp>
            <p:nvGrpSpPr>
              <p:cNvPr id="29" name="Group 48">
                <a:extLst>
                  <a:ext uri="{FF2B5EF4-FFF2-40B4-BE49-F238E27FC236}">
                    <a16:creationId xmlns:a16="http://schemas.microsoft.com/office/drawing/2014/main" id="{2FB08FCA-3538-A4AD-8006-6AD754E8D902}"/>
                  </a:ext>
                </a:extLst>
              </p:cNvPr>
              <p:cNvGrpSpPr/>
              <p:nvPr/>
            </p:nvGrpSpPr>
            <p:grpSpPr>
              <a:xfrm rot="-10800000">
                <a:off x="9929296" y="3536531"/>
                <a:ext cx="468690" cy="361458"/>
                <a:chOff x="0" y="0"/>
                <a:chExt cx="922188" cy="711200"/>
              </a:xfrm>
            </p:grpSpPr>
            <p:sp>
              <p:nvSpPr>
                <p:cNvPr id="30" name="Freeform 49">
                  <a:extLst>
                    <a:ext uri="{FF2B5EF4-FFF2-40B4-BE49-F238E27FC236}">
                      <a16:creationId xmlns:a16="http://schemas.microsoft.com/office/drawing/2014/main" id="{E531DA4E-6D4D-D461-9146-7B8DD697B477}"/>
                    </a:ext>
                  </a:extLst>
                </p:cNvPr>
                <p:cNvSpPr/>
                <p:nvPr/>
              </p:nvSpPr>
              <p:spPr>
                <a:xfrm>
                  <a:off x="75415" y="89768"/>
                  <a:ext cx="771359" cy="621432"/>
                </a:xfrm>
                <a:custGeom>
                  <a:avLst/>
                  <a:gdLst/>
                  <a:ahLst/>
                  <a:cxnLst/>
                  <a:rect l="l" t="t" r="r" b="b"/>
                  <a:pathLst>
                    <a:path w="771359" h="621432">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DDA707"/>
                </a:solidFill>
                <a:ln cap="sq">
                  <a:noFill/>
                  <a:prstDash val="solid"/>
                  <a:miter/>
                </a:ln>
              </p:spPr>
              <p:txBody>
                <a:bodyPr/>
                <a:lstStyle/>
                <a:p>
                  <a:endParaRPr lang="en-US"/>
                </a:p>
              </p:txBody>
            </p:sp>
            <p:sp>
              <p:nvSpPr>
                <p:cNvPr id="31" name="TextBox 50">
                  <a:extLst>
                    <a:ext uri="{FF2B5EF4-FFF2-40B4-BE49-F238E27FC236}">
                      <a16:creationId xmlns:a16="http://schemas.microsoft.com/office/drawing/2014/main" id="{CE7EDB0A-BC9B-79CB-24BE-2653F5A7A5F1}"/>
                    </a:ext>
                  </a:extLst>
                </p:cNvPr>
                <p:cNvSpPr txBox="1"/>
                <p:nvPr/>
              </p:nvSpPr>
              <p:spPr>
                <a:xfrm>
                  <a:off x="144092" y="292100"/>
                  <a:ext cx="634004" cy="368300"/>
                </a:xfrm>
                <a:prstGeom prst="rect">
                  <a:avLst/>
                </a:prstGeom>
              </p:spPr>
              <p:txBody>
                <a:bodyPr lIns="50800" tIns="50800" rIns="50800" bIns="50800" rtlCol="0" anchor="ctr"/>
                <a:lstStyle/>
                <a:p>
                  <a:pPr algn="ctr">
                    <a:lnSpc>
                      <a:spcPts val="2756"/>
                    </a:lnSpc>
                  </a:pPr>
                  <a:endParaRPr/>
                </a:p>
              </p:txBody>
            </p:sp>
          </p:grpSp>
        </p:grpSp>
        <p:grpSp>
          <p:nvGrpSpPr>
            <p:cNvPr id="34" name="Group 33">
              <a:extLst>
                <a:ext uri="{FF2B5EF4-FFF2-40B4-BE49-F238E27FC236}">
                  <a16:creationId xmlns:a16="http://schemas.microsoft.com/office/drawing/2014/main" id="{A97FD81C-0149-F0F9-B29B-A63A83016ED6}"/>
                </a:ext>
              </a:extLst>
            </p:cNvPr>
            <p:cNvGrpSpPr/>
            <p:nvPr/>
          </p:nvGrpSpPr>
          <p:grpSpPr>
            <a:xfrm>
              <a:off x="3733137" y="1257300"/>
              <a:ext cx="4725725" cy="1431718"/>
              <a:chOff x="0" y="0"/>
              <a:chExt cx="1491632" cy="536090"/>
            </a:xfrm>
          </p:grpSpPr>
          <p:sp>
            <p:nvSpPr>
              <p:cNvPr id="35" name="Freeform 4">
                <a:extLst>
                  <a:ext uri="{FF2B5EF4-FFF2-40B4-BE49-F238E27FC236}">
                    <a16:creationId xmlns:a16="http://schemas.microsoft.com/office/drawing/2014/main" id="{09479399-83E8-2DB1-55BC-B38C11DDA0E3}"/>
                  </a:ext>
                </a:extLst>
              </p:cNvPr>
              <p:cNvSpPr/>
              <p:nvPr/>
            </p:nvSpPr>
            <p:spPr>
              <a:xfrm>
                <a:off x="0" y="0"/>
                <a:ext cx="1491632" cy="536090"/>
              </a:xfrm>
              <a:custGeom>
                <a:avLst/>
                <a:gdLst/>
                <a:ahLst/>
                <a:cxnLst/>
                <a:rect l="l" t="t" r="r" b="b"/>
                <a:pathLst>
                  <a:path w="1491632" h="536090">
                    <a:moveTo>
                      <a:pt x="49148" y="0"/>
                    </a:moveTo>
                    <a:lnTo>
                      <a:pt x="1442485" y="0"/>
                    </a:lnTo>
                    <a:cubicBezTo>
                      <a:pt x="1455519" y="0"/>
                      <a:pt x="1468020" y="5178"/>
                      <a:pt x="1477237" y="14395"/>
                    </a:cubicBezTo>
                    <a:cubicBezTo>
                      <a:pt x="1486454" y="23612"/>
                      <a:pt x="1491632" y="36113"/>
                      <a:pt x="1491632" y="49148"/>
                    </a:cubicBezTo>
                    <a:lnTo>
                      <a:pt x="1491632" y="486943"/>
                    </a:lnTo>
                    <a:cubicBezTo>
                      <a:pt x="1491632" y="514086"/>
                      <a:pt x="1469628" y="536090"/>
                      <a:pt x="1442485" y="536090"/>
                    </a:cubicBezTo>
                    <a:lnTo>
                      <a:pt x="49148" y="536090"/>
                    </a:lnTo>
                    <a:cubicBezTo>
                      <a:pt x="36113" y="536090"/>
                      <a:pt x="23612" y="530912"/>
                      <a:pt x="14395" y="521695"/>
                    </a:cubicBezTo>
                    <a:cubicBezTo>
                      <a:pt x="5178" y="512478"/>
                      <a:pt x="0" y="499977"/>
                      <a:pt x="0" y="486943"/>
                    </a:cubicBezTo>
                    <a:lnTo>
                      <a:pt x="0" y="49148"/>
                    </a:lnTo>
                    <a:cubicBezTo>
                      <a:pt x="0" y="36113"/>
                      <a:pt x="5178" y="23612"/>
                      <a:pt x="14395" y="14395"/>
                    </a:cubicBezTo>
                    <a:cubicBezTo>
                      <a:pt x="23612" y="5178"/>
                      <a:pt x="36113" y="0"/>
                      <a:pt x="49148" y="0"/>
                    </a:cubicBezTo>
                    <a:close/>
                  </a:path>
                </a:pathLst>
              </a:custGeom>
              <a:solidFill>
                <a:srgbClr val="E60000"/>
              </a:solidFill>
            </p:spPr>
            <p:txBody>
              <a:bodyPr/>
              <a:lstStyle/>
              <a:p>
                <a:endParaRPr lang="en-US"/>
              </a:p>
            </p:txBody>
          </p:sp>
          <p:sp>
            <p:nvSpPr>
              <p:cNvPr id="36" name="TextBox 35">
                <a:extLst>
                  <a:ext uri="{FF2B5EF4-FFF2-40B4-BE49-F238E27FC236}">
                    <a16:creationId xmlns:a16="http://schemas.microsoft.com/office/drawing/2014/main" id="{A5DA3D8B-B5DD-7653-F378-8E24EC7A7EDA}"/>
                  </a:ext>
                </a:extLst>
              </p:cNvPr>
              <p:cNvSpPr txBox="1"/>
              <p:nvPr/>
            </p:nvSpPr>
            <p:spPr>
              <a:xfrm>
                <a:off x="0" y="-38100"/>
                <a:ext cx="1491632" cy="574190"/>
              </a:xfrm>
              <a:prstGeom prst="rect">
                <a:avLst/>
              </a:prstGeom>
            </p:spPr>
            <p:txBody>
              <a:bodyPr lIns="50800" tIns="50800" rIns="50800" bIns="50800" rtlCol="0" anchor="ctr"/>
              <a:lstStyle/>
              <a:p>
                <a:pPr algn="ctr">
                  <a:lnSpc>
                    <a:spcPts val="2659"/>
                  </a:lnSpc>
                  <a:spcBef>
                    <a:spcPct val="0"/>
                  </a:spcBef>
                </a:pPr>
                <a:endParaRPr/>
              </a:p>
            </p:txBody>
          </p:sp>
        </p:grpSp>
        <p:sp>
          <p:nvSpPr>
            <p:cNvPr id="55" name="Rectangle: Rounded Corners 54">
              <a:extLst>
                <a:ext uri="{FF2B5EF4-FFF2-40B4-BE49-F238E27FC236}">
                  <a16:creationId xmlns:a16="http://schemas.microsoft.com/office/drawing/2014/main" id="{57C4C512-4ECE-6B9E-EE0A-46CC1EE1C694}"/>
                </a:ext>
              </a:extLst>
            </p:cNvPr>
            <p:cNvSpPr/>
            <p:nvPr/>
          </p:nvSpPr>
          <p:spPr>
            <a:xfrm>
              <a:off x="3378200" y="4272889"/>
              <a:ext cx="2656106" cy="1823111"/>
            </a:xfrm>
            <a:prstGeom prst="roundRect">
              <a:avLst>
                <a:gd name="adj" fmla="val 12163"/>
              </a:avLst>
            </a:prstGeom>
            <a:solidFill>
              <a:srgbClr val="FFBE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12">
              <a:extLst>
                <a:ext uri="{FF2B5EF4-FFF2-40B4-BE49-F238E27FC236}">
                  <a16:creationId xmlns:a16="http://schemas.microsoft.com/office/drawing/2014/main" id="{05D112A7-6BD1-67D3-65D8-FF2E28353C4C}"/>
                </a:ext>
              </a:extLst>
            </p:cNvPr>
            <p:cNvGrpSpPr/>
            <p:nvPr/>
          </p:nvGrpSpPr>
          <p:grpSpPr>
            <a:xfrm>
              <a:off x="4336368" y="3695947"/>
              <a:ext cx="739770" cy="739770"/>
              <a:chOff x="0" y="0"/>
              <a:chExt cx="812800" cy="812800"/>
            </a:xfrm>
          </p:grpSpPr>
          <p:sp>
            <p:nvSpPr>
              <p:cNvPr id="58" name="Freeform 13">
                <a:extLst>
                  <a:ext uri="{FF2B5EF4-FFF2-40B4-BE49-F238E27FC236}">
                    <a16:creationId xmlns:a16="http://schemas.microsoft.com/office/drawing/2014/main" id="{B9857297-281F-4E28-6CA1-D4F6EE50AFA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717F"/>
              </a:solidFill>
            </p:spPr>
            <p:txBody>
              <a:bodyPr/>
              <a:lstStyle/>
              <a:p>
                <a:endParaRPr lang="en-US"/>
              </a:p>
            </p:txBody>
          </p:sp>
          <p:sp>
            <p:nvSpPr>
              <p:cNvPr id="59" name="TextBox 14">
                <a:extLst>
                  <a:ext uri="{FF2B5EF4-FFF2-40B4-BE49-F238E27FC236}">
                    <a16:creationId xmlns:a16="http://schemas.microsoft.com/office/drawing/2014/main" id="{221723EC-4D08-BA6D-10A0-D3745F82D13B}"/>
                  </a:ext>
                </a:extLst>
              </p:cNvPr>
              <p:cNvSpPr txBox="1"/>
              <p:nvPr/>
            </p:nvSpPr>
            <p:spPr>
              <a:xfrm>
                <a:off x="76200" y="38100"/>
                <a:ext cx="660400" cy="698500"/>
              </a:xfrm>
              <a:prstGeom prst="rect">
                <a:avLst/>
              </a:prstGeom>
            </p:spPr>
            <p:txBody>
              <a:bodyPr lIns="71438" tIns="71438" rIns="71438" bIns="71438" rtlCol="0" anchor="ctr"/>
              <a:lstStyle/>
              <a:p>
                <a:pPr algn="ctr">
                  <a:lnSpc>
                    <a:spcPts val="2756"/>
                  </a:lnSpc>
                </a:pPr>
                <a:endParaRPr/>
              </a:p>
            </p:txBody>
          </p:sp>
        </p:grpSp>
        <p:sp>
          <p:nvSpPr>
            <p:cNvPr id="57" name="TextBox 67">
              <a:extLst>
                <a:ext uri="{FF2B5EF4-FFF2-40B4-BE49-F238E27FC236}">
                  <a16:creationId xmlns:a16="http://schemas.microsoft.com/office/drawing/2014/main" id="{0AB801A3-092E-AA3C-1325-8D3A29F9A278}"/>
                </a:ext>
              </a:extLst>
            </p:cNvPr>
            <p:cNvSpPr txBox="1"/>
            <p:nvPr/>
          </p:nvSpPr>
          <p:spPr>
            <a:xfrm>
              <a:off x="3532052" y="4568891"/>
              <a:ext cx="2389540" cy="1231106"/>
            </a:xfrm>
            <a:prstGeom prst="rect">
              <a:avLst/>
            </a:prstGeom>
          </p:spPr>
          <p:txBody>
            <a:bodyPr wrap="square" lIns="0" tIns="0" rIns="0" bIns="0" rtlCol="0" anchor="t">
              <a:spAutoFit/>
            </a:bodyPr>
            <a:lstStyle/>
            <a:p>
              <a:pPr algn="ctr">
                <a:spcBef>
                  <a:spcPct val="0"/>
                </a:spcBef>
              </a:pPr>
              <a:r>
                <a:rPr lang="en-IN" sz="1600" b="1" dirty="0">
                  <a:latin typeface="+mn-lt"/>
                </a:rPr>
                <a:t>2</a:t>
              </a:r>
              <a:r>
                <a:rPr lang="en-IN" sz="1600" dirty="0">
                  <a:latin typeface="+mn-lt"/>
                </a:rPr>
                <a:t>.</a:t>
              </a:r>
              <a:r>
                <a:rPr lang="en-US" sz="1600" b="1" dirty="0">
                  <a:latin typeface="+mn-lt"/>
                </a:rPr>
                <a:t> Real-Time Data Matching System</a:t>
              </a:r>
              <a:r>
                <a:rPr lang="en-US" sz="1600" dirty="0">
                  <a:latin typeface="+mn-lt"/>
                </a:rPr>
                <a:t> – Compares entered Aadhaar/PAN numbers with extracted document data instantly to prevent fraud.</a:t>
              </a:r>
              <a:endParaRPr lang="en-US" sz="1600" dirty="0">
                <a:solidFill>
                  <a:srgbClr val="1C1C1A"/>
                </a:solidFill>
                <a:latin typeface="+mn-lt"/>
                <a:ea typeface="Montserrat Ultra-Bold"/>
                <a:cs typeface="Calibri" panose="020F0502020204030204" pitchFamily="34" charset="0"/>
                <a:sym typeface="Montserrat Ultra-Bold"/>
              </a:endParaRPr>
            </a:p>
          </p:txBody>
        </p:sp>
        <p:grpSp>
          <p:nvGrpSpPr>
            <p:cNvPr id="266" name="Group 265">
              <a:extLst>
                <a:ext uri="{FF2B5EF4-FFF2-40B4-BE49-F238E27FC236}">
                  <a16:creationId xmlns:a16="http://schemas.microsoft.com/office/drawing/2014/main" id="{1AE630B3-5C58-A2B2-DDEF-E3B80293A1D9}"/>
                </a:ext>
              </a:extLst>
            </p:cNvPr>
            <p:cNvGrpSpPr/>
            <p:nvPr/>
          </p:nvGrpSpPr>
          <p:grpSpPr>
            <a:xfrm>
              <a:off x="6299200" y="3695947"/>
              <a:ext cx="2656106" cy="2411827"/>
              <a:chOff x="6299200" y="3695947"/>
              <a:chExt cx="2656106" cy="2411827"/>
            </a:xfrm>
          </p:grpSpPr>
          <p:sp>
            <p:nvSpPr>
              <p:cNvPr id="61" name="Rectangle: Rounded Corners 60">
                <a:extLst>
                  <a:ext uri="{FF2B5EF4-FFF2-40B4-BE49-F238E27FC236}">
                    <a16:creationId xmlns:a16="http://schemas.microsoft.com/office/drawing/2014/main" id="{DDD12D05-AB43-5D57-4A54-2E4382BE7029}"/>
                  </a:ext>
                </a:extLst>
              </p:cNvPr>
              <p:cNvSpPr/>
              <p:nvPr/>
            </p:nvSpPr>
            <p:spPr>
              <a:xfrm>
                <a:off x="6299200" y="4272889"/>
                <a:ext cx="2656106" cy="1823111"/>
              </a:xfrm>
              <a:prstGeom prst="roundRect">
                <a:avLst>
                  <a:gd name="adj" fmla="val 12163"/>
                </a:avLst>
              </a:prstGeom>
              <a:solidFill>
                <a:srgbClr val="B5EB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2" name="Group 12">
                <a:extLst>
                  <a:ext uri="{FF2B5EF4-FFF2-40B4-BE49-F238E27FC236}">
                    <a16:creationId xmlns:a16="http://schemas.microsoft.com/office/drawing/2014/main" id="{CE977FBB-2A3F-EA9D-C403-E269865BF7A0}"/>
                  </a:ext>
                </a:extLst>
              </p:cNvPr>
              <p:cNvGrpSpPr/>
              <p:nvPr/>
            </p:nvGrpSpPr>
            <p:grpSpPr>
              <a:xfrm>
                <a:off x="7257368" y="3695947"/>
                <a:ext cx="739770" cy="739770"/>
                <a:chOff x="0" y="0"/>
                <a:chExt cx="812800" cy="812800"/>
              </a:xfrm>
            </p:grpSpPr>
            <p:sp>
              <p:nvSpPr>
                <p:cNvPr id="256" name="Freeform 13">
                  <a:extLst>
                    <a:ext uri="{FF2B5EF4-FFF2-40B4-BE49-F238E27FC236}">
                      <a16:creationId xmlns:a16="http://schemas.microsoft.com/office/drawing/2014/main" id="{F84E8388-7097-537E-A42F-A19963DD601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5CDD7"/>
                </a:solidFill>
              </p:spPr>
              <p:txBody>
                <a:bodyPr/>
                <a:lstStyle/>
                <a:p>
                  <a:endParaRPr lang="en-US"/>
                </a:p>
              </p:txBody>
            </p:sp>
            <p:sp>
              <p:nvSpPr>
                <p:cNvPr id="257" name="TextBox 14">
                  <a:extLst>
                    <a:ext uri="{FF2B5EF4-FFF2-40B4-BE49-F238E27FC236}">
                      <a16:creationId xmlns:a16="http://schemas.microsoft.com/office/drawing/2014/main" id="{A85665AF-1AD7-E2AB-4403-E70EF8731BA2}"/>
                    </a:ext>
                  </a:extLst>
                </p:cNvPr>
                <p:cNvSpPr txBox="1"/>
                <p:nvPr/>
              </p:nvSpPr>
              <p:spPr>
                <a:xfrm>
                  <a:off x="76200" y="38100"/>
                  <a:ext cx="660400" cy="698500"/>
                </a:xfrm>
                <a:prstGeom prst="rect">
                  <a:avLst/>
                </a:prstGeom>
              </p:spPr>
              <p:txBody>
                <a:bodyPr lIns="71438" tIns="71438" rIns="71438" bIns="71438" rtlCol="0" anchor="ctr"/>
                <a:lstStyle/>
                <a:p>
                  <a:pPr algn="ctr">
                    <a:lnSpc>
                      <a:spcPts val="2756"/>
                    </a:lnSpc>
                  </a:pPr>
                  <a:endParaRPr/>
                </a:p>
              </p:txBody>
            </p:sp>
          </p:grpSp>
          <p:sp>
            <p:nvSpPr>
              <p:cNvPr id="63" name="TextBox 67">
                <a:extLst>
                  <a:ext uri="{FF2B5EF4-FFF2-40B4-BE49-F238E27FC236}">
                    <a16:creationId xmlns:a16="http://schemas.microsoft.com/office/drawing/2014/main" id="{8EBC4D73-38E9-30E6-95AB-F83325732C60}"/>
                  </a:ext>
                </a:extLst>
              </p:cNvPr>
              <p:cNvSpPr txBox="1"/>
              <p:nvPr/>
            </p:nvSpPr>
            <p:spPr>
              <a:xfrm>
                <a:off x="6400345" y="4568891"/>
                <a:ext cx="2453813" cy="1538883"/>
              </a:xfrm>
              <a:prstGeom prst="rect">
                <a:avLst/>
              </a:prstGeom>
            </p:spPr>
            <p:txBody>
              <a:bodyPr wrap="square" lIns="0" tIns="0" rIns="0" bIns="0" rtlCol="0" anchor="t">
                <a:spAutoFit/>
              </a:bodyPr>
              <a:lstStyle/>
              <a:p>
                <a:pPr algn="ctr">
                  <a:spcBef>
                    <a:spcPct val="0"/>
                  </a:spcBef>
                </a:pPr>
                <a:r>
                  <a:rPr lang="en-US" sz="1600" b="1" dirty="0">
                    <a:latin typeface="+mn-lt"/>
                  </a:rPr>
                  <a:t>3. Blockchain-Based Audit Trail</a:t>
                </a:r>
                <a:r>
                  <a:rPr lang="en-US" sz="1600" dirty="0">
                    <a:latin typeface="+mn-lt"/>
                  </a:rPr>
                  <a:t> – Each verified application is logged into blockchain for secure, tamper-proof record keeping</a:t>
                </a:r>
                <a:r>
                  <a:rPr lang="en-US" sz="2000" dirty="0"/>
                  <a:t>.</a:t>
                </a:r>
                <a:endParaRPr lang="en-US" sz="1600" dirty="0">
                  <a:solidFill>
                    <a:srgbClr val="1C1C1A"/>
                  </a:solidFill>
                  <a:latin typeface="Calibri" panose="020F0502020204030204" pitchFamily="34" charset="0"/>
                  <a:ea typeface="Montserrat Ultra-Bold"/>
                  <a:cs typeface="Calibri" panose="020F0502020204030204" pitchFamily="34" charset="0"/>
                  <a:sym typeface="Montserrat Ultra-Bold"/>
                </a:endParaRPr>
              </a:p>
            </p:txBody>
          </p:sp>
        </p:grpSp>
        <p:grpSp>
          <p:nvGrpSpPr>
            <p:cNvPr id="265" name="Group 264">
              <a:extLst>
                <a:ext uri="{FF2B5EF4-FFF2-40B4-BE49-F238E27FC236}">
                  <a16:creationId xmlns:a16="http://schemas.microsoft.com/office/drawing/2014/main" id="{E6D60434-4316-155A-0818-987A000FFBCF}"/>
                </a:ext>
              </a:extLst>
            </p:cNvPr>
            <p:cNvGrpSpPr/>
            <p:nvPr/>
          </p:nvGrpSpPr>
          <p:grpSpPr>
            <a:xfrm>
              <a:off x="9263744" y="3695947"/>
              <a:ext cx="2656106" cy="2400053"/>
              <a:chOff x="9220200" y="3695947"/>
              <a:chExt cx="2656106" cy="2400053"/>
            </a:xfrm>
          </p:grpSpPr>
          <p:sp>
            <p:nvSpPr>
              <p:cNvPr id="259" name="Rectangle: Rounded Corners 258">
                <a:extLst>
                  <a:ext uri="{FF2B5EF4-FFF2-40B4-BE49-F238E27FC236}">
                    <a16:creationId xmlns:a16="http://schemas.microsoft.com/office/drawing/2014/main" id="{3F4BAC24-ED77-36E4-A157-80391A5CA286}"/>
                  </a:ext>
                </a:extLst>
              </p:cNvPr>
              <p:cNvSpPr/>
              <p:nvPr/>
            </p:nvSpPr>
            <p:spPr>
              <a:xfrm>
                <a:off x="9220200" y="4272889"/>
                <a:ext cx="2656106" cy="1823111"/>
              </a:xfrm>
              <a:prstGeom prst="roundRect">
                <a:avLst>
                  <a:gd name="adj" fmla="val 12163"/>
                </a:avLst>
              </a:prstGeom>
              <a:solidFill>
                <a:srgbClr val="FFE8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0" name="Group 12">
                <a:extLst>
                  <a:ext uri="{FF2B5EF4-FFF2-40B4-BE49-F238E27FC236}">
                    <a16:creationId xmlns:a16="http://schemas.microsoft.com/office/drawing/2014/main" id="{8B4E89B2-223F-C7D1-2EFC-13C6A7C5AE2A}"/>
                  </a:ext>
                </a:extLst>
              </p:cNvPr>
              <p:cNvGrpSpPr/>
              <p:nvPr/>
            </p:nvGrpSpPr>
            <p:grpSpPr>
              <a:xfrm>
                <a:off x="10178368" y="3695947"/>
                <a:ext cx="739770" cy="739770"/>
                <a:chOff x="0" y="0"/>
                <a:chExt cx="812800" cy="812800"/>
              </a:xfrm>
            </p:grpSpPr>
            <p:sp>
              <p:nvSpPr>
                <p:cNvPr id="262" name="Freeform 13">
                  <a:extLst>
                    <a:ext uri="{FF2B5EF4-FFF2-40B4-BE49-F238E27FC236}">
                      <a16:creationId xmlns:a16="http://schemas.microsoft.com/office/drawing/2014/main" id="{1B5301FD-63F9-66AE-EFC4-70A1A5F54C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B300"/>
                </a:solidFill>
              </p:spPr>
              <p:txBody>
                <a:bodyPr/>
                <a:lstStyle/>
                <a:p>
                  <a:endParaRPr lang="en-US"/>
                </a:p>
              </p:txBody>
            </p:sp>
            <p:sp>
              <p:nvSpPr>
                <p:cNvPr id="263" name="TextBox 14">
                  <a:extLst>
                    <a:ext uri="{FF2B5EF4-FFF2-40B4-BE49-F238E27FC236}">
                      <a16:creationId xmlns:a16="http://schemas.microsoft.com/office/drawing/2014/main" id="{E27C0660-7BF6-4D64-7D02-A5DCC3DBEEBA}"/>
                    </a:ext>
                  </a:extLst>
                </p:cNvPr>
                <p:cNvSpPr txBox="1"/>
                <p:nvPr/>
              </p:nvSpPr>
              <p:spPr>
                <a:xfrm>
                  <a:off x="76200" y="38100"/>
                  <a:ext cx="660400" cy="698500"/>
                </a:xfrm>
                <a:prstGeom prst="rect">
                  <a:avLst/>
                </a:prstGeom>
              </p:spPr>
              <p:txBody>
                <a:bodyPr lIns="71438" tIns="71438" rIns="71438" bIns="71438" rtlCol="0" anchor="ctr"/>
                <a:lstStyle/>
                <a:p>
                  <a:pPr algn="ctr">
                    <a:lnSpc>
                      <a:spcPts val="2756"/>
                    </a:lnSpc>
                  </a:pPr>
                  <a:endParaRPr/>
                </a:p>
              </p:txBody>
            </p:sp>
          </p:grpSp>
          <p:sp>
            <p:nvSpPr>
              <p:cNvPr id="261" name="TextBox 67">
                <a:extLst>
                  <a:ext uri="{FF2B5EF4-FFF2-40B4-BE49-F238E27FC236}">
                    <a16:creationId xmlns:a16="http://schemas.microsoft.com/office/drawing/2014/main" id="{91ACEE76-CC5B-17B2-5C4C-3568837A70AE}"/>
                  </a:ext>
                </a:extLst>
              </p:cNvPr>
              <p:cNvSpPr txBox="1"/>
              <p:nvPr/>
            </p:nvSpPr>
            <p:spPr>
              <a:xfrm>
                <a:off x="9319995" y="4568891"/>
                <a:ext cx="2405743" cy="1477328"/>
              </a:xfrm>
              <a:prstGeom prst="rect">
                <a:avLst/>
              </a:prstGeom>
            </p:spPr>
            <p:txBody>
              <a:bodyPr wrap="square" lIns="0" tIns="0" rIns="0" bIns="0" rtlCol="0" anchor="t">
                <a:spAutoFit/>
              </a:bodyPr>
              <a:lstStyle/>
              <a:p>
                <a:pPr algn="ctr">
                  <a:spcBef>
                    <a:spcPct val="0"/>
                  </a:spcBef>
                </a:pPr>
                <a:r>
                  <a:rPr lang="en-US" sz="1600" b="1" dirty="0">
                    <a:latin typeface="+mn-lt"/>
                  </a:rPr>
                  <a:t>4. Multi-Layer Fraud Detection Engine</a:t>
                </a:r>
                <a:r>
                  <a:rPr lang="en-US" sz="1600" dirty="0">
                    <a:latin typeface="+mn-lt"/>
                  </a:rPr>
                  <a:t> – Combines validation checks, duplicate detection, IP tracking, and AI analysis for stronger fraud prevention.</a:t>
                </a:r>
                <a:endParaRPr lang="en-US" sz="1600" dirty="0">
                  <a:solidFill>
                    <a:srgbClr val="1C1C1A"/>
                  </a:solidFill>
                  <a:latin typeface="+mn-lt"/>
                  <a:ea typeface="Montserrat Ultra-Bold"/>
                  <a:cs typeface="Calibri" panose="020F0502020204030204" pitchFamily="34" charset="0"/>
                  <a:sym typeface="Montserrat Ultra-Bold"/>
                </a:endParaRPr>
              </a:p>
            </p:txBody>
          </p:sp>
        </p:grpSp>
        <p:sp>
          <p:nvSpPr>
            <p:cNvPr id="267" name="TextBox 266">
              <a:extLst>
                <a:ext uri="{FF2B5EF4-FFF2-40B4-BE49-F238E27FC236}">
                  <a16:creationId xmlns:a16="http://schemas.microsoft.com/office/drawing/2014/main" id="{811D45E9-C7B4-655D-8AA7-5D019C706921}"/>
                </a:ext>
              </a:extLst>
            </p:cNvPr>
            <p:cNvSpPr txBox="1"/>
            <p:nvPr/>
          </p:nvSpPr>
          <p:spPr>
            <a:xfrm>
              <a:off x="1611085" y="3842658"/>
              <a:ext cx="348343" cy="400110"/>
            </a:xfrm>
            <a:prstGeom prst="rect">
              <a:avLst/>
            </a:prstGeom>
            <a:noFill/>
          </p:spPr>
          <p:txBody>
            <a:bodyPr wrap="square" rtlCol="0">
              <a:spAutoFit/>
            </a:bodyPr>
            <a:lstStyle/>
            <a:p>
              <a:r>
                <a:rPr lang="en-US" sz="2000" b="1">
                  <a:solidFill>
                    <a:schemeClr val="bg1"/>
                  </a:solidFill>
                </a:rPr>
                <a:t>1</a:t>
              </a:r>
            </a:p>
          </p:txBody>
        </p:sp>
        <p:sp>
          <p:nvSpPr>
            <p:cNvPr id="268" name="TextBox 267">
              <a:extLst>
                <a:ext uri="{FF2B5EF4-FFF2-40B4-BE49-F238E27FC236}">
                  <a16:creationId xmlns:a16="http://schemas.microsoft.com/office/drawing/2014/main" id="{484C45E9-5698-B4DF-F0E9-EEE2382548E0}"/>
                </a:ext>
              </a:extLst>
            </p:cNvPr>
            <p:cNvSpPr txBox="1"/>
            <p:nvPr/>
          </p:nvSpPr>
          <p:spPr>
            <a:xfrm>
              <a:off x="4528457" y="3864429"/>
              <a:ext cx="348343" cy="400110"/>
            </a:xfrm>
            <a:prstGeom prst="rect">
              <a:avLst/>
            </a:prstGeom>
            <a:noFill/>
          </p:spPr>
          <p:txBody>
            <a:bodyPr wrap="square" rtlCol="0">
              <a:spAutoFit/>
            </a:bodyPr>
            <a:lstStyle/>
            <a:p>
              <a:r>
                <a:rPr lang="en-US" sz="2000" b="1">
                  <a:solidFill>
                    <a:schemeClr val="bg1"/>
                  </a:solidFill>
                </a:rPr>
                <a:t>2</a:t>
              </a:r>
            </a:p>
          </p:txBody>
        </p:sp>
        <p:sp>
          <p:nvSpPr>
            <p:cNvPr id="269" name="TextBox 268">
              <a:extLst>
                <a:ext uri="{FF2B5EF4-FFF2-40B4-BE49-F238E27FC236}">
                  <a16:creationId xmlns:a16="http://schemas.microsoft.com/office/drawing/2014/main" id="{948D7C18-0C84-065B-11A8-4AD7B0D132B3}"/>
                </a:ext>
              </a:extLst>
            </p:cNvPr>
            <p:cNvSpPr txBox="1"/>
            <p:nvPr/>
          </p:nvSpPr>
          <p:spPr>
            <a:xfrm>
              <a:off x="7500257" y="3831772"/>
              <a:ext cx="348343" cy="400110"/>
            </a:xfrm>
            <a:prstGeom prst="rect">
              <a:avLst/>
            </a:prstGeom>
            <a:noFill/>
          </p:spPr>
          <p:txBody>
            <a:bodyPr wrap="square" rtlCol="0">
              <a:spAutoFit/>
            </a:bodyPr>
            <a:lstStyle/>
            <a:p>
              <a:r>
                <a:rPr lang="en-US" sz="2000" b="1">
                  <a:solidFill>
                    <a:schemeClr val="bg1"/>
                  </a:solidFill>
                </a:rPr>
                <a:t>3</a:t>
              </a:r>
            </a:p>
          </p:txBody>
        </p:sp>
        <p:sp>
          <p:nvSpPr>
            <p:cNvPr id="270" name="TextBox 269">
              <a:extLst>
                <a:ext uri="{FF2B5EF4-FFF2-40B4-BE49-F238E27FC236}">
                  <a16:creationId xmlns:a16="http://schemas.microsoft.com/office/drawing/2014/main" id="{3BB405DF-0F85-5D98-7321-8788D591BE04}"/>
                </a:ext>
              </a:extLst>
            </p:cNvPr>
            <p:cNvSpPr txBox="1"/>
            <p:nvPr/>
          </p:nvSpPr>
          <p:spPr>
            <a:xfrm>
              <a:off x="10439399" y="3842658"/>
              <a:ext cx="348343" cy="400110"/>
            </a:xfrm>
            <a:prstGeom prst="rect">
              <a:avLst/>
            </a:prstGeom>
            <a:noFill/>
          </p:spPr>
          <p:txBody>
            <a:bodyPr wrap="square" rtlCol="0">
              <a:spAutoFit/>
            </a:bodyPr>
            <a:lstStyle/>
            <a:p>
              <a:r>
                <a:rPr lang="en-US" sz="2000" b="1">
                  <a:solidFill>
                    <a:schemeClr val="bg1"/>
                  </a:solidFill>
                </a:rPr>
                <a:t>4</a:t>
              </a:r>
            </a:p>
          </p:txBody>
        </p:sp>
        <p:sp>
          <p:nvSpPr>
            <p:cNvPr id="271" name="Title 1">
              <a:extLst>
                <a:ext uri="{FF2B5EF4-FFF2-40B4-BE49-F238E27FC236}">
                  <a16:creationId xmlns:a16="http://schemas.microsoft.com/office/drawing/2014/main" id="{3AD084F1-FF05-8B2E-C4EB-73C914FCF854}"/>
                </a:ext>
              </a:extLst>
            </p:cNvPr>
            <p:cNvSpPr txBox="1">
              <a:spLocks/>
            </p:cNvSpPr>
            <p:nvPr/>
          </p:nvSpPr>
          <p:spPr>
            <a:xfrm>
              <a:off x="4005942" y="1638302"/>
              <a:ext cx="4180114" cy="461665"/>
            </a:xfrm>
            <a:prstGeom prst="rect">
              <a:avLst/>
            </a:prstGeom>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solidFill>
                    <a:schemeClr val="bg1"/>
                  </a:solidFill>
                  <a:latin typeface="Vodafone Rg" panose="020B0606080202020204" pitchFamily="34" charset="0"/>
                </a:rPr>
                <a:t>Novelty and Uniqueness</a:t>
              </a:r>
            </a:p>
          </p:txBody>
        </p:sp>
      </p:grpSp>
    </p:spTree>
    <p:extLst>
      <p:ext uri="{BB962C8B-B14F-4D97-AF65-F5344CB8AC3E}">
        <p14:creationId xmlns:p14="http://schemas.microsoft.com/office/powerpoint/2010/main" val="16353423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D9BC41-7A97-431A-4BB9-3A57BC031021}"/>
              </a:ext>
            </a:extLst>
          </p:cNvPr>
          <p:cNvSpPr txBox="1">
            <a:spLocks/>
          </p:cNvSpPr>
          <p:nvPr/>
        </p:nvSpPr>
        <p:spPr>
          <a:xfrm>
            <a:off x="446315" y="582388"/>
            <a:ext cx="8011885" cy="461665"/>
          </a:xfrm>
          <a:prstGeom prst="rect">
            <a:avLst/>
          </a:prstGeom>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000" b="1">
                <a:solidFill>
                  <a:srgbClr val="A20000"/>
                </a:solidFill>
                <a:latin typeface="Vodafone Rg" panose="020B0606080202020204" pitchFamily="34" charset="0"/>
              </a:rPr>
              <a:t>Git Hub Link</a:t>
            </a:r>
          </a:p>
        </p:txBody>
      </p:sp>
      <p:sp>
        <p:nvSpPr>
          <p:cNvPr id="5" name="TextBox 4">
            <a:extLst>
              <a:ext uri="{FF2B5EF4-FFF2-40B4-BE49-F238E27FC236}">
                <a16:creationId xmlns:a16="http://schemas.microsoft.com/office/drawing/2014/main" id="{CAA0B345-39AC-A986-82F0-2C3697B896F6}"/>
              </a:ext>
            </a:extLst>
          </p:cNvPr>
          <p:cNvSpPr txBox="1"/>
          <p:nvPr/>
        </p:nvSpPr>
        <p:spPr>
          <a:xfrm>
            <a:off x="446315" y="1336949"/>
            <a:ext cx="10798300" cy="1077218"/>
          </a:xfrm>
          <a:prstGeom prst="rect">
            <a:avLst/>
          </a:prstGeom>
          <a:noFill/>
        </p:spPr>
        <p:txBody>
          <a:bodyPr wrap="square" lIns="91440" tIns="45720" rIns="91440" bIns="45720" rtlCol="0" anchor="t">
            <a:spAutoFit/>
          </a:bodyPr>
          <a:lstStyle/>
          <a:p>
            <a:r>
              <a:rPr lang="en-IN" sz="2400" b="1" dirty="0">
                <a:solidFill>
                  <a:srgbClr val="002060"/>
                </a:solidFill>
                <a:hlinkClick r:id="rId3">
                  <a:extLst>
                    <a:ext uri="{A12FA001-AC4F-418D-AE19-62706E023703}">
                      <ahyp:hlinkClr xmlns:ahyp="http://schemas.microsoft.com/office/drawing/2018/hyperlinkcolor" val="tx"/>
                    </a:ext>
                  </a:extLst>
                </a:hlinkClick>
              </a:rPr>
              <a:t>https://github.com/KDas2004/FraudLens-AI-Powered-Detection-System-for-Government-Scheme-Integrity-.git</a:t>
            </a:r>
            <a:endParaRPr lang="en-IN" sz="2400" b="1" dirty="0">
              <a:solidFill>
                <a:srgbClr val="002060"/>
              </a:solidFill>
            </a:endParaRPr>
          </a:p>
          <a:p>
            <a:endParaRPr lang="en-US" sz="1600" dirty="0">
              <a:latin typeface="Calibri"/>
              <a:cs typeface="Calibri"/>
            </a:endParaRPr>
          </a:p>
        </p:txBody>
      </p:sp>
      <p:sp>
        <p:nvSpPr>
          <p:cNvPr id="9" name="TextBox 8">
            <a:extLst>
              <a:ext uri="{FF2B5EF4-FFF2-40B4-BE49-F238E27FC236}">
                <a16:creationId xmlns:a16="http://schemas.microsoft.com/office/drawing/2014/main" id="{7B2712C8-86F6-0B02-2606-114849919F13}"/>
              </a:ext>
            </a:extLst>
          </p:cNvPr>
          <p:cNvSpPr txBox="1"/>
          <p:nvPr/>
        </p:nvSpPr>
        <p:spPr>
          <a:xfrm>
            <a:off x="3651993" y="3313515"/>
            <a:ext cx="4386942" cy="338554"/>
          </a:xfrm>
          <a:prstGeom prst="rect">
            <a:avLst/>
          </a:prstGeom>
          <a:noFill/>
        </p:spPr>
        <p:txBody>
          <a:bodyPr wrap="square" rtlCol="0">
            <a:spAutoFit/>
          </a:bodyPr>
          <a:lstStyle/>
          <a:p>
            <a:pPr>
              <a:spcAft>
                <a:spcPts val="800"/>
              </a:spcAft>
            </a:pPr>
            <a:endParaRPr lang="en-US" sz="16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154848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11D050-BEFF-4AF9-79A5-9F5496DE1969}"/>
              </a:ext>
            </a:extLst>
          </p:cNvPr>
          <p:cNvSpPr txBox="1">
            <a:spLocks/>
          </p:cNvSpPr>
          <p:nvPr/>
        </p:nvSpPr>
        <p:spPr>
          <a:xfrm>
            <a:off x="446315" y="582388"/>
            <a:ext cx="8011885" cy="461665"/>
          </a:xfrm>
          <a:prstGeom prst="rect">
            <a:avLst/>
          </a:prstGeom>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000" b="1">
                <a:solidFill>
                  <a:srgbClr val="A20000"/>
                </a:solidFill>
                <a:latin typeface="Vodafone Rg" panose="020B0606080202020204" pitchFamily="34" charset="0"/>
              </a:rPr>
              <a:t>Future Scope </a:t>
            </a:r>
          </a:p>
        </p:txBody>
      </p:sp>
      <p:sp>
        <p:nvSpPr>
          <p:cNvPr id="4" name="Text Placeholder 1">
            <a:extLst>
              <a:ext uri="{FF2B5EF4-FFF2-40B4-BE49-F238E27FC236}">
                <a16:creationId xmlns:a16="http://schemas.microsoft.com/office/drawing/2014/main" id="{DCC153CC-622B-424F-B389-D29D3B09BB59}"/>
              </a:ext>
            </a:extLst>
          </p:cNvPr>
          <p:cNvSpPr txBox="1">
            <a:spLocks noChangeArrowheads="1"/>
          </p:cNvSpPr>
          <p:nvPr/>
        </p:nvSpPr>
        <p:spPr bwMode="auto">
          <a:xfrm>
            <a:off x="1010024" y="1583915"/>
            <a:ext cx="852879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0" fontAlgn="base" hangingPunct="0">
              <a:lnSpc>
                <a:spcPct val="100000"/>
              </a:lnSpc>
              <a:spcBef>
                <a:spcPct val="0"/>
              </a:spcBef>
              <a:spcAft>
                <a:spcPct val="0"/>
              </a:spcAft>
              <a:buClrTx/>
              <a:buFont typeface="Wingdings" panose="05000000000000000000" pitchFamily="2" charset="2"/>
              <a:buChar char="Ø"/>
            </a:pPr>
            <a:r>
              <a:rPr lang="en-US" sz="1800" b="1" dirty="0"/>
              <a:t>Multi-Layer Fraud Detection Engine</a:t>
            </a:r>
            <a:r>
              <a:rPr lang="en-US" sz="1800" dirty="0"/>
              <a:t> – Combines validation checks, duplicate detection, IP tracking, and AI analysis for stronger fraud prevention.</a:t>
            </a:r>
          </a:p>
          <a:p>
            <a:pPr eaLnBrk="0" fontAlgn="base" hangingPunct="0">
              <a:lnSpc>
                <a:spcPct val="100000"/>
              </a:lnSpc>
              <a:spcBef>
                <a:spcPct val="0"/>
              </a:spcBef>
              <a:spcAft>
                <a:spcPct val="0"/>
              </a:spcAft>
              <a:buClrTx/>
              <a:buFont typeface="Wingdings" panose="05000000000000000000" pitchFamily="2" charset="2"/>
              <a:buChar char="Ø"/>
            </a:pPr>
            <a:endParaRPr lang="en-US" altLang="en-US" sz="1800" dirty="0"/>
          </a:p>
          <a:p>
            <a:pPr eaLnBrk="0" fontAlgn="base" hangingPunct="0">
              <a:lnSpc>
                <a:spcPct val="100000"/>
              </a:lnSpc>
              <a:spcBef>
                <a:spcPct val="0"/>
              </a:spcBef>
              <a:spcAft>
                <a:spcPct val="0"/>
              </a:spcAft>
              <a:buClrTx/>
              <a:buFont typeface="Wingdings" panose="05000000000000000000" pitchFamily="2" charset="2"/>
              <a:buChar char="Ø"/>
            </a:pPr>
            <a:r>
              <a:rPr lang="en-US" sz="1800" b="1" dirty="0"/>
              <a:t>Advanced Face Verification</a:t>
            </a:r>
            <a:r>
              <a:rPr lang="en-US" sz="1800" dirty="0"/>
              <a:t> – Add facial recognition to match applicant’s selfie with Aadhaar photo.</a:t>
            </a:r>
          </a:p>
          <a:p>
            <a:pPr eaLnBrk="0" fontAlgn="base" hangingPunct="0">
              <a:lnSpc>
                <a:spcPct val="100000"/>
              </a:lnSpc>
              <a:spcBef>
                <a:spcPct val="0"/>
              </a:spcBef>
              <a:spcAft>
                <a:spcPct val="0"/>
              </a:spcAft>
              <a:buClrTx/>
              <a:buFont typeface="Wingdings" panose="05000000000000000000" pitchFamily="2" charset="2"/>
              <a:buChar char="Ø"/>
            </a:pPr>
            <a:endParaRPr lang="en-US" altLang="en-US" sz="1800" dirty="0"/>
          </a:p>
          <a:p>
            <a:pPr eaLnBrk="0" fontAlgn="base" hangingPunct="0">
              <a:lnSpc>
                <a:spcPct val="100000"/>
              </a:lnSpc>
              <a:spcBef>
                <a:spcPct val="0"/>
              </a:spcBef>
              <a:spcAft>
                <a:spcPct val="0"/>
              </a:spcAft>
              <a:buClrTx/>
              <a:buFont typeface="Wingdings" panose="05000000000000000000" pitchFamily="2" charset="2"/>
              <a:buChar char="Ø"/>
            </a:pPr>
            <a:r>
              <a:rPr lang="en-US" sz="1800" b="1" dirty="0"/>
              <a:t>Mobile Application Version</a:t>
            </a:r>
            <a:r>
              <a:rPr lang="en-US" sz="1800" dirty="0"/>
              <a:t> – Launch Android/iOS app for wider accessibility and faster adoption.</a:t>
            </a:r>
          </a:p>
          <a:p>
            <a:pPr eaLnBrk="0" fontAlgn="base" hangingPunct="0">
              <a:lnSpc>
                <a:spcPct val="100000"/>
              </a:lnSpc>
              <a:spcBef>
                <a:spcPct val="0"/>
              </a:spcBef>
              <a:spcAft>
                <a:spcPct val="0"/>
              </a:spcAft>
              <a:buClrTx/>
              <a:buFont typeface="Wingdings" panose="05000000000000000000" pitchFamily="2" charset="2"/>
              <a:buChar char="Ø"/>
            </a:pPr>
            <a:endParaRPr lang="en-US" altLang="en-US" sz="1800" dirty="0"/>
          </a:p>
          <a:p>
            <a:pPr eaLnBrk="0" fontAlgn="base" hangingPunct="0">
              <a:lnSpc>
                <a:spcPct val="100000"/>
              </a:lnSpc>
              <a:spcBef>
                <a:spcPct val="0"/>
              </a:spcBef>
              <a:spcAft>
                <a:spcPct val="0"/>
              </a:spcAft>
              <a:buClrTx/>
              <a:buFont typeface="Wingdings" panose="05000000000000000000" pitchFamily="2" charset="2"/>
              <a:buChar char="Ø"/>
            </a:pPr>
            <a:r>
              <a:rPr lang="en-US" sz="1800" b="1" dirty="0"/>
              <a:t>Machine Learning Risk Scoring</a:t>
            </a:r>
            <a:r>
              <a:rPr lang="en-US" sz="1800" dirty="0"/>
              <a:t> – Develop a predictive fraud scoring model based on user behavior patterns.</a:t>
            </a:r>
          </a:p>
          <a:p>
            <a:pPr eaLnBrk="0" fontAlgn="base" hangingPunct="0">
              <a:lnSpc>
                <a:spcPct val="100000"/>
              </a:lnSpc>
              <a:spcBef>
                <a:spcPct val="0"/>
              </a:spcBef>
              <a:spcAft>
                <a:spcPct val="0"/>
              </a:spcAft>
              <a:buClrTx/>
              <a:buFont typeface="Wingdings" panose="05000000000000000000" pitchFamily="2" charset="2"/>
              <a:buChar char="Ø"/>
            </a:pPr>
            <a:endParaRPr lang="en-US" sz="1800" dirty="0"/>
          </a:p>
          <a:p>
            <a:pPr eaLnBrk="0" fontAlgn="base" hangingPunct="0">
              <a:lnSpc>
                <a:spcPct val="100000"/>
              </a:lnSpc>
              <a:spcBef>
                <a:spcPct val="0"/>
              </a:spcBef>
              <a:spcAft>
                <a:spcPct val="0"/>
              </a:spcAft>
              <a:buClrTx/>
              <a:buFont typeface="Wingdings" panose="05000000000000000000" pitchFamily="2" charset="2"/>
              <a:buChar char="Ø"/>
            </a:pPr>
            <a:r>
              <a:rPr lang="en-US" sz="1800" b="1" dirty="0"/>
              <a:t>Multi-Document Support</a:t>
            </a:r>
            <a:r>
              <a:rPr lang="en-US" sz="1800" dirty="0"/>
              <a:t> – Extend verification to Passport, Driving License, Voter ID, and other official documents.</a:t>
            </a:r>
            <a:endParaRPr lang="en-US" altLang="en-US" sz="1800" dirty="0"/>
          </a:p>
        </p:txBody>
      </p:sp>
    </p:spTree>
    <p:extLst>
      <p:ext uri="{BB962C8B-B14F-4D97-AF65-F5344CB8AC3E}">
        <p14:creationId xmlns:p14="http://schemas.microsoft.com/office/powerpoint/2010/main" val="2136706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wipe(down)">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wipe(down)">
                                      <p:cBhvr>
                                        <p:cTn id="17" dur="5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wipe(down)">
                                      <p:cBhvr>
                                        <p:cTn id="22" dur="500"/>
                                        <p:tgtEl>
                                          <p:spTgt spid="4">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animEffect transition="in" filter="wipe(down)">
                                      <p:cBhvr>
                                        <p:cTn id="27"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2166F986-3C94-C86A-E81E-498FB58B09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9F5A38-60B6-4F88-EEC5-02B5D33CB8F2}"/>
              </a:ext>
            </a:extLst>
          </p:cNvPr>
          <p:cNvSpPr txBox="1">
            <a:spLocks/>
          </p:cNvSpPr>
          <p:nvPr/>
        </p:nvSpPr>
        <p:spPr>
          <a:xfrm>
            <a:off x="446315" y="582388"/>
            <a:ext cx="8011885" cy="461665"/>
          </a:xfrm>
          <a:prstGeom prst="rect">
            <a:avLst/>
          </a:prstGeom>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000" b="1">
                <a:solidFill>
                  <a:srgbClr val="A20000"/>
                </a:solidFill>
                <a:latin typeface="Vodafone Rg" panose="020B0606080202020204" pitchFamily="34" charset="0"/>
              </a:rPr>
              <a:t>Bank Details</a:t>
            </a:r>
          </a:p>
        </p:txBody>
      </p:sp>
      <p:graphicFrame>
        <p:nvGraphicFramePr>
          <p:cNvPr id="4" name="Table 3">
            <a:extLst>
              <a:ext uri="{FF2B5EF4-FFF2-40B4-BE49-F238E27FC236}">
                <a16:creationId xmlns:a16="http://schemas.microsoft.com/office/drawing/2014/main" id="{E70FD0F6-17FE-ABF1-7D8E-4A204CDDEEB6}"/>
              </a:ext>
            </a:extLst>
          </p:cNvPr>
          <p:cNvGraphicFramePr>
            <a:graphicFrameLocks noGrp="1"/>
          </p:cNvGraphicFramePr>
          <p:nvPr>
            <p:extLst>
              <p:ext uri="{D42A27DB-BD31-4B8C-83A1-F6EECF244321}">
                <p14:modId xmlns:p14="http://schemas.microsoft.com/office/powerpoint/2010/main" val="1701007285"/>
              </p:ext>
            </p:extLst>
          </p:nvPr>
        </p:nvGraphicFramePr>
        <p:xfrm>
          <a:off x="457200" y="1257300"/>
          <a:ext cx="11264628" cy="2108200"/>
        </p:xfrm>
        <a:graphic>
          <a:graphicData uri="http://schemas.openxmlformats.org/drawingml/2006/table">
            <a:tbl>
              <a:tblPr firstRow="1" bandRow="1">
                <a:tableStyleId>{0AAD8F4D-43EB-41E5-8A38-28AB6DFB1B60}</a:tableStyleId>
              </a:tblPr>
              <a:tblGrid>
                <a:gridCol w="1877438">
                  <a:extLst>
                    <a:ext uri="{9D8B030D-6E8A-4147-A177-3AD203B41FA5}">
                      <a16:colId xmlns:a16="http://schemas.microsoft.com/office/drawing/2014/main" val="276395733"/>
                    </a:ext>
                  </a:extLst>
                </a:gridCol>
                <a:gridCol w="1877438">
                  <a:extLst>
                    <a:ext uri="{9D8B030D-6E8A-4147-A177-3AD203B41FA5}">
                      <a16:colId xmlns:a16="http://schemas.microsoft.com/office/drawing/2014/main" val="68367769"/>
                    </a:ext>
                  </a:extLst>
                </a:gridCol>
                <a:gridCol w="1877438">
                  <a:extLst>
                    <a:ext uri="{9D8B030D-6E8A-4147-A177-3AD203B41FA5}">
                      <a16:colId xmlns:a16="http://schemas.microsoft.com/office/drawing/2014/main" val="3364172202"/>
                    </a:ext>
                  </a:extLst>
                </a:gridCol>
                <a:gridCol w="1877438">
                  <a:extLst>
                    <a:ext uri="{9D8B030D-6E8A-4147-A177-3AD203B41FA5}">
                      <a16:colId xmlns:a16="http://schemas.microsoft.com/office/drawing/2014/main" val="3594999873"/>
                    </a:ext>
                  </a:extLst>
                </a:gridCol>
                <a:gridCol w="1877438">
                  <a:extLst>
                    <a:ext uri="{9D8B030D-6E8A-4147-A177-3AD203B41FA5}">
                      <a16:colId xmlns:a16="http://schemas.microsoft.com/office/drawing/2014/main" val="3962065889"/>
                    </a:ext>
                  </a:extLst>
                </a:gridCol>
                <a:gridCol w="1877438">
                  <a:extLst>
                    <a:ext uri="{9D8B030D-6E8A-4147-A177-3AD203B41FA5}">
                      <a16:colId xmlns:a16="http://schemas.microsoft.com/office/drawing/2014/main" val="1446855002"/>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a:solidFill>
                            <a:schemeClr val="bg1"/>
                          </a:solidFill>
                          <a:latin typeface="Calibri" panose="020F0502020204030204" pitchFamily="34" charset="0"/>
                          <a:cs typeface="Calibri" panose="020F0502020204030204" pitchFamily="34" charset="0"/>
                        </a:rPr>
                        <a:t>Full Name (as per bank records):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20000"/>
                    </a:solidFill>
                  </a:tcPr>
                </a:tc>
                <a:tc>
                  <a:txBody>
                    <a:bodyPr/>
                    <a:lstStyle/>
                    <a:p>
                      <a:pPr algn="ctr"/>
                      <a:r>
                        <a:rPr lang="en-US" sz="1600" b="1">
                          <a:solidFill>
                            <a:schemeClr val="bg1"/>
                          </a:solidFill>
                          <a:latin typeface="Calibri" panose="020F0502020204030204" pitchFamily="34" charset="0"/>
                          <a:cs typeface="Calibri" panose="020F0502020204030204" pitchFamily="34" charset="0"/>
                        </a:rPr>
                        <a:t>Bank Name</a:t>
                      </a:r>
                      <a:endParaRPr lang="en-US" sz="1600" b="1">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20000"/>
                    </a:solidFill>
                  </a:tcPr>
                </a:tc>
                <a:tc>
                  <a:txBody>
                    <a:bodyPr/>
                    <a:lstStyle/>
                    <a:p>
                      <a:pPr algn="ctr"/>
                      <a:r>
                        <a:rPr lang="en-US" sz="1600" b="1">
                          <a:solidFill>
                            <a:schemeClr val="bg1"/>
                          </a:solidFill>
                          <a:latin typeface="Calibri" panose="020F0502020204030204" pitchFamily="34" charset="0"/>
                          <a:cs typeface="Calibri" panose="020F0502020204030204" pitchFamily="34" charset="0"/>
                        </a:rPr>
                        <a:t>Branch Name</a:t>
                      </a:r>
                      <a:endParaRPr lang="en-US" sz="1600" b="1">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20000"/>
                    </a:solidFill>
                  </a:tcPr>
                </a:tc>
                <a:tc>
                  <a:txBody>
                    <a:bodyPr/>
                    <a:lstStyle/>
                    <a:p>
                      <a:pPr algn="ctr"/>
                      <a:r>
                        <a:rPr lang="en-US" sz="1600" b="1">
                          <a:solidFill>
                            <a:schemeClr val="bg1"/>
                          </a:solidFill>
                          <a:latin typeface="Calibri" panose="020F0502020204030204" pitchFamily="34" charset="0"/>
                          <a:cs typeface="Calibri" panose="020F0502020204030204" pitchFamily="34" charset="0"/>
                        </a:rPr>
                        <a:t>Account Number</a:t>
                      </a:r>
                      <a:endParaRPr lang="en-US" sz="1600" b="1">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2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a:solidFill>
                            <a:schemeClr val="bg1"/>
                          </a:solidFill>
                          <a:latin typeface="Calibri" panose="020F0502020204030204" pitchFamily="34" charset="0"/>
                          <a:cs typeface="Calibri" panose="020F0502020204030204" pitchFamily="34" charset="0"/>
                        </a:rPr>
                        <a:t>Account Type (Savings / Current)</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20000"/>
                    </a:solidFill>
                  </a:tcPr>
                </a:tc>
                <a:tc>
                  <a:txBody>
                    <a:bodyPr/>
                    <a:lstStyle/>
                    <a:p>
                      <a:pPr algn="ctr"/>
                      <a:r>
                        <a:rPr lang="en-US" sz="1600" b="1">
                          <a:solidFill>
                            <a:schemeClr val="bg1"/>
                          </a:solidFill>
                          <a:latin typeface="Calibri" panose="020F0502020204030204" pitchFamily="34" charset="0"/>
                          <a:cs typeface="Calibri" panose="020F0502020204030204" pitchFamily="34" charset="0"/>
                        </a:rPr>
                        <a:t>IFSC Code</a:t>
                      </a:r>
                      <a:endParaRPr lang="en-US" sz="1600" b="1">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20000"/>
                    </a:solidFill>
                  </a:tcPr>
                </a:tc>
                <a:extLst>
                  <a:ext uri="{0D108BD9-81ED-4DB2-BD59-A6C34878D82A}">
                    <a16:rowId xmlns:a16="http://schemas.microsoft.com/office/drawing/2014/main" val="344550257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rPr>
                        <a:t>Krishnadas Lamdade</a:t>
                      </a:r>
                    </a:p>
                  </a:txBody>
                  <a:tcPr>
                    <a:lnL w="12700" cap="flat" cmpd="sng" algn="ctr">
                      <a:solidFill>
                        <a:srgbClr val="A20000"/>
                      </a:solidFill>
                      <a:prstDash val="solid"/>
                      <a:round/>
                      <a:headEnd type="none" w="med" len="med"/>
                      <a:tailEnd type="none" w="med" len="med"/>
                    </a:lnL>
                    <a:lnR w="12700" cap="flat" cmpd="sng" algn="ctr">
                      <a:solidFill>
                        <a:srgbClr val="A2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A20000"/>
                      </a:solidFill>
                      <a:prstDash val="solid"/>
                      <a:round/>
                      <a:headEnd type="none" w="med" len="med"/>
                      <a:tailEnd type="none" w="med" len="med"/>
                    </a:lnB>
                    <a:lnTlToBr w="12700" cmpd="sng">
                      <a:noFill/>
                      <a:prstDash val="solid"/>
                    </a:lnTlToBr>
                    <a:lnBlToTr w="12700" cmpd="sng">
                      <a:noFill/>
                      <a:prstDash val="solid"/>
                    </a:lnBlToTr>
                    <a:solidFill>
                      <a:srgbClr val="FFF7F7"/>
                    </a:solidFill>
                  </a:tcPr>
                </a:tc>
                <a:tc>
                  <a:txBody>
                    <a:bodyPr/>
                    <a:lstStyle/>
                    <a:p>
                      <a:pPr algn="ctr"/>
                      <a:r>
                        <a:rPr lang="en-US" sz="1600" b="0" dirty="0">
                          <a:solidFill>
                            <a:schemeClr val="tx1"/>
                          </a:solidFill>
                          <a:latin typeface="Calibri" panose="020F0502020204030204" pitchFamily="34" charset="0"/>
                          <a:cs typeface="Calibri" panose="020F0502020204030204" pitchFamily="34" charset="0"/>
                        </a:rPr>
                        <a:t>India Post Payments Bank</a:t>
                      </a:r>
                    </a:p>
                  </a:txBody>
                  <a:tcPr>
                    <a:lnL w="12700" cap="flat" cmpd="sng" algn="ctr">
                      <a:solidFill>
                        <a:srgbClr val="A20000"/>
                      </a:solidFill>
                      <a:prstDash val="solid"/>
                      <a:round/>
                      <a:headEnd type="none" w="med" len="med"/>
                      <a:tailEnd type="none" w="med" len="med"/>
                    </a:lnL>
                    <a:lnR w="12700" cap="flat" cmpd="sng" algn="ctr">
                      <a:solidFill>
                        <a:srgbClr val="A2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A20000"/>
                      </a:solidFill>
                      <a:prstDash val="solid"/>
                      <a:round/>
                      <a:headEnd type="none" w="med" len="med"/>
                      <a:tailEnd type="none" w="med" len="med"/>
                    </a:lnB>
                    <a:lnTlToBr w="12700" cmpd="sng">
                      <a:noFill/>
                      <a:prstDash val="solid"/>
                    </a:lnTlToBr>
                    <a:lnBlToTr w="12700" cmpd="sng">
                      <a:noFill/>
                      <a:prstDash val="solid"/>
                    </a:lnBlToTr>
                    <a:solidFill>
                      <a:srgbClr val="FFF7F7"/>
                    </a:solidFill>
                  </a:tcPr>
                </a:tc>
                <a:tc>
                  <a:txBody>
                    <a:bodyPr/>
                    <a:lstStyle/>
                    <a:p>
                      <a:pPr algn="ctr"/>
                      <a:r>
                        <a:rPr lang="en-US" sz="1600" b="0" dirty="0">
                          <a:solidFill>
                            <a:schemeClr val="tx1"/>
                          </a:solidFill>
                          <a:latin typeface="Calibri" panose="020F0502020204030204" pitchFamily="34" charset="0"/>
                          <a:cs typeface="Calibri" panose="020F0502020204030204" pitchFamily="34" charset="0"/>
                        </a:rPr>
                        <a:t>Nanded</a:t>
                      </a:r>
                    </a:p>
                  </a:txBody>
                  <a:tcPr>
                    <a:lnL w="12700" cap="flat" cmpd="sng" algn="ctr">
                      <a:solidFill>
                        <a:srgbClr val="A20000"/>
                      </a:solidFill>
                      <a:prstDash val="solid"/>
                      <a:round/>
                      <a:headEnd type="none" w="med" len="med"/>
                      <a:tailEnd type="none" w="med" len="med"/>
                    </a:lnL>
                    <a:lnR w="12700" cap="flat" cmpd="sng" algn="ctr">
                      <a:solidFill>
                        <a:srgbClr val="A2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A20000"/>
                      </a:solidFill>
                      <a:prstDash val="solid"/>
                      <a:round/>
                      <a:headEnd type="none" w="med" len="med"/>
                      <a:tailEnd type="none" w="med" len="med"/>
                    </a:lnB>
                    <a:lnTlToBr w="12700" cmpd="sng">
                      <a:noFill/>
                      <a:prstDash val="solid"/>
                    </a:lnTlToBr>
                    <a:lnBlToTr w="12700" cmpd="sng">
                      <a:noFill/>
                      <a:prstDash val="solid"/>
                    </a:lnBlToTr>
                    <a:solidFill>
                      <a:srgbClr val="FFF7F7"/>
                    </a:solidFill>
                  </a:tcPr>
                </a:tc>
                <a:tc>
                  <a:txBody>
                    <a:bodyPr/>
                    <a:lstStyle/>
                    <a:p>
                      <a:pPr algn="ctr"/>
                      <a:r>
                        <a:rPr lang="en-US" sz="1600" b="0" dirty="0">
                          <a:solidFill>
                            <a:schemeClr val="tx1"/>
                          </a:solidFill>
                          <a:latin typeface="Calibri" panose="020F0502020204030204" pitchFamily="34" charset="0"/>
                          <a:cs typeface="Calibri" panose="020F0502020204030204" pitchFamily="34" charset="0"/>
                        </a:rPr>
                        <a:t>033510276844</a:t>
                      </a:r>
                    </a:p>
                  </a:txBody>
                  <a:tcPr>
                    <a:lnL w="12700" cap="flat" cmpd="sng" algn="ctr">
                      <a:solidFill>
                        <a:srgbClr val="A20000"/>
                      </a:solidFill>
                      <a:prstDash val="solid"/>
                      <a:round/>
                      <a:headEnd type="none" w="med" len="med"/>
                      <a:tailEnd type="none" w="med" len="med"/>
                    </a:lnL>
                    <a:lnR w="12700" cap="flat" cmpd="sng" algn="ctr">
                      <a:solidFill>
                        <a:srgbClr val="A2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A20000"/>
                      </a:solidFill>
                      <a:prstDash val="solid"/>
                      <a:round/>
                      <a:headEnd type="none" w="med" len="med"/>
                      <a:tailEnd type="none" w="med" len="med"/>
                    </a:lnB>
                    <a:lnTlToBr w="12700" cmpd="sng">
                      <a:noFill/>
                      <a:prstDash val="solid"/>
                    </a:lnTlToBr>
                    <a:lnBlToTr w="12700" cmpd="sng">
                      <a:noFill/>
                      <a:prstDash val="solid"/>
                    </a:lnBlToTr>
                    <a:solidFill>
                      <a:srgbClr val="FFF7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rPr>
                        <a:t>Savings</a:t>
                      </a:r>
                    </a:p>
                  </a:txBody>
                  <a:tcPr>
                    <a:lnL w="12700" cap="flat" cmpd="sng" algn="ctr">
                      <a:solidFill>
                        <a:srgbClr val="A20000"/>
                      </a:solidFill>
                      <a:prstDash val="solid"/>
                      <a:round/>
                      <a:headEnd type="none" w="med" len="med"/>
                      <a:tailEnd type="none" w="med" len="med"/>
                    </a:lnL>
                    <a:lnR w="12700" cap="flat" cmpd="sng" algn="ctr">
                      <a:solidFill>
                        <a:srgbClr val="A2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A20000"/>
                      </a:solidFill>
                      <a:prstDash val="solid"/>
                      <a:round/>
                      <a:headEnd type="none" w="med" len="med"/>
                      <a:tailEnd type="none" w="med" len="med"/>
                    </a:lnB>
                    <a:lnTlToBr w="12700" cmpd="sng">
                      <a:noFill/>
                      <a:prstDash val="solid"/>
                    </a:lnTlToBr>
                    <a:lnBlToTr w="12700" cmpd="sng">
                      <a:noFill/>
                      <a:prstDash val="solid"/>
                    </a:lnBlToTr>
                    <a:solidFill>
                      <a:srgbClr val="FFF7F7"/>
                    </a:solidFill>
                  </a:tcPr>
                </a:tc>
                <a:tc>
                  <a:txBody>
                    <a:bodyPr/>
                    <a:lstStyle/>
                    <a:p>
                      <a:pPr algn="ctr"/>
                      <a:r>
                        <a:rPr lang="en-US" sz="1600" b="0" dirty="0">
                          <a:solidFill>
                            <a:schemeClr val="tx1"/>
                          </a:solidFill>
                          <a:latin typeface="Calibri" panose="020F0502020204030204" pitchFamily="34" charset="0"/>
                          <a:cs typeface="Calibri" panose="020F0502020204030204" pitchFamily="34" charset="0"/>
                        </a:rPr>
                        <a:t>IPOS0000001</a:t>
                      </a:r>
                    </a:p>
                  </a:txBody>
                  <a:tcPr>
                    <a:lnL w="12700" cap="flat" cmpd="sng" algn="ctr">
                      <a:solidFill>
                        <a:srgbClr val="A20000"/>
                      </a:solidFill>
                      <a:prstDash val="solid"/>
                      <a:round/>
                      <a:headEnd type="none" w="med" len="med"/>
                      <a:tailEnd type="none" w="med" len="med"/>
                    </a:lnL>
                    <a:lnR w="12700" cap="flat" cmpd="sng" algn="ctr">
                      <a:solidFill>
                        <a:srgbClr val="A2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A20000"/>
                      </a:solidFill>
                      <a:prstDash val="solid"/>
                      <a:round/>
                      <a:headEnd type="none" w="med" len="med"/>
                      <a:tailEnd type="none" w="med" len="med"/>
                    </a:lnB>
                    <a:lnTlToBr w="12700" cmpd="sng">
                      <a:noFill/>
                      <a:prstDash val="solid"/>
                    </a:lnTlToBr>
                    <a:lnBlToTr w="12700" cmpd="sng">
                      <a:noFill/>
                      <a:prstDash val="solid"/>
                    </a:lnBlToTr>
                    <a:solidFill>
                      <a:srgbClr val="FFF7F7"/>
                    </a:solidFill>
                  </a:tcPr>
                </a:tc>
                <a:extLst>
                  <a:ext uri="{0D108BD9-81ED-4DB2-BD59-A6C34878D82A}">
                    <a16:rowId xmlns:a16="http://schemas.microsoft.com/office/drawing/2014/main" val="71784040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rPr>
                        <a:t>Ganesh </a:t>
                      </a:r>
                      <a:r>
                        <a:rPr lang="en-US" sz="1600" b="0" dirty="0" err="1">
                          <a:solidFill>
                            <a:schemeClr val="tx1"/>
                          </a:solidFill>
                          <a:latin typeface="Calibri" panose="020F0502020204030204" pitchFamily="34" charset="0"/>
                          <a:cs typeface="Calibri" panose="020F0502020204030204" pitchFamily="34" charset="0"/>
                        </a:rPr>
                        <a:t>Ketiboyana</a:t>
                      </a:r>
                      <a:endParaRPr lang="en-US" sz="1600" b="0" dirty="0">
                        <a:solidFill>
                          <a:schemeClr val="tx1"/>
                        </a:solidFill>
                        <a:latin typeface="Calibri" panose="020F0502020204030204" pitchFamily="34" charset="0"/>
                        <a:cs typeface="Calibri" panose="020F0502020204030204" pitchFamily="34" charset="0"/>
                      </a:endParaRPr>
                    </a:p>
                  </a:txBody>
                  <a:tcPr>
                    <a:lnL w="12700" cap="flat" cmpd="sng" algn="ctr">
                      <a:solidFill>
                        <a:srgbClr val="A20000"/>
                      </a:solidFill>
                      <a:prstDash val="solid"/>
                      <a:round/>
                      <a:headEnd type="none" w="med" len="med"/>
                      <a:tailEnd type="none" w="med" len="med"/>
                    </a:lnL>
                    <a:lnR w="12700" cap="flat" cmpd="sng" algn="ctr">
                      <a:solidFill>
                        <a:srgbClr val="A20000"/>
                      </a:solidFill>
                      <a:prstDash val="solid"/>
                      <a:round/>
                      <a:headEnd type="none" w="med" len="med"/>
                      <a:tailEnd type="none" w="med" len="med"/>
                    </a:lnR>
                    <a:lnT w="12700" cap="flat" cmpd="sng" algn="ctr">
                      <a:solidFill>
                        <a:srgbClr val="A20000"/>
                      </a:solidFill>
                      <a:prstDash val="solid"/>
                      <a:round/>
                      <a:headEnd type="none" w="med" len="med"/>
                      <a:tailEnd type="none" w="med" len="med"/>
                    </a:lnT>
                    <a:lnB w="12700" cap="flat" cmpd="sng" algn="ctr">
                      <a:solidFill>
                        <a:srgbClr val="A20000"/>
                      </a:solidFill>
                      <a:prstDash val="solid"/>
                      <a:round/>
                      <a:headEnd type="none" w="med" len="med"/>
                      <a:tailEnd type="none" w="med" len="med"/>
                    </a:lnB>
                    <a:lnTlToBr w="12700" cmpd="sng">
                      <a:noFill/>
                      <a:prstDash val="solid"/>
                    </a:lnTlToBr>
                    <a:lnBlToTr w="12700" cmpd="sng">
                      <a:noFill/>
                      <a:prstDash val="solid"/>
                    </a:lnBlToTr>
                    <a:solidFill>
                      <a:srgbClr val="FFF7F7"/>
                    </a:solidFill>
                  </a:tcPr>
                </a:tc>
                <a:tc>
                  <a:txBody>
                    <a:bodyPr/>
                    <a:lstStyle/>
                    <a:p>
                      <a:pPr algn="ctr"/>
                      <a:r>
                        <a:rPr lang="en-US" sz="1600" b="0" dirty="0">
                          <a:solidFill>
                            <a:schemeClr val="tx1"/>
                          </a:solidFill>
                          <a:latin typeface="Calibri" panose="020F0502020204030204" pitchFamily="34" charset="0"/>
                          <a:cs typeface="Calibri" panose="020F0502020204030204" pitchFamily="34" charset="0"/>
                        </a:rPr>
                        <a:t>SBI bank</a:t>
                      </a:r>
                    </a:p>
                  </a:txBody>
                  <a:tcPr>
                    <a:lnL w="12700" cap="flat" cmpd="sng" algn="ctr">
                      <a:solidFill>
                        <a:srgbClr val="A20000"/>
                      </a:solidFill>
                      <a:prstDash val="solid"/>
                      <a:round/>
                      <a:headEnd type="none" w="med" len="med"/>
                      <a:tailEnd type="none" w="med" len="med"/>
                    </a:lnL>
                    <a:lnR w="12700" cap="flat" cmpd="sng" algn="ctr">
                      <a:solidFill>
                        <a:srgbClr val="A20000"/>
                      </a:solidFill>
                      <a:prstDash val="solid"/>
                      <a:round/>
                      <a:headEnd type="none" w="med" len="med"/>
                      <a:tailEnd type="none" w="med" len="med"/>
                    </a:lnR>
                    <a:lnT w="12700" cap="flat" cmpd="sng" algn="ctr">
                      <a:solidFill>
                        <a:srgbClr val="A20000"/>
                      </a:solidFill>
                      <a:prstDash val="solid"/>
                      <a:round/>
                      <a:headEnd type="none" w="med" len="med"/>
                      <a:tailEnd type="none" w="med" len="med"/>
                    </a:lnT>
                    <a:lnB w="12700" cap="flat" cmpd="sng" algn="ctr">
                      <a:solidFill>
                        <a:srgbClr val="A20000"/>
                      </a:solidFill>
                      <a:prstDash val="solid"/>
                      <a:round/>
                      <a:headEnd type="none" w="med" len="med"/>
                      <a:tailEnd type="none" w="med" len="med"/>
                    </a:lnB>
                    <a:lnTlToBr w="12700" cmpd="sng">
                      <a:noFill/>
                      <a:prstDash val="solid"/>
                    </a:lnTlToBr>
                    <a:lnBlToTr w="12700" cmpd="sng">
                      <a:noFill/>
                      <a:prstDash val="solid"/>
                    </a:lnBlToTr>
                    <a:solidFill>
                      <a:srgbClr val="FFF7F7"/>
                    </a:solidFill>
                  </a:tcPr>
                </a:tc>
                <a:tc>
                  <a:txBody>
                    <a:bodyPr/>
                    <a:lstStyle/>
                    <a:p>
                      <a:pPr algn="ctr"/>
                      <a:r>
                        <a:rPr lang="en-US" sz="1600" b="0" dirty="0">
                          <a:solidFill>
                            <a:schemeClr val="tx1"/>
                          </a:solidFill>
                          <a:latin typeface="Calibri" panose="020F0502020204030204" pitchFamily="34" charset="0"/>
                          <a:cs typeface="Calibri" panose="020F0502020204030204" pitchFamily="34" charset="0"/>
                        </a:rPr>
                        <a:t>Vishrantwadi </a:t>
                      </a:r>
                    </a:p>
                  </a:txBody>
                  <a:tcPr>
                    <a:lnL w="12700" cap="flat" cmpd="sng" algn="ctr">
                      <a:solidFill>
                        <a:srgbClr val="A20000"/>
                      </a:solidFill>
                      <a:prstDash val="solid"/>
                      <a:round/>
                      <a:headEnd type="none" w="med" len="med"/>
                      <a:tailEnd type="none" w="med" len="med"/>
                    </a:lnL>
                    <a:lnR w="12700" cap="flat" cmpd="sng" algn="ctr">
                      <a:solidFill>
                        <a:srgbClr val="A20000"/>
                      </a:solidFill>
                      <a:prstDash val="solid"/>
                      <a:round/>
                      <a:headEnd type="none" w="med" len="med"/>
                      <a:tailEnd type="none" w="med" len="med"/>
                    </a:lnR>
                    <a:lnT w="12700" cap="flat" cmpd="sng" algn="ctr">
                      <a:solidFill>
                        <a:srgbClr val="A20000"/>
                      </a:solidFill>
                      <a:prstDash val="solid"/>
                      <a:round/>
                      <a:headEnd type="none" w="med" len="med"/>
                      <a:tailEnd type="none" w="med" len="med"/>
                    </a:lnT>
                    <a:lnB w="12700" cap="flat" cmpd="sng" algn="ctr">
                      <a:solidFill>
                        <a:srgbClr val="A20000"/>
                      </a:solidFill>
                      <a:prstDash val="solid"/>
                      <a:round/>
                      <a:headEnd type="none" w="med" len="med"/>
                      <a:tailEnd type="none" w="med" len="med"/>
                    </a:lnB>
                    <a:lnTlToBr w="12700" cmpd="sng">
                      <a:noFill/>
                      <a:prstDash val="solid"/>
                    </a:lnTlToBr>
                    <a:lnBlToTr w="12700" cmpd="sng">
                      <a:noFill/>
                      <a:prstDash val="solid"/>
                    </a:lnBlToTr>
                    <a:solidFill>
                      <a:srgbClr val="FFF7F7"/>
                    </a:solidFill>
                  </a:tcPr>
                </a:tc>
                <a:tc>
                  <a:txBody>
                    <a:bodyPr/>
                    <a:lstStyle/>
                    <a:p>
                      <a:pPr algn="ctr"/>
                      <a:r>
                        <a:rPr lang="en-US" sz="1600" b="0" dirty="0">
                          <a:solidFill>
                            <a:schemeClr val="tx1"/>
                          </a:solidFill>
                          <a:latin typeface="Calibri" panose="020F0502020204030204" pitchFamily="34" charset="0"/>
                          <a:cs typeface="Calibri" panose="020F0502020204030204" pitchFamily="34" charset="0"/>
                        </a:rPr>
                        <a:t>42374925938</a:t>
                      </a:r>
                    </a:p>
                  </a:txBody>
                  <a:tcPr>
                    <a:lnL w="12700" cap="flat" cmpd="sng" algn="ctr">
                      <a:solidFill>
                        <a:srgbClr val="A20000"/>
                      </a:solidFill>
                      <a:prstDash val="solid"/>
                      <a:round/>
                      <a:headEnd type="none" w="med" len="med"/>
                      <a:tailEnd type="none" w="med" len="med"/>
                    </a:lnL>
                    <a:lnR w="12700" cap="flat" cmpd="sng" algn="ctr">
                      <a:solidFill>
                        <a:srgbClr val="A20000"/>
                      </a:solidFill>
                      <a:prstDash val="solid"/>
                      <a:round/>
                      <a:headEnd type="none" w="med" len="med"/>
                      <a:tailEnd type="none" w="med" len="med"/>
                    </a:lnR>
                    <a:lnT w="12700" cap="flat" cmpd="sng" algn="ctr">
                      <a:solidFill>
                        <a:srgbClr val="A20000"/>
                      </a:solidFill>
                      <a:prstDash val="solid"/>
                      <a:round/>
                      <a:headEnd type="none" w="med" len="med"/>
                      <a:tailEnd type="none" w="med" len="med"/>
                    </a:lnT>
                    <a:lnB w="12700" cap="flat" cmpd="sng" algn="ctr">
                      <a:solidFill>
                        <a:srgbClr val="A20000"/>
                      </a:solidFill>
                      <a:prstDash val="solid"/>
                      <a:round/>
                      <a:headEnd type="none" w="med" len="med"/>
                      <a:tailEnd type="none" w="med" len="med"/>
                    </a:lnB>
                    <a:lnTlToBr w="12700" cmpd="sng">
                      <a:noFill/>
                      <a:prstDash val="solid"/>
                    </a:lnTlToBr>
                    <a:lnBlToTr w="12700" cmpd="sng">
                      <a:noFill/>
                      <a:prstDash val="solid"/>
                    </a:lnBlToTr>
                    <a:solidFill>
                      <a:srgbClr val="FFF7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rPr>
                        <a:t>Savings</a:t>
                      </a:r>
                    </a:p>
                  </a:txBody>
                  <a:tcPr>
                    <a:lnL w="12700" cap="flat" cmpd="sng" algn="ctr">
                      <a:solidFill>
                        <a:srgbClr val="A20000"/>
                      </a:solidFill>
                      <a:prstDash val="solid"/>
                      <a:round/>
                      <a:headEnd type="none" w="med" len="med"/>
                      <a:tailEnd type="none" w="med" len="med"/>
                    </a:lnL>
                    <a:lnR w="12700" cap="flat" cmpd="sng" algn="ctr">
                      <a:solidFill>
                        <a:srgbClr val="A20000"/>
                      </a:solidFill>
                      <a:prstDash val="solid"/>
                      <a:round/>
                      <a:headEnd type="none" w="med" len="med"/>
                      <a:tailEnd type="none" w="med" len="med"/>
                    </a:lnR>
                    <a:lnT w="12700" cap="flat" cmpd="sng" algn="ctr">
                      <a:solidFill>
                        <a:srgbClr val="A20000"/>
                      </a:solidFill>
                      <a:prstDash val="solid"/>
                      <a:round/>
                      <a:headEnd type="none" w="med" len="med"/>
                      <a:tailEnd type="none" w="med" len="med"/>
                    </a:lnT>
                    <a:lnB w="12700" cap="flat" cmpd="sng" algn="ctr">
                      <a:solidFill>
                        <a:srgbClr val="A20000"/>
                      </a:solidFill>
                      <a:prstDash val="solid"/>
                      <a:round/>
                      <a:headEnd type="none" w="med" len="med"/>
                      <a:tailEnd type="none" w="med" len="med"/>
                    </a:lnB>
                    <a:lnTlToBr w="12700" cmpd="sng">
                      <a:noFill/>
                      <a:prstDash val="solid"/>
                    </a:lnTlToBr>
                    <a:lnBlToTr w="12700" cmpd="sng">
                      <a:noFill/>
                      <a:prstDash val="solid"/>
                    </a:lnBlToTr>
                    <a:solidFill>
                      <a:srgbClr val="FFF7F7"/>
                    </a:solidFill>
                  </a:tcPr>
                </a:tc>
                <a:tc>
                  <a:txBody>
                    <a:bodyPr/>
                    <a:lstStyle/>
                    <a:p>
                      <a:pPr algn="ctr"/>
                      <a:r>
                        <a:rPr lang="en-US" sz="1600" b="0" dirty="0">
                          <a:solidFill>
                            <a:schemeClr val="tx1"/>
                          </a:solidFill>
                          <a:latin typeface="Calibri" panose="020F0502020204030204" pitchFamily="34" charset="0"/>
                          <a:cs typeface="Calibri" panose="020F0502020204030204" pitchFamily="34" charset="0"/>
                        </a:rPr>
                        <a:t>SBIN0014889</a:t>
                      </a:r>
                    </a:p>
                  </a:txBody>
                  <a:tcPr>
                    <a:lnL w="12700" cap="flat" cmpd="sng" algn="ctr">
                      <a:solidFill>
                        <a:srgbClr val="A20000"/>
                      </a:solidFill>
                      <a:prstDash val="solid"/>
                      <a:round/>
                      <a:headEnd type="none" w="med" len="med"/>
                      <a:tailEnd type="none" w="med" len="med"/>
                    </a:lnL>
                    <a:lnR w="12700" cap="flat" cmpd="sng" algn="ctr">
                      <a:solidFill>
                        <a:srgbClr val="A20000"/>
                      </a:solidFill>
                      <a:prstDash val="solid"/>
                      <a:round/>
                      <a:headEnd type="none" w="med" len="med"/>
                      <a:tailEnd type="none" w="med" len="med"/>
                    </a:lnR>
                    <a:lnT w="12700" cap="flat" cmpd="sng" algn="ctr">
                      <a:solidFill>
                        <a:srgbClr val="A20000"/>
                      </a:solidFill>
                      <a:prstDash val="solid"/>
                      <a:round/>
                      <a:headEnd type="none" w="med" len="med"/>
                      <a:tailEnd type="none" w="med" len="med"/>
                    </a:lnT>
                    <a:lnB w="12700" cap="flat" cmpd="sng" algn="ctr">
                      <a:solidFill>
                        <a:srgbClr val="A20000"/>
                      </a:solidFill>
                      <a:prstDash val="solid"/>
                      <a:round/>
                      <a:headEnd type="none" w="med" len="med"/>
                      <a:tailEnd type="none" w="med" len="med"/>
                    </a:lnB>
                    <a:lnTlToBr w="12700" cmpd="sng">
                      <a:noFill/>
                      <a:prstDash val="solid"/>
                    </a:lnTlToBr>
                    <a:lnBlToTr w="12700" cmpd="sng">
                      <a:noFill/>
                      <a:prstDash val="solid"/>
                    </a:lnBlToTr>
                    <a:solidFill>
                      <a:srgbClr val="FFF7F7"/>
                    </a:solidFill>
                  </a:tcPr>
                </a:tc>
                <a:extLst>
                  <a:ext uri="{0D108BD9-81ED-4DB2-BD59-A6C34878D82A}">
                    <a16:rowId xmlns:a16="http://schemas.microsoft.com/office/drawing/2014/main" val="401454906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rPr>
                        <a:t>Shreyash Pandurang Jagtap</a:t>
                      </a:r>
                    </a:p>
                  </a:txBody>
                  <a:tcPr>
                    <a:lnL w="12700" cap="flat" cmpd="sng" algn="ctr">
                      <a:solidFill>
                        <a:srgbClr val="A20000"/>
                      </a:solidFill>
                      <a:prstDash val="solid"/>
                      <a:round/>
                      <a:headEnd type="none" w="med" len="med"/>
                      <a:tailEnd type="none" w="med" len="med"/>
                    </a:lnL>
                    <a:lnR w="12700" cap="flat" cmpd="sng" algn="ctr">
                      <a:solidFill>
                        <a:srgbClr val="A20000"/>
                      </a:solidFill>
                      <a:prstDash val="solid"/>
                      <a:round/>
                      <a:headEnd type="none" w="med" len="med"/>
                      <a:tailEnd type="none" w="med" len="med"/>
                    </a:lnR>
                    <a:lnT w="12700" cap="flat" cmpd="sng" algn="ctr">
                      <a:solidFill>
                        <a:srgbClr val="A20000"/>
                      </a:solidFill>
                      <a:prstDash val="solid"/>
                      <a:round/>
                      <a:headEnd type="none" w="med" len="med"/>
                      <a:tailEnd type="none" w="med" len="med"/>
                    </a:lnT>
                    <a:lnB w="12700" cap="flat" cmpd="sng" algn="ctr">
                      <a:solidFill>
                        <a:srgbClr val="A20000"/>
                      </a:solidFill>
                      <a:prstDash val="solid"/>
                      <a:round/>
                      <a:headEnd type="none" w="med" len="med"/>
                      <a:tailEnd type="none" w="med" len="med"/>
                    </a:lnB>
                    <a:lnTlToBr w="12700" cmpd="sng">
                      <a:noFill/>
                      <a:prstDash val="solid"/>
                    </a:lnTlToBr>
                    <a:lnBlToTr w="12700" cmpd="sng">
                      <a:noFill/>
                      <a:prstDash val="solid"/>
                    </a:lnBlToTr>
                    <a:solidFill>
                      <a:srgbClr val="FFF7F7"/>
                    </a:solidFill>
                  </a:tcPr>
                </a:tc>
                <a:tc>
                  <a:txBody>
                    <a:bodyPr/>
                    <a:lstStyle/>
                    <a:p>
                      <a:pPr algn="ctr"/>
                      <a:r>
                        <a:rPr lang="en-US" sz="1600" b="0" dirty="0">
                          <a:solidFill>
                            <a:schemeClr val="tx1"/>
                          </a:solidFill>
                          <a:latin typeface="Calibri" panose="020F0502020204030204" pitchFamily="34" charset="0"/>
                          <a:cs typeface="Calibri" panose="020F0502020204030204" pitchFamily="34" charset="0"/>
                        </a:rPr>
                        <a:t>Indian Bank</a:t>
                      </a:r>
                    </a:p>
                  </a:txBody>
                  <a:tcPr>
                    <a:lnL w="12700" cap="flat" cmpd="sng" algn="ctr">
                      <a:solidFill>
                        <a:srgbClr val="A20000"/>
                      </a:solidFill>
                      <a:prstDash val="solid"/>
                      <a:round/>
                      <a:headEnd type="none" w="med" len="med"/>
                      <a:tailEnd type="none" w="med" len="med"/>
                    </a:lnL>
                    <a:lnR w="12700" cap="flat" cmpd="sng" algn="ctr">
                      <a:solidFill>
                        <a:srgbClr val="A20000"/>
                      </a:solidFill>
                      <a:prstDash val="solid"/>
                      <a:round/>
                      <a:headEnd type="none" w="med" len="med"/>
                      <a:tailEnd type="none" w="med" len="med"/>
                    </a:lnR>
                    <a:lnT w="12700" cap="flat" cmpd="sng" algn="ctr">
                      <a:solidFill>
                        <a:srgbClr val="A20000"/>
                      </a:solidFill>
                      <a:prstDash val="solid"/>
                      <a:round/>
                      <a:headEnd type="none" w="med" len="med"/>
                      <a:tailEnd type="none" w="med" len="med"/>
                    </a:lnT>
                    <a:lnB w="12700" cap="flat" cmpd="sng" algn="ctr">
                      <a:solidFill>
                        <a:srgbClr val="A20000"/>
                      </a:solidFill>
                      <a:prstDash val="solid"/>
                      <a:round/>
                      <a:headEnd type="none" w="med" len="med"/>
                      <a:tailEnd type="none" w="med" len="med"/>
                    </a:lnB>
                    <a:lnTlToBr w="12700" cmpd="sng">
                      <a:noFill/>
                      <a:prstDash val="solid"/>
                    </a:lnTlToBr>
                    <a:lnBlToTr w="12700" cmpd="sng">
                      <a:noFill/>
                      <a:prstDash val="solid"/>
                    </a:lnBlToTr>
                    <a:solidFill>
                      <a:srgbClr val="FFF7F7"/>
                    </a:solidFill>
                  </a:tcPr>
                </a:tc>
                <a:tc>
                  <a:txBody>
                    <a:bodyPr/>
                    <a:lstStyle/>
                    <a:p>
                      <a:pPr algn="ctr"/>
                      <a:r>
                        <a:rPr lang="en-US" sz="1600" b="0" dirty="0">
                          <a:solidFill>
                            <a:schemeClr val="tx1"/>
                          </a:solidFill>
                          <a:latin typeface="Calibri" panose="020F0502020204030204" pitchFamily="34" charset="0"/>
                          <a:cs typeface="Calibri" panose="020F0502020204030204" pitchFamily="34" charset="0"/>
                        </a:rPr>
                        <a:t>PATAS</a:t>
                      </a:r>
                    </a:p>
                  </a:txBody>
                  <a:tcPr>
                    <a:lnL w="12700" cap="flat" cmpd="sng" algn="ctr">
                      <a:solidFill>
                        <a:srgbClr val="A20000"/>
                      </a:solidFill>
                      <a:prstDash val="solid"/>
                      <a:round/>
                      <a:headEnd type="none" w="med" len="med"/>
                      <a:tailEnd type="none" w="med" len="med"/>
                    </a:lnL>
                    <a:lnR w="12700" cap="flat" cmpd="sng" algn="ctr">
                      <a:solidFill>
                        <a:srgbClr val="A20000"/>
                      </a:solidFill>
                      <a:prstDash val="solid"/>
                      <a:round/>
                      <a:headEnd type="none" w="med" len="med"/>
                      <a:tailEnd type="none" w="med" len="med"/>
                    </a:lnR>
                    <a:lnT w="12700" cap="flat" cmpd="sng" algn="ctr">
                      <a:solidFill>
                        <a:srgbClr val="A20000"/>
                      </a:solidFill>
                      <a:prstDash val="solid"/>
                      <a:round/>
                      <a:headEnd type="none" w="med" len="med"/>
                      <a:tailEnd type="none" w="med" len="med"/>
                    </a:lnT>
                    <a:lnB w="12700" cap="flat" cmpd="sng" algn="ctr">
                      <a:solidFill>
                        <a:srgbClr val="A20000"/>
                      </a:solidFill>
                      <a:prstDash val="solid"/>
                      <a:round/>
                      <a:headEnd type="none" w="med" len="med"/>
                      <a:tailEnd type="none" w="med" len="med"/>
                    </a:lnB>
                    <a:lnTlToBr w="12700" cmpd="sng">
                      <a:noFill/>
                      <a:prstDash val="solid"/>
                    </a:lnTlToBr>
                    <a:lnBlToTr w="12700" cmpd="sng">
                      <a:noFill/>
                      <a:prstDash val="solid"/>
                    </a:lnBlToTr>
                    <a:solidFill>
                      <a:srgbClr val="FFF7F7"/>
                    </a:solidFill>
                  </a:tcPr>
                </a:tc>
                <a:tc>
                  <a:txBody>
                    <a:bodyPr/>
                    <a:lstStyle/>
                    <a:p>
                      <a:pPr algn="ctr"/>
                      <a:r>
                        <a:rPr lang="en-US" sz="1600" b="0" dirty="0">
                          <a:solidFill>
                            <a:schemeClr val="tx1"/>
                          </a:solidFill>
                          <a:latin typeface="Calibri" panose="020F0502020204030204" pitchFamily="34" charset="0"/>
                          <a:cs typeface="Calibri" panose="020F0502020204030204" pitchFamily="34" charset="0"/>
                        </a:rPr>
                        <a:t>7530089587</a:t>
                      </a:r>
                    </a:p>
                  </a:txBody>
                  <a:tcPr>
                    <a:lnL w="12700" cap="flat" cmpd="sng" algn="ctr">
                      <a:solidFill>
                        <a:srgbClr val="A20000"/>
                      </a:solidFill>
                      <a:prstDash val="solid"/>
                      <a:round/>
                      <a:headEnd type="none" w="med" len="med"/>
                      <a:tailEnd type="none" w="med" len="med"/>
                    </a:lnL>
                    <a:lnR w="12700" cap="flat" cmpd="sng" algn="ctr">
                      <a:solidFill>
                        <a:srgbClr val="A20000"/>
                      </a:solidFill>
                      <a:prstDash val="solid"/>
                      <a:round/>
                      <a:headEnd type="none" w="med" len="med"/>
                      <a:tailEnd type="none" w="med" len="med"/>
                    </a:lnR>
                    <a:lnT w="12700" cap="flat" cmpd="sng" algn="ctr">
                      <a:solidFill>
                        <a:srgbClr val="A20000"/>
                      </a:solidFill>
                      <a:prstDash val="solid"/>
                      <a:round/>
                      <a:headEnd type="none" w="med" len="med"/>
                      <a:tailEnd type="none" w="med" len="med"/>
                    </a:lnT>
                    <a:lnB w="12700" cap="flat" cmpd="sng" algn="ctr">
                      <a:solidFill>
                        <a:srgbClr val="A20000"/>
                      </a:solidFill>
                      <a:prstDash val="solid"/>
                      <a:round/>
                      <a:headEnd type="none" w="med" len="med"/>
                      <a:tailEnd type="none" w="med" len="med"/>
                    </a:lnB>
                    <a:lnTlToBr w="12700" cmpd="sng">
                      <a:noFill/>
                      <a:prstDash val="solid"/>
                    </a:lnTlToBr>
                    <a:lnBlToTr w="12700" cmpd="sng">
                      <a:noFill/>
                      <a:prstDash val="solid"/>
                    </a:lnBlToTr>
                    <a:solidFill>
                      <a:srgbClr val="FFF7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rPr>
                        <a:t>Savings</a:t>
                      </a:r>
                    </a:p>
                  </a:txBody>
                  <a:tcPr>
                    <a:lnL w="12700" cap="flat" cmpd="sng" algn="ctr">
                      <a:solidFill>
                        <a:srgbClr val="A20000"/>
                      </a:solidFill>
                      <a:prstDash val="solid"/>
                      <a:round/>
                      <a:headEnd type="none" w="med" len="med"/>
                      <a:tailEnd type="none" w="med" len="med"/>
                    </a:lnL>
                    <a:lnR w="12700" cap="flat" cmpd="sng" algn="ctr">
                      <a:solidFill>
                        <a:srgbClr val="A20000"/>
                      </a:solidFill>
                      <a:prstDash val="solid"/>
                      <a:round/>
                      <a:headEnd type="none" w="med" len="med"/>
                      <a:tailEnd type="none" w="med" len="med"/>
                    </a:lnR>
                    <a:lnT w="12700" cap="flat" cmpd="sng" algn="ctr">
                      <a:solidFill>
                        <a:srgbClr val="A20000"/>
                      </a:solidFill>
                      <a:prstDash val="solid"/>
                      <a:round/>
                      <a:headEnd type="none" w="med" len="med"/>
                      <a:tailEnd type="none" w="med" len="med"/>
                    </a:lnT>
                    <a:lnB w="12700" cap="flat" cmpd="sng" algn="ctr">
                      <a:solidFill>
                        <a:srgbClr val="A20000"/>
                      </a:solidFill>
                      <a:prstDash val="solid"/>
                      <a:round/>
                      <a:headEnd type="none" w="med" len="med"/>
                      <a:tailEnd type="none" w="med" len="med"/>
                    </a:lnB>
                    <a:lnTlToBr w="12700" cmpd="sng">
                      <a:noFill/>
                      <a:prstDash val="solid"/>
                    </a:lnTlToBr>
                    <a:lnBlToTr w="12700" cmpd="sng">
                      <a:noFill/>
                      <a:prstDash val="solid"/>
                    </a:lnBlToTr>
                    <a:solidFill>
                      <a:srgbClr val="FFF7F7"/>
                    </a:solidFill>
                  </a:tcPr>
                </a:tc>
                <a:tc>
                  <a:txBody>
                    <a:bodyPr/>
                    <a:lstStyle/>
                    <a:p>
                      <a:pPr algn="ctr"/>
                      <a:r>
                        <a:rPr lang="en-US" sz="1600" b="0" dirty="0">
                          <a:solidFill>
                            <a:schemeClr val="tx1"/>
                          </a:solidFill>
                          <a:latin typeface="Calibri" panose="020F0502020204030204" pitchFamily="34" charset="0"/>
                          <a:cs typeface="Calibri" panose="020F0502020204030204" pitchFamily="34" charset="0"/>
                        </a:rPr>
                        <a:t>IDIB000P261</a:t>
                      </a:r>
                    </a:p>
                  </a:txBody>
                  <a:tcPr>
                    <a:lnL w="12700" cap="flat" cmpd="sng" algn="ctr">
                      <a:solidFill>
                        <a:srgbClr val="A20000"/>
                      </a:solidFill>
                      <a:prstDash val="solid"/>
                      <a:round/>
                      <a:headEnd type="none" w="med" len="med"/>
                      <a:tailEnd type="none" w="med" len="med"/>
                    </a:lnL>
                    <a:lnR w="12700" cap="flat" cmpd="sng" algn="ctr">
                      <a:solidFill>
                        <a:srgbClr val="A20000"/>
                      </a:solidFill>
                      <a:prstDash val="solid"/>
                      <a:round/>
                      <a:headEnd type="none" w="med" len="med"/>
                      <a:tailEnd type="none" w="med" len="med"/>
                    </a:lnR>
                    <a:lnT w="12700" cap="flat" cmpd="sng" algn="ctr">
                      <a:solidFill>
                        <a:srgbClr val="A20000"/>
                      </a:solidFill>
                      <a:prstDash val="solid"/>
                      <a:round/>
                      <a:headEnd type="none" w="med" len="med"/>
                      <a:tailEnd type="none" w="med" len="med"/>
                    </a:lnT>
                    <a:lnB w="12700" cap="flat" cmpd="sng" algn="ctr">
                      <a:solidFill>
                        <a:srgbClr val="A20000"/>
                      </a:solidFill>
                      <a:prstDash val="solid"/>
                      <a:round/>
                      <a:headEnd type="none" w="med" len="med"/>
                      <a:tailEnd type="none" w="med" len="med"/>
                    </a:lnB>
                    <a:lnTlToBr w="12700" cmpd="sng">
                      <a:noFill/>
                      <a:prstDash val="solid"/>
                    </a:lnTlToBr>
                    <a:lnBlToTr w="12700" cmpd="sng">
                      <a:noFill/>
                      <a:prstDash val="solid"/>
                    </a:lnBlToTr>
                    <a:solidFill>
                      <a:srgbClr val="FFF7F7"/>
                    </a:solidFill>
                  </a:tcPr>
                </a:tc>
                <a:extLst>
                  <a:ext uri="{0D108BD9-81ED-4DB2-BD59-A6C34878D82A}">
                    <a16:rowId xmlns:a16="http://schemas.microsoft.com/office/drawing/2014/main" val="2250317222"/>
                  </a:ext>
                </a:extLst>
              </a:tr>
            </a:tbl>
          </a:graphicData>
        </a:graphic>
      </p:graphicFrame>
      <p:grpSp>
        <p:nvGrpSpPr>
          <p:cNvPr id="16" name="Group 15">
            <a:extLst>
              <a:ext uri="{FF2B5EF4-FFF2-40B4-BE49-F238E27FC236}">
                <a16:creationId xmlns:a16="http://schemas.microsoft.com/office/drawing/2014/main" id="{DC4C51AD-861B-F0A7-9A34-F890EFD7A498}"/>
              </a:ext>
            </a:extLst>
          </p:cNvPr>
          <p:cNvGrpSpPr/>
          <p:nvPr/>
        </p:nvGrpSpPr>
        <p:grpSpPr>
          <a:xfrm>
            <a:off x="593389" y="3418267"/>
            <a:ext cx="11128438" cy="2986875"/>
            <a:chOff x="593389" y="3418267"/>
            <a:chExt cx="11128438" cy="2986875"/>
          </a:xfrm>
        </p:grpSpPr>
        <p:grpSp>
          <p:nvGrpSpPr>
            <p:cNvPr id="14" name="Group 13">
              <a:extLst>
                <a:ext uri="{FF2B5EF4-FFF2-40B4-BE49-F238E27FC236}">
                  <a16:creationId xmlns:a16="http://schemas.microsoft.com/office/drawing/2014/main" id="{C201B849-0B51-4A54-09A7-A7F17BA2BA49}"/>
                </a:ext>
              </a:extLst>
            </p:cNvPr>
            <p:cNvGrpSpPr/>
            <p:nvPr/>
          </p:nvGrpSpPr>
          <p:grpSpPr>
            <a:xfrm>
              <a:off x="593389" y="5804978"/>
              <a:ext cx="11030060" cy="600164"/>
              <a:chOff x="593389" y="5804978"/>
              <a:chExt cx="11030060" cy="600164"/>
            </a:xfrm>
          </p:grpSpPr>
          <p:sp>
            <p:nvSpPr>
              <p:cNvPr id="3" name="TextBox 2">
                <a:extLst>
                  <a:ext uri="{FF2B5EF4-FFF2-40B4-BE49-F238E27FC236}">
                    <a16:creationId xmlns:a16="http://schemas.microsoft.com/office/drawing/2014/main" id="{1D788107-B3A1-7F7D-432E-A4048656C530}"/>
                  </a:ext>
                </a:extLst>
              </p:cNvPr>
              <p:cNvSpPr txBox="1"/>
              <p:nvPr/>
            </p:nvSpPr>
            <p:spPr>
              <a:xfrm>
                <a:off x="593389" y="5804978"/>
                <a:ext cx="3127663" cy="600164"/>
              </a:xfrm>
              <a:prstGeom prst="rect">
                <a:avLst/>
              </a:prstGeom>
              <a:noFill/>
            </p:spPr>
            <p:txBody>
              <a:bodyPr wrap="square" rtlCol="0">
                <a:spAutoFit/>
              </a:bodyPr>
              <a:lstStyle/>
              <a:p>
                <a:pPr algn="ctr"/>
                <a:r>
                  <a:rPr lang="en-US" sz="1100" b="1" dirty="0"/>
                  <a:t>Team Member 1</a:t>
                </a:r>
                <a:br>
                  <a:rPr lang="en-US" sz="1100" b="1" dirty="0"/>
                </a:br>
                <a:r>
                  <a:rPr lang="en-US" sz="1100" dirty="0"/>
                  <a:t>Passbook/ Bank Statement With Name and Account Number</a:t>
                </a:r>
              </a:p>
            </p:txBody>
          </p:sp>
          <p:sp>
            <p:nvSpPr>
              <p:cNvPr id="5" name="TextBox 4">
                <a:extLst>
                  <a:ext uri="{FF2B5EF4-FFF2-40B4-BE49-F238E27FC236}">
                    <a16:creationId xmlns:a16="http://schemas.microsoft.com/office/drawing/2014/main" id="{F3AA0C9B-B378-AB3E-52B3-2DF338D8B0B5}"/>
                  </a:ext>
                </a:extLst>
              </p:cNvPr>
              <p:cNvSpPr txBox="1"/>
              <p:nvPr/>
            </p:nvSpPr>
            <p:spPr>
              <a:xfrm>
                <a:off x="4544588" y="5804978"/>
                <a:ext cx="3127663" cy="600164"/>
              </a:xfrm>
              <a:prstGeom prst="rect">
                <a:avLst/>
              </a:prstGeom>
              <a:noFill/>
            </p:spPr>
            <p:txBody>
              <a:bodyPr wrap="square" rtlCol="0">
                <a:spAutoFit/>
              </a:bodyPr>
              <a:lstStyle/>
              <a:p>
                <a:pPr algn="ctr"/>
                <a:r>
                  <a:rPr lang="en-US" sz="1100" b="1"/>
                  <a:t>Team Member 2</a:t>
                </a:r>
                <a:br>
                  <a:rPr lang="en-US" sz="1100" b="1"/>
                </a:br>
                <a:r>
                  <a:rPr lang="en-US" sz="1100"/>
                  <a:t>Passbook/ Bank Statement With Name and Account Number</a:t>
                </a:r>
              </a:p>
            </p:txBody>
          </p:sp>
          <p:sp>
            <p:nvSpPr>
              <p:cNvPr id="6" name="TextBox 5">
                <a:extLst>
                  <a:ext uri="{FF2B5EF4-FFF2-40B4-BE49-F238E27FC236}">
                    <a16:creationId xmlns:a16="http://schemas.microsoft.com/office/drawing/2014/main" id="{5EFBE0B7-6FC9-AEAD-9981-E33461699CF8}"/>
                  </a:ext>
                </a:extLst>
              </p:cNvPr>
              <p:cNvSpPr txBox="1"/>
              <p:nvPr/>
            </p:nvSpPr>
            <p:spPr>
              <a:xfrm>
                <a:off x="8495786" y="5804978"/>
                <a:ext cx="3127663" cy="600164"/>
              </a:xfrm>
              <a:prstGeom prst="rect">
                <a:avLst/>
              </a:prstGeom>
              <a:noFill/>
            </p:spPr>
            <p:txBody>
              <a:bodyPr wrap="square" rtlCol="0">
                <a:spAutoFit/>
              </a:bodyPr>
              <a:lstStyle/>
              <a:p>
                <a:pPr algn="ctr"/>
                <a:r>
                  <a:rPr lang="en-US" sz="1100" b="1" dirty="0"/>
                  <a:t>Team Member 3</a:t>
                </a:r>
                <a:br>
                  <a:rPr lang="en-US" sz="1100" b="1" dirty="0"/>
                </a:br>
                <a:r>
                  <a:rPr lang="en-US" sz="1100" dirty="0"/>
                  <a:t>Passbook/ Bank Statement With Name and Account Number</a:t>
                </a:r>
              </a:p>
            </p:txBody>
          </p:sp>
        </p:grpSp>
        <p:grpSp>
          <p:nvGrpSpPr>
            <p:cNvPr id="15" name="Group 14">
              <a:extLst>
                <a:ext uri="{FF2B5EF4-FFF2-40B4-BE49-F238E27FC236}">
                  <a16:creationId xmlns:a16="http://schemas.microsoft.com/office/drawing/2014/main" id="{660E05AD-BA99-94A1-3C7A-15C10A72B22C}"/>
                </a:ext>
              </a:extLst>
            </p:cNvPr>
            <p:cNvGrpSpPr/>
            <p:nvPr/>
          </p:nvGrpSpPr>
          <p:grpSpPr>
            <a:xfrm>
              <a:off x="593389" y="3418267"/>
              <a:ext cx="11128438" cy="2218218"/>
              <a:chOff x="593389" y="3418267"/>
              <a:chExt cx="11128438" cy="2218218"/>
            </a:xfrm>
          </p:grpSpPr>
          <p:sp>
            <p:nvSpPr>
              <p:cNvPr id="7" name="Rectangle: Rounded Corners 6">
                <a:extLst>
                  <a:ext uri="{FF2B5EF4-FFF2-40B4-BE49-F238E27FC236}">
                    <a16:creationId xmlns:a16="http://schemas.microsoft.com/office/drawing/2014/main" id="{87F93F3D-FC83-53FE-2AEE-9566DD5242D6}"/>
                  </a:ext>
                </a:extLst>
              </p:cNvPr>
              <p:cNvSpPr/>
              <p:nvPr/>
            </p:nvSpPr>
            <p:spPr>
              <a:xfrm>
                <a:off x="593389" y="3429000"/>
                <a:ext cx="3400641" cy="2196753"/>
              </a:xfrm>
              <a:prstGeom prst="roundRect">
                <a:avLst>
                  <a:gd name="adj" fmla="val 8078"/>
                </a:avLst>
              </a:prstGeom>
              <a:solidFill>
                <a:schemeClr val="bg1"/>
              </a:solidFill>
              <a:ln>
                <a:solidFill>
                  <a:srgbClr val="E6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430A3EE3-5A8A-BFF9-D978-247718EB408E}"/>
                  </a:ext>
                </a:extLst>
              </p:cNvPr>
              <p:cNvSpPr/>
              <p:nvPr/>
            </p:nvSpPr>
            <p:spPr>
              <a:xfrm>
                <a:off x="4317445" y="3429000"/>
                <a:ext cx="3354806" cy="2207485"/>
              </a:xfrm>
              <a:prstGeom prst="roundRect">
                <a:avLst>
                  <a:gd name="adj" fmla="val 8078"/>
                </a:avLst>
              </a:prstGeom>
              <a:solidFill>
                <a:schemeClr val="bg1"/>
              </a:solidFill>
              <a:ln>
                <a:solidFill>
                  <a:srgbClr val="E6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A77687DA-23EE-879D-DD4F-FCD610ADC41A}"/>
                  </a:ext>
                </a:extLst>
              </p:cNvPr>
              <p:cNvSpPr/>
              <p:nvPr/>
            </p:nvSpPr>
            <p:spPr>
              <a:xfrm>
                <a:off x="7969394" y="3418267"/>
                <a:ext cx="3752433" cy="2196753"/>
              </a:xfrm>
              <a:prstGeom prst="roundRect">
                <a:avLst>
                  <a:gd name="adj" fmla="val 8078"/>
                </a:avLst>
              </a:prstGeom>
              <a:solidFill>
                <a:schemeClr val="bg1"/>
              </a:solidFill>
              <a:ln>
                <a:solidFill>
                  <a:srgbClr val="E6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2" name="TextBox 11">
            <a:extLst>
              <a:ext uri="{FF2B5EF4-FFF2-40B4-BE49-F238E27FC236}">
                <a16:creationId xmlns:a16="http://schemas.microsoft.com/office/drawing/2014/main" id="{F9475123-348B-09F4-6C80-99FD2584D366}"/>
              </a:ext>
            </a:extLst>
          </p:cNvPr>
          <p:cNvSpPr txBox="1"/>
          <p:nvPr/>
        </p:nvSpPr>
        <p:spPr>
          <a:xfrm>
            <a:off x="9216804" y="4007627"/>
            <a:ext cx="1604514" cy="738664"/>
          </a:xfrm>
          <a:prstGeom prst="rect">
            <a:avLst/>
          </a:prstGeom>
          <a:noFill/>
        </p:spPr>
        <p:txBody>
          <a:bodyPr wrap="square" rtlCol="0">
            <a:spAutoFit/>
          </a:bodyPr>
          <a:lstStyle/>
          <a:p>
            <a:r>
              <a:rPr lang="en-US"/>
              <a:t>Insert photo of passbook / bank statement</a:t>
            </a:r>
            <a:endParaRPr lang="en-IN"/>
          </a:p>
        </p:txBody>
      </p:sp>
      <p:pic>
        <p:nvPicPr>
          <p:cNvPr id="17" name="Picture 16">
            <a:extLst>
              <a:ext uri="{FF2B5EF4-FFF2-40B4-BE49-F238E27FC236}">
                <a16:creationId xmlns:a16="http://schemas.microsoft.com/office/drawing/2014/main" id="{21EA953F-AC82-4FA1-9B3D-BB880EEDDD0A}"/>
              </a:ext>
            </a:extLst>
          </p:cNvPr>
          <p:cNvPicPr>
            <a:picLocks noChangeAspect="1"/>
          </p:cNvPicPr>
          <p:nvPr/>
        </p:nvPicPr>
        <p:blipFill>
          <a:blip r:embed="rId3"/>
          <a:stretch>
            <a:fillRect/>
          </a:stretch>
        </p:blipFill>
        <p:spPr>
          <a:xfrm rot="16200000">
            <a:off x="8795830" y="2697326"/>
            <a:ext cx="2099559" cy="3627781"/>
          </a:xfrm>
          <a:prstGeom prst="rect">
            <a:avLst/>
          </a:prstGeom>
        </p:spPr>
      </p:pic>
      <p:pic>
        <p:nvPicPr>
          <p:cNvPr id="18" name="Picture 17">
            <a:extLst>
              <a:ext uri="{FF2B5EF4-FFF2-40B4-BE49-F238E27FC236}">
                <a16:creationId xmlns:a16="http://schemas.microsoft.com/office/drawing/2014/main" id="{0026971F-5248-9A31-ED5F-6F46ACE1C828}"/>
              </a:ext>
            </a:extLst>
          </p:cNvPr>
          <p:cNvPicPr>
            <a:picLocks noChangeAspect="1"/>
          </p:cNvPicPr>
          <p:nvPr/>
        </p:nvPicPr>
        <p:blipFill>
          <a:blip r:embed="rId4"/>
          <a:srcRect r="1855" b="1102"/>
          <a:stretch>
            <a:fillRect/>
          </a:stretch>
        </p:blipFill>
        <p:spPr>
          <a:xfrm>
            <a:off x="670986" y="3507861"/>
            <a:ext cx="3245445" cy="2006710"/>
          </a:xfrm>
          <a:prstGeom prst="rect">
            <a:avLst/>
          </a:prstGeom>
        </p:spPr>
      </p:pic>
      <p:pic>
        <p:nvPicPr>
          <p:cNvPr id="20" name="Picture 19">
            <a:extLst>
              <a:ext uri="{FF2B5EF4-FFF2-40B4-BE49-F238E27FC236}">
                <a16:creationId xmlns:a16="http://schemas.microsoft.com/office/drawing/2014/main" id="{3240F450-650D-0246-F4A4-28D6EBFDE5FD}"/>
              </a:ext>
            </a:extLst>
          </p:cNvPr>
          <p:cNvPicPr>
            <a:picLocks noChangeAspect="1"/>
          </p:cNvPicPr>
          <p:nvPr/>
        </p:nvPicPr>
        <p:blipFill>
          <a:blip r:embed="rId5"/>
          <a:srcRect l="1723" t="4132" r="9040" b="-926"/>
          <a:stretch>
            <a:fillRect/>
          </a:stretch>
        </p:blipFill>
        <p:spPr>
          <a:xfrm rot="16200000">
            <a:off x="4964391" y="2907159"/>
            <a:ext cx="2122519" cy="3293202"/>
          </a:xfrm>
          <a:prstGeom prst="rect">
            <a:avLst/>
          </a:prstGeom>
        </p:spPr>
      </p:pic>
    </p:spTree>
    <p:extLst>
      <p:ext uri="{BB962C8B-B14F-4D97-AF65-F5344CB8AC3E}">
        <p14:creationId xmlns:p14="http://schemas.microsoft.com/office/powerpoint/2010/main" val="3063694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2" name="Title 1">
            <a:extLst>
              <a:ext uri="{FF2B5EF4-FFF2-40B4-BE49-F238E27FC236}">
                <a16:creationId xmlns:a16="http://schemas.microsoft.com/office/drawing/2014/main" id="{2F5EAF80-7103-487F-A54B-15BEEE256378}"/>
              </a:ext>
            </a:extLst>
          </p:cNvPr>
          <p:cNvSpPr txBox="1">
            <a:spLocks/>
          </p:cNvSpPr>
          <p:nvPr/>
        </p:nvSpPr>
        <p:spPr>
          <a:xfrm>
            <a:off x="3952195" y="3044279"/>
            <a:ext cx="4287610" cy="769441"/>
          </a:xfrm>
          <a:prstGeom prst="rect">
            <a:avLst/>
          </a:prstGeom>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5000">
                <a:solidFill>
                  <a:srgbClr val="A20000"/>
                </a:solidFill>
                <a:latin typeface="Vodafone Rg" panose="020B0606080202020204" pitchFamily="34" charset="0"/>
              </a:rPr>
              <a:t>Thank You</a:t>
            </a:r>
          </a:p>
        </p:txBody>
      </p:sp>
    </p:spTree>
  </p:cSld>
  <p:clrMapOvr>
    <a:masterClrMapping/>
  </p:clrMapOvr>
</p:sld>
</file>

<file path=ppt/theme/theme1.xml><?xml version="1.0" encoding="utf-8"?>
<a:theme xmlns:a="http://schemas.openxmlformats.org/drawingml/2006/main" name="Blank">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ontent Body Slid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Content Body Part_Internal">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2284</TotalTime>
  <Words>1455</Words>
  <Application>Microsoft Office PowerPoint</Application>
  <PresentationFormat>Widescreen</PresentationFormat>
  <Paragraphs>220</Paragraphs>
  <Slides>24</Slides>
  <Notes>16</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24</vt:i4>
      </vt:variant>
    </vt:vector>
  </HeadingPairs>
  <TitlesOfParts>
    <vt:vector size="33" baseType="lpstr">
      <vt:lpstr>Aptos</vt:lpstr>
      <vt:lpstr>Arial</vt:lpstr>
      <vt:lpstr>Calibri</vt:lpstr>
      <vt:lpstr>Times New Roman</vt:lpstr>
      <vt:lpstr>Vodafone Rg</vt:lpstr>
      <vt:lpstr>Wingdings</vt:lpstr>
      <vt:lpstr>Blank</vt:lpstr>
      <vt:lpstr>Content Body Slide</vt:lpstr>
      <vt:lpstr>Content Body Part_Internal</vt:lpstr>
      <vt:lpstr>PowerPoint Presentation</vt:lpstr>
      <vt:lpstr>Project Title: FraudLens: AI-Powered Fraud Detection System for Government Scheme Integrity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Krishnadas Lamdade</cp:lastModifiedBy>
  <cp:revision>46</cp:revision>
  <dcterms:created xsi:type="dcterms:W3CDTF">2025-07-08T05:06:56Z</dcterms:created>
  <dcterms:modified xsi:type="dcterms:W3CDTF">2026-02-13T08:34:30Z</dcterms:modified>
</cp:coreProperties>
</file>